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time. For Part 2 I built a small working system on Netlify: an Instagram-like feed where customers comment, and a console for the marketing team where every comment already has a reply drafted from the shelf data. The four labels at the bottom are the four states a draft can be in: ready to send, needs a choice from the team, needs a person, or no reply needed. The plan: the problem and my answer, then the three paths through the system (how the data goes in, how a post is read, how a comment becomes a reply), the LangGraph workflow node by node, how the search and the vectors work, the models, how I tested it, the gaps,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situation in the brief. Most messages ask the same thing: where can I buy this, which shop, which area, is it available now. Today someone opens the sheet that comes from the ERP and searches it for every question, and it gets slower as the sheet grows. On top of that, the questions are hard to read: Jordanian dialect, typos, and “it” usually means whatever is in the post. And a wrong public answer is worse than a slow one. Each of the three has a specific fix in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answer to the question in the brief. Instead of a faster way to search the sheet, the search happens before anyone looks: when a comment arrives, the system works out what the customer means, pulls the matching shops and visit dates from the table, and has the AI write the reply in the customer's language. The team opens the console and finds a reply waiting, with the shops and dates it is based on. Nothing is posted until a person clicks Reply now. The split matters: the AI understands and writes, but the facts in the reply come from a plain filter on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thing is two small sites and one backend, deployed on Netlify from two zip files. The feed simulator stands in for Instagram: the brand publishes posts with an image and a caption, customers pick a name and comment, and replies appear under the comments. The team console is the marketing team's page. Both talk to the same API, twelve Netlify Functions. The heavy work runs in background jobs, which can run for up to 15 minutes, so a slow AI call never blocks a page. The jobs run two LangGraph graphs: the post graph, once per post, and the ask graph, once per comment. Everything is stored in Netlify Blobs: posts, comments, drafts, replies, and also the data table and the search index. Two AI services: Groq runs the chat model that reads comments and writes replies, and Jina gives the search its embeddings. Without any key the site still works, with rules and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sales reps' data gets into the search index, step by step. One: someone uploads the CSV on the Data page; the site starts with the sample from the brief, 936 rows. Two: the columns are found by name or by a synonym, so a file that says shop instead of store_name still works. Three: each row is cleaned: dates like 19/08/2026 are read day first, as written in Jordan, and the status comes from the availability column or, if missing, from the quantity. Four: if the same shop and SKU appear twice, only the newest visit is kept. Five: from the clean table we build the catalog, the chunks search works on: one entry per product, shop, area, city, category and region, 129 in total, each with an Arabic and an English name. Six: every name and alias becomes a small document, 436 of them, normalized so that different spellings of the same letters meet. Seven: each name is indexed three ways: BM25 on the words, a character vector that survives typos, and a Jina embedding of 256 numbers that captures meaning. Eight: the table, the catalog and the index are saved together in Netlify Blobs, which is our vector store at this size. This runs on every upload, and adding a Jina key later rebuilds the vectors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step seven on one real entry. Olive Oil Extra Virgin has seven names in the catalog, Arabic and English, and each name is indexed three ways. One, BM25 on the words: the index stores each word and its Arabic forms with the prefixes removed, so بزيتون and والزيت still meet زيتون and زيت. A word that appears in fewer names counts more. Two, a character vector: each word is padded with a marker, cut into every piece of two, three and four letters, and each piece is hashed into one of 512 slots. The strip is the real vector of زيت زيتون: 18 slots out of 512 are used. A typo changes a few pieces but keeps most, so the vectors stay close. Three, the Jina vector: the name goes through jina-embeddings-v5-text-small, which returns 1,024 numbers; we keep the first 256, which this model is trained to allow. Every number carries part of the meaning, so this strip is drawn as a schematic, not real values. This is the vector that knows olive oil and زيت زيتون are the same thing. The Jina vectors are computed once at upload, 436 names in one call, and stored with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path is a new post. Most comments never name the product: they say وين بلاقيه, where do I find it. So each post is read once, when it is published, and its products are stored with it. One: the brand publishes an image and a caption from the feed. Two: the image goes to the media store, the post to the social store, and its context is marked pending. Three: a background job starts and the page gets an answer at once. Then the post graph runs, four nodes in LangGraph. read_post loads the caption, and the image too when the model can see images; Groq's models read text only, so here it is the caption. spot_products asks Groq to list the products and pack sizes as JSON; without a key, rules find product names in the caption. link_catalog runs each name through the same hybrid search, only over the 27 products, and keeps a link only when the confidence is at least 0.72. save_context stores the links with the post. For the caption about the weekly tahini and halawa offer, both link with confidence 1.00. From then on, every comment under that post knows what it refers to, and the team can correct the links on the Posts page. One clarification: the post text is not embedded into the index. The index holds the catalog; a post points to entries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path is the one that matters most: a customer's comment, all the way to a reply on the feed. One: Ahmad comments under the olive oil post: زيت زيتوون بالزرقا متوفر، with a typo in زيتون. Two: the API saves the comment and an empty draft, so the console shows it right away as being drafted. Three: a background job starts; the API answers 202 at once and the job does the work, waiting out the AI's rate limits if it has to. Four: the job runs the ask graph, the LangGraph workflow on the next slide. Five: the graph saves one draft with the reply and the exact shops and visit dates it relied on. Six: the console checks for changes every three seconds, so the team sees the draft appear. Seven: someone clicks Reply now, or edits first, or picks an option when the draft asked for a choice. Eight: the reply is saved. Nine: the feed shows it under the customer's comment within seconds. The AI never posts anything by itself: step seven is always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ask graph, the LangGraph workflow that runs once per comment. Purple nodes call a model; grey nodes are plain code. It starts at load_context, which loads the comment, its post and the products linked to the post; if the comment no longer exists, the first decision sends it straight to the end. understand_comment asks Groq to read the comment with a strict JSON schema: the intent, the products, the places, the size, whether a price was asked. The second decision routes on the intent. A where-to-buy or price question goes to find_entities. Praise goes to write_courtesy, a short thanks. A complaint or another question goes to hand_off, a holding reply flagged for a person. Tags, emojis and spam go to no_reply. find_entities runs the hybrid search for every product and place word. The third decision: if it is unsure, for example rice could be Egyptian or Basmati, ask_clarify writes a question and gives the team the options. If it is sure, check_shelves filters the table, write_answer has Groq write the reply from those facts only, and fact_check checks every shop, date and price in it. Every branch ends at assemble_draft, which saves one draft with its basis, and then the graph ends. Three decisions, nine fixed edges, eleven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nodes on the main path, and what each one writes into the shared state. load_context is plain code. understand_comment is the first Groq call: it returns JSON that must match a strict schema, so the output is always the same shape; if the call fails, a rule-based reader takes over. find_entities is where the hybrid search runs, with Jina vectors, BM25 and character vectors; when the customer names a category, like زيت, it takes the product from the post, and when it is unsure it produces options instead of guessing. check_shelves is the exact part: a filter on the table, no model, widening from the area to the city, the region and the whole country only when nothing is on the shelf. write_answer is the second Groq call: the model sees a small JSON of facts, never the sheet, and writes in Jordanian Arabic or English. fact_check then makes sure every shop, date and price in the reply is in those facts and that the visit date is given; if anything fails, the template reply is used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five nodes are the branches and the end. ask_clarify writes a short question and puts the options in front of the team, so a person can pick Egyptian or Basmati with one click and get a full answer. write_courtesy uses the model's short thank-you only if it contains no numbers, so it cannot promise a price or a date. hand_off writes a holding reply, for example asking for the shop name and purchase date in a private message, and flags the comment for a person. no_reply covers tags and spam. assemble_draft builds the single record the console shows. The edges are where the decisions live: three conditional edges, each a small routing function, and nine fixed edges. All nodes share one LangGraph state with 20 channels. A node returns only what it changes; the notes and the trace are append-only, which is how the console can show, step by step, how a draft was made. If LangGraph ever fails to load, the same definition runs on a small built-in runner, and the health page says which engine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search itself. It answers one question: which product, shop or area does this word mean. Every one of the 436 names is ranked three ways. BM25 is classic keyword search: a word that appears in few names is worth more, and short names that match fully score higher; the index also stores each Arabic word without its prefixes, so بالزرقا finds الزرقاء. Character vectors catch spelling: the same pieces of two to four letters on both sides give a high cosine even with a typo. Jina vectors catch meaning: olive oil and زيت زيتون land close together although they share no letters. The three rankings are fused with reciprocal rank fusion: each list gives a name one over sixty plus its rank, and the scores add up. Using ranks is the point: a BM25 score of ten and a cosine of 0.8 are not on the same scale, but rank one is rank one. Then a confidence score decides what happens: above 0.72 with no close rival it is a match; between 0.55 and 0.72, or when another name of the same type is within 0.08, the draft asks the team; below 0.55 there is no match. A name is only skipped early if all three signals are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vectors are made and compared, the part you asked about. The character vector is computed in our own code. The comment's words lose the article ال, each word is padded with a hash mark and cut into every piece of two, three and four letters, each piece is hashed into one of 512 slots, longer pieces adding more weight, and the vector is divided by its length so it has length one. The panel on the right runs exactly that code live: the purple squares are the question زيت زيتوون with its typo, the outlined squares are a name, and the dark squares are the pieces they share. Against زيت زيتون the cosine is 0.81, the highest; against olive oil it is zero, because they share no letters. That is why the third ranking exists: the Jina vector. The words go to jina-embeddings-v5-text-small, which returns 1,024 numbers; we keep the first 256 and normalize. The names are embedded once, at upload, and each question once per search. Comparing is the same for both kinds: the dot product of two unit vectors, the cosine, and the nearest name is the one with the highest value. With 436 names that is a few milliseconds of arithmetic, so at this size the index can live as a file in Netlify Blobs and be loaded into memory; a dedicated vector database becomes worth it with hundreds of thousands of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with the real numbers from the system, for the comment زيت زيتوون بالزرقا متوفر. Two kinds of words: product words and a place word. On the left, the product words exactly as typed, with the typo. BM25 ranks the category Cooking Oil first, because the word زيت matches exactly, and ranks the olive oil names sixth, because زيتوون is not a word in the index. The character vectors rank زيت زيتون first, at 0.81, because the typo keeps most of the letter pieces. Fused, the category has the higher confidence, 0.78, so it is a match on the category, and find_entities then takes the oil from the post, which is olive oil. In production Groq reads the comment first, and fixing that exact typo is one of the examples in its instructions, so the search gets زيت زيتون and finds an exact name with confidence one. On the right, the place word بالزرقا: the index also tries it without the prefix, الزرقا and زرقا, and after normalizing the hamza it is exactly the city's Arabic name, so both rankings put Zarqa first and it gets the exact-name bonus. Then check_shelves: in Zarqa, four of five shops had olive oil on the shelf at the last visit, and the reply names the three best with their visit dates. These two rankings run without any API; Jina adds a third term to the same sum.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search has said which product and which place, the answer is a plain filter on the table, with no model involved. Take the rows for the product, and for the pack if the customer asked for a size, whether written as 2 كيلو or as the big one. Keep the place they asked about. If no shop there had it on the shelf at the last visit, widen one level at a time: the shop's area, the city, the region, and finally the whole country. Sort the shops: nearest to the place asked first, in stock before low stock, the newest visit first, then more units. Name at most three, each with its visit date, and give the shelf price range only when they asked about price. The example is real: in Abdoun the only shop that carries olive oil, Sameh Mall Abdoun, was out of stock at the visit on 24 August, so the answer widens to Amman, where 11 of 14 shops had it. The reply says exactly that, and names the three best shops with their dates. This is the template version, word for word. When Groq writes the reply instead, it gets these same facts as JSON and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public reply in the brand's name needs more care than an internal task, so there are five checks. One: the model never sees the sheet, only a small JSON with the shops, dates and prices for this answer. Two: after it writes, a plain check compares every shop name, date and price in its reply with those facts, and requires the visit date; if anything is off, the template reply replaces it and the trace says why. Three: when the search is not sure, the draft asks instead of guessing, and the team answers with one click. Four: complaints and questions that are not about availability are not answered by the AI; they get a holding reply and go to a person. Five: nothing is ever posted automatically. And if something fails, the system degrades instead of stopping: without a key or when the AI is down or out of quota, rules and templates take over, and if LangGraph cannot load, a small built-in runner executes the same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and the job each one does. Two are AI models. The chat model is openai/gpt-oss-120b, served by Groq: it reads each comment and writes each reply, always as JSON that must match a strict schema, with the reasoning effort set to low and at most a thousand output tokens, which matters on Groq's free tier because it counts the token cap against the per-minute limit. The embedding model is Jina's jina-embeddings-v5-text-small, in its text-matching mode, trimmed to 256 numbers; it handles Arabic and English, so olive oil and زيت زيتون meet. The other three are plain methods, no AI: BM25 for words, character vectors for spelling, and reciprocal rank fusion to combine the three rankings. LangGraph.js runs the two graphs. Both AI models are swappable: setting a Gemini or OpenAI key, or the LLM_PROVIDER variable, switches the chat model, and without any key the whole system still runs on the plain methods, rules and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each piece on its own and then the whole thing in a browser. The search has a fixed list of 42 place and product names, in Arabic, English and with typos, and all 42 resolve to the right catalog entry without any AI. 22 sample comments cover dialect, typos, sizes, complaints, tags and English. Then end to end: a browser script opens the feed and the console built from the exact zip I deploy, posts comments, waits for drafts, edits, sends, picks options and publishes a post, in five modes, from no key at all to Groq with Jina. The AI services themselves were replaced locally by stand-ins that copy their request formats, their errors and their limits, including Groq's 8,000 tokens a minute; the real services run on the live site, and the Health page's Test the key button checks both keys. The tests changed the design three times: the rice case, where the vectors picked Egyptian rice on their own, so two names that both contain the word now become a choice; the medium size, which the rules read as the Central region; and the rate limit: Groq's free tier allows 8,000 tokens a minute, far too little for 18 drafts at once, so the starting drafts now run in one paced background job, which the stand-in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other ways I could have built this. The simplest is to paste the whole sheet into the prompt and let the model answer. I decided against it: the sheet is 936 rows and growing, the model can misread a row or name a shop that is not there, and every question pays for the whole sheet. Here the table query finds the facts and the model only writes. Second, vector search alone, the usual RAG setup. Embeddings are good at meaning but blur exact names and short Arabic words with typos, and everything would stop when the embedding API is down. So three rankings are fused, and two of them run without any API. Third, replying automatically. Technically it is one switch, but these are public replies in the brand's name, so a person sends them until the drafts have earned trust; the console can track how often drafts are edited before sending, which is the number that would justify automating. Fourth, n8n again, as in Part 1. In Part 1 I set LangGraph aside because intake was a fixed pipeline. This problem is different: it needs an index, a data table and branching on what the customer meant, which is exactly what a graph in code is good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list of what is simulated or limited today, with the next step for each. The feed is a simulator; connecting the real pages means Meta's webhooks for new comments and the Graph API to post the reply, and the rest of the system stays the same. The sample visits end on 25 August, so they are more than a month old by now; replies always state the visit date, the console warns when the data is over 30 days old, and in production a daily file from the ERP would replace the upload. Groq's free tier allows 8,000 tokens a minute, so after a reset the 18 starting drafts take about ten minutes; a paid tier or a smaller model for the reading step removes the wait. The Arabic shop names are built from a word list and should be reviewed once by someone on the team. The index is one file in Netlify Blobs, which is right for 436 names; with thousands of products and shops I would move it to Postgres with pgvector and keep the same hybrid search. And quality is not measured yet: the first metric I would add is how often a draft is edited before it is sent, per type of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 open the feed and the console side by side. Comment as one of the customers under the olive oil post, for example وين بلاقيه بإربد. The console shows the comment at once as being drafted, and within seconds the draft appears; open How this draft was made to show each node, what it found, and the shops and dates behind the reply. Click Reply now and switch to the feed: the reply is under the comment. Then show a draft that needs a choice, the rice comment, and pick Basmati: the draft is rewritten as a full answer. Finally publish a post with a caption and show that its products are linked on their own. The comments on the right are already in the demo data: the typo in زيتوون, the green tea in Jubaiha where no shop carries it so the reply offers shops in Amman, the medium size asking only the price, the two kinds of rice, a complaint that goes to a person, and a tag that needs no reply. If the demo was just reset, the starting drafts need about ten minutes on Groq's free tier, so reset well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every comment is read, searched and drafted before anyone opens it, so the team answers in seconds instead of searching a sheet. The facts in each reply come from a filter on the data, found by a hybrid search that understands Arabic dialect, typos and meaning, and are checked before the draft is shown. And a person decides what is posted.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omar-qasem/product-availability-reply-agent-langgraph/blob/main/docs/Answer-Path-Explorer.html" TargetMode="Externa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omar-qasem/product-availability-reply-agent-langgraph/blob/main/docs/Answer-Path-Explorer.html" TargetMode="Externa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7-8.png"/><Relationship Id="rId10" Type="http://schemas.openxmlformats.org/officeDocument/2006/relationships/image" Target="../media/image-7-9.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omar-qasem/product-availability-reply-agent-langgraph/blob/main/docs/Answer-Path-Explorer.html" TargetMode="Externa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image" Target="../media/image-8-8.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ithub.com/omar-qasem/product-availability-reply-agent-langgraph/blob/main/docs/Answer-Path-Explorer.html" TargetMode="Externa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9-8.png"/><Relationship Id="rId10" Type="http://schemas.openxmlformats.org/officeDocument/2006/relationships/image" Target="../media/image-9-9.png"/><Relationship Id="rId11" Type="http://schemas.openxmlformats.org/officeDocument/2006/relationships/image" Target="../media/image-9-10.png"/><Relationship Id="rId12" Type="http://schemas.openxmlformats.org/officeDocument/2006/relationships/image" Target="../media/image-9-11.png"/><Relationship Id="rId13" Type="http://schemas.openxmlformats.org/officeDocument/2006/relationships/image" Target="../media/image-9-12.png"/><Relationship Id="rId14" Type="http://schemas.openxmlformats.org/officeDocument/2006/relationships/image" Target="../media/image-9-13.png"/><Relationship Id="rId15" Type="http://schemas.openxmlformats.org/officeDocument/2006/relationships/image" Target="../media/image-9-14.png"/><Relationship Id="rId16" Type="http://schemas.openxmlformats.org/officeDocument/2006/relationships/image" Target="../media/image-9-15.png"/><Relationship Id="rId17" Type="http://schemas.openxmlformats.org/officeDocument/2006/relationships/image" Target="../media/image-9-16.png"/><Relationship Id="rId18" Type="http://schemas.openxmlformats.org/officeDocument/2006/relationships/image" Target="../media/image-9-17.png"/><Relationship Id="rId19" Type="http://schemas.openxmlformats.org/officeDocument/2006/relationships/image" Target="../media/image-9-18.png"/><Relationship Id="rId20" Type="http://schemas.openxmlformats.org/officeDocument/2006/relationships/image" Target="../media/image-9-19.png"/><Relationship Id="rId21" Type="http://schemas.openxmlformats.org/officeDocument/2006/relationships/image" Target="../media/image-9-20.png"/><Relationship Id="rId22" Type="http://schemas.openxmlformats.org/officeDocument/2006/relationships/image" Target="../media/image-9-21.png"/><Relationship Id="rId23" Type="http://schemas.openxmlformats.org/officeDocument/2006/relationships/slideLayout" Target="../slideLayouts/slideLayout1.xml"/><Relationship Id="rId2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omar-qasem/product-availability-reply-agent-langgraph/blob/main/docs/Answer-Path-Explorer.html"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omar-qasem/product-availability-reply-agent-langgraph/blob/main/docs/Answer-Path-Explorer.html" TargetMode="External"/><Relationship Id="rId2"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2B"/>
        </a:solidFill>
      </p:bgPr>
    </p:bg>
    <p:spTree>
      <p:nvGrpSpPr>
        <p:cNvPr id="1" name=""/>
        <p:cNvGrpSpPr/>
        <p:nvPr/>
      </p:nvGrpSpPr>
      <p:grpSpPr>
        <a:xfrm>
          <a:off x="0" y="0"/>
          <a:ext cx="0" cy="0"/>
          <a:chOff x="0" y="0"/>
          <a:chExt cx="0" cy="0"/>
        </a:xfrm>
      </p:grpSpPr>
      <p:sp>
        <p:nvSpPr>
          <p:cNvPr id="2" name="Text 0"/>
          <p:cNvSpPr/>
          <p:nvPr/>
        </p:nvSpPr>
        <p:spPr>
          <a:xfrm>
            <a:off x="812800" y="20295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9FF5"/>
                </a:solidFill>
                <a:latin typeface="JetBrains Mono" pitchFamily="49" charset="0"/>
                <a:ea typeface="JetBrains Mono" pitchFamily="49" charset="-122"/>
                <a:cs typeface="JetBrains Mono" pitchFamily="49" charset="-120"/>
              </a:rPr>
              <a:t>PART 2 · PRODUCT AVAILABILITY REPLY AGENT</a:t>
            </a:r>
            <a:endParaRPr lang="en-US" sz="1200" dirty="0"/>
          </a:p>
        </p:txBody>
      </p:sp>
      <p:sp>
        <p:nvSpPr>
          <p:cNvPr id="3" name="Text 1"/>
          <p:cNvSpPr/>
          <p:nvPr/>
        </p:nvSpPr>
        <p:spPr>
          <a:xfrm>
            <a:off x="812800" y="249684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spc="-50" kern="0" dirty="0">
                <a:solidFill>
                  <a:srgbClr val="F6F5F1"/>
                </a:solidFill>
                <a:latin typeface="Space Grotesk" pitchFamily="34" charset="0"/>
                <a:ea typeface="Space Grotesk" pitchFamily="34" charset="-122"/>
                <a:cs typeface="Space Grotesk" pitchFamily="34" charset="-120"/>
              </a:rPr>
              <a:t>Answering from the Data</a:t>
            </a:r>
            <a:endParaRPr lang="en-US" sz="5600" dirty="0"/>
          </a:p>
        </p:txBody>
      </p:sp>
      <p:sp>
        <p:nvSpPr>
          <p:cNvPr id="4" name="Text 2"/>
          <p:cNvSpPr/>
          <p:nvPr/>
        </p:nvSpPr>
        <p:spPr>
          <a:xfrm>
            <a:off x="812800" y="3497560"/>
            <a:ext cx="863346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CCE0"/>
                </a:solidFill>
                <a:latin typeface="IBM Plex Sans" pitchFamily="34" charset="0"/>
                <a:ea typeface="IBM Plex Sans" pitchFamily="34" charset="-122"/>
                <a:cs typeface="IBM Plex Sans" pitchFamily="34" charset="-120"/>
              </a:rPr>
              <a:t>Every “where can I buy this?” comment gets a reply drafted from the sales reps' shelf visits, and a person sends it in one click.</a:t>
            </a:r>
            <a:endParaRPr lang="en-US" sz="2000" dirty="0"/>
          </a:p>
        </p:txBody>
      </p:sp>
      <p:sp>
        <p:nvSpPr>
          <p:cNvPr id="5" name="Text 3"/>
          <p:cNvSpPr/>
          <p:nvPr/>
        </p:nvSpPr>
        <p:spPr>
          <a:xfrm>
            <a:off x="819150" y="4443710"/>
            <a:ext cx="825599" cy="378420"/>
          </a:xfrm>
          <a:prstGeom prst="roundRect">
            <a:avLst>
              <a:gd name="adj" fmla="val 50000"/>
            </a:avLst>
          </a:prstGeom>
          <a:solidFill>
            <a:srgbClr val="A99FF5"/>
          </a:solidFill>
          <a:ln w="12700">
            <a:solidFill>
              <a:srgbClr val="A99FF5"/>
            </a:solidFill>
            <a:prstDash val="solid"/>
          </a:ln>
        </p:spPr>
        <p:txBody>
          <a:bodyPr wrap="none" lIns="0" tIns="0" rIns="0" bIns="0" rtlCol="0" anchor="ctr">
            <a:normAutofit/>
          </a:bodyPr>
          <a:lstStyle/>
          <a:p>
            <a:pPr algn="ctr"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Ready</a:t>
            </a:r>
            <a:endParaRPr lang="en-US" sz="1200" dirty="0"/>
          </a:p>
        </p:txBody>
      </p:sp>
      <p:sp>
        <p:nvSpPr>
          <p:cNvPr id="6" name="Text 4"/>
          <p:cNvSpPr/>
          <p:nvPr/>
        </p:nvSpPr>
        <p:spPr>
          <a:xfrm>
            <a:off x="1759049" y="4443710"/>
            <a:ext cx="1648718" cy="378420"/>
          </a:xfrm>
          <a:prstGeom prst="roundRect">
            <a:avLst>
              <a:gd name="adj" fmla="val 50000"/>
            </a:avLst>
          </a:prstGeom>
          <a:noFill/>
          <a:ln w="12700">
            <a:solidFill>
              <a:srgbClr val="4A4E70"/>
            </a:solidFill>
            <a:prstDash val="solid"/>
          </a:ln>
        </p:spPr>
        <p:txBody>
          <a:bodyPr wrap="none" lIns="0" tIns="0" rIns="0" bIns="0" rtlCol="0" anchor="ctr">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Needs a choice</a:t>
            </a:r>
            <a:endParaRPr lang="en-US" sz="1200" dirty="0"/>
          </a:p>
        </p:txBody>
      </p:sp>
      <p:sp>
        <p:nvSpPr>
          <p:cNvPr id="7" name="Text 5"/>
          <p:cNvSpPr/>
          <p:nvPr/>
        </p:nvSpPr>
        <p:spPr>
          <a:xfrm>
            <a:off x="3522067" y="4443710"/>
            <a:ext cx="1648718" cy="378420"/>
          </a:xfrm>
          <a:prstGeom prst="roundRect">
            <a:avLst>
              <a:gd name="adj" fmla="val 50000"/>
            </a:avLst>
          </a:prstGeom>
          <a:noFill/>
          <a:ln w="12700">
            <a:solidFill>
              <a:srgbClr val="4A4E70"/>
            </a:solidFill>
            <a:prstDash val="solid"/>
          </a:ln>
        </p:spPr>
        <p:txBody>
          <a:bodyPr wrap="none" lIns="0" tIns="0" rIns="0" bIns="0" rtlCol="0" anchor="ctr">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Needs a person</a:t>
            </a:r>
            <a:endParaRPr lang="en-US" sz="1200" dirty="0"/>
          </a:p>
        </p:txBody>
      </p:sp>
      <p:sp>
        <p:nvSpPr>
          <p:cNvPr id="8" name="Text 6"/>
          <p:cNvSpPr/>
          <p:nvPr/>
        </p:nvSpPr>
        <p:spPr>
          <a:xfrm>
            <a:off x="5285085" y="4443710"/>
            <a:ext cx="1740198" cy="378420"/>
          </a:xfrm>
          <a:prstGeom prst="roundRect">
            <a:avLst>
              <a:gd name="adj" fmla="val 50000"/>
            </a:avLst>
          </a:prstGeom>
          <a:noFill/>
          <a:ln w="12700">
            <a:solidFill>
              <a:srgbClr val="4A4E70"/>
            </a:solidFill>
            <a:prstDash val="solid"/>
          </a:ln>
        </p:spPr>
        <p:txBody>
          <a:bodyPr wrap="none" lIns="0" tIns="0" rIns="0" bIns="0" rtlCol="0" anchor="ctr">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No reply needed</a:t>
            </a:r>
            <a:endParaRPr lang="en-US" sz="1200" dirty="0"/>
          </a:p>
        </p:txBody>
      </p:sp>
      <p:sp>
        <p:nvSpPr>
          <p:cNvPr id="9" name="Text 7"/>
          <p:cNvSpPr/>
          <p:nvPr/>
        </p:nvSpPr>
        <p:spPr>
          <a:xfrm>
            <a:off x="812800" y="6202759"/>
            <a:ext cx="52324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CE0"/>
                </a:solidFill>
                <a:latin typeface="IBM Plex Sans" pitchFamily="34" charset="0"/>
                <a:ea typeface="IBM Plex Sans" pitchFamily="34" charset="-122"/>
                <a:cs typeface="IBM Plex Sans" pitchFamily="34" charset="-120"/>
              </a:rPr>
              <a:t>Omar Qasem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nvSpPr>
        <p:spPr>
          <a:xfrm>
            <a:off x="812800" y="11277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Every question means a search through a growing sheet</a:t>
            </a:r>
            <a:endParaRPr lang="en-US" sz="3200" dirty="0"/>
          </a:p>
        </p:txBody>
      </p:sp>
      <p:sp>
        <p:nvSpPr>
          <p:cNvPr id="4" name="Shape 2"/>
          <p:cNvSpPr/>
          <p:nvPr/>
        </p:nvSpPr>
        <p:spPr>
          <a:xfrm>
            <a:off x="819150" y="2383631"/>
            <a:ext cx="3373934" cy="3301405"/>
          </a:xfrm>
          <a:prstGeom prst="roundRect">
            <a:avLst>
              <a:gd name="adj" fmla="val 2885"/>
            </a:avLst>
          </a:prstGeom>
          <a:solidFill>
            <a:srgbClr val="FDFCF9"/>
          </a:solidFill>
          <a:ln w="12700">
            <a:solidFill>
              <a:srgbClr val="D9D6CC"/>
            </a:solidFill>
            <a:prstDash val="solid"/>
          </a:ln>
        </p:spPr>
      </p:sp>
      <p:sp>
        <p:nvSpPr>
          <p:cNvPr id="5" name="Text 3"/>
          <p:cNvSpPr/>
          <p:nvPr/>
        </p:nvSpPr>
        <p:spPr>
          <a:xfrm>
            <a:off x="1079500" y="2643981"/>
            <a:ext cx="29388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79500" y="2984302"/>
            <a:ext cx="293883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82B"/>
                </a:solidFill>
                <a:latin typeface="Space Grotesk" pitchFamily="34" charset="0"/>
                <a:ea typeface="Space Grotesk" pitchFamily="34" charset="-122"/>
                <a:cs typeface="Space Grotesk" pitchFamily="34" charset="-120"/>
              </a:rPr>
              <a:t>Slow</a:t>
            </a:r>
            <a:endParaRPr lang="en-US" sz="2000" dirty="0"/>
          </a:p>
        </p:txBody>
      </p:sp>
      <p:sp>
        <p:nvSpPr>
          <p:cNvPr id="7" name="Text 5"/>
          <p:cNvSpPr/>
          <p:nvPr/>
        </p:nvSpPr>
        <p:spPr>
          <a:xfrm>
            <a:off x="1079500" y="3416102"/>
            <a:ext cx="293883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E63"/>
                </a:solidFill>
                <a:latin typeface="IBM Plex Sans" pitchFamily="34" charset="0"/>
                <a:ea typeface="IBM Plex Sans" pitchFamily="34" charset="-122"/>
                <a:cs typeface="IBM Plex Sans" pitchFamily="34" charset="-120"/>
              </a:rPr>
              <a:t>Someone opens the sheet and filters it by hand for every question, and the sheet keeps growing.</a:t>
            </a:r>
            <a:endParaRPr lang="en-US" sz="1400" dirty="0"/>
          </a:p>
        </p:txBody>
      </p:sp>
      <p:pic>
        <p:nvPicPr>
          <p:cNvPr id="8" name="Image 0" descr="line">    </p:cNvPr>
          <p:cNvPicPr>
            <a:picLocks noChangeAspect="1"/>
          </p:cNvPicPr>
          <p:nvPr/>
        </p:nvPicPr>
        <p:blipFill>
          <a:blip r:embed="rId1"/>
          <a:srcRect l="-35" r="-35" t="0" b="0"/>
          <a:stretch/>
        </p:blipFill>
        <p:spPr>
          <a:xfrm>
            <a:off x="1079500" y="4289623"/>
            <a:ext cx="2853234" cy="12700"/>
          </a:xfrm>
          <a:prstGeom prst="rect">
            <a:avLst/>
          </a:prstGeom>
        </p:spPr>
      </p:pic>
      <p:sp>
        <p:nvSpPr>
          <p:cNvPr id="9" name="Text 6"/>
          <p:cNvSpPr/>
          <p:nvPr/>
        </p:nvSpPr>
        <p:spPr>
          <a:xfrm>
            <a:off x="1079500" y="4429323"/>
            <a:ext cx="2938831"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182B"/>
                </a:solidFill>
                <a:latin typeface="IBM Plex Sans" pitchFamily="34" charset="0"/>
                <a:ea typeface="IBM Plex Sans" pitchFamily="34" charset="-122"/>
                <a:cs typeface="IBM Plex Sans" pitchFamily="34" charset="-120"/>
              </a:rPr>
              <a:t>Fix:</a:t>
            </a:r>
            <a:r>
              <a:rPr lang="en-US" sz="1400" dirty="0">
                <a:solidFill>
                  <a:srgbClr val="16182B"/>
                </a:solidFill>
                <a:latin typeface="IBM Plex Sans" pitchFamily="34" charset="0"/>
                <a:ea typeface="IBM Plex Sans" pitchFamily="34" charset="-122"/>
                <a:cs typeface="IBM Plex Sans" pitchFamily="34" charset="-120"/>
              </a:rPr>
              <a:t> the reply is drafted before anyone opens the comment.</a:t>
            </a:r>
            <a:endParaRPr lang="en-US" sz="1400" dirty="0"/>
          </a:p>
        </p:txBody>
      </p:sp>
      <p:sp>
        <p:nvSpPr>
          <p:cNvPr id="10" name="Shape 7"/>
          <p:cNvSpPr/>
          <p:nvPr/>
        </p:nvSpPr>
        <p:spPr>
          <a:xfrm>
            <a:off x="4408984" y="2383631"/>
            <a:ext cx="3373934" cy="3301405"/>
          </a:xfrm>
          <a:prstGeom prst="roundRect">
            <a:avLst>
              <a:gd name="adj" fmla="val 2885"/>
            </a:avLst>
          </a:prstGeom>
          <a:solidFill>
            <a:srgbClr val="FDFCF9"/>
          </a:solidFill>
          <a:ln w="12700">
            <a:solidFill>
              <a:srgbClr val="D9D6CC"/>
            </a:solidFill>
            <a:prstDash val="solid"/>
          </a:ln>
        </p:spPr>
      </p:sp>
      <p:sp>
        <p:nvSpPr>
          <p:cNvPr id="11" name="Text 8"/>
          <p:cNvSpPr/>
          <p:nvPr/>
        </p:nvSpPr>
        <p:spPr>
          <a:xfrm>
            <a:off x="4669334" y="2643981"/>
            <a:ext cx="29388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02</a:t>
            </a:r>
            <a:endParaRPr lang="en-US" sz="1200" dirty="0"/>
          </a:p>
        </p:txBody>
      </p:sp>
      <p:sp>
        <p:nvSpPr>
          <p:cNvPr id="12" name="Text 9"/>
          <p:cNvSpPr/>
          <p:nvPr/>
        </p:nvSpPr>
        <p:spPr>
          <a:xfrm>
            <a:off x="4669334" y="2984302"/>
            <a:ext cx="293883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82B"/>
                </a:solidFill>
                <a:latin typeface="Space Grotesk" pitchFamily="34" charset="0"/>
                <a:ea typeface="Space Grotesk" pitchFamily="34" charset="-122"/>
                <a:cs typeface="Space Grotesk" pitchFamily="34" charset="-120"/>
              </a:rPr>
              <a:t>Hard to read</a:t>
            </a:r>
            <a:endParaRPr lang="en-US" sz="2000" dirty="0"/>
          </a:p>
        </p:txBody>
      </p:sp>
      <p:sp>
        <p:nvSpPr>
          <p:cNvPr id="13" name="Text 10"/>
          <p:cNvSpPr/>
          <p:nvPr/>
        </p:nvSpPr>
        <p:spPr>
          <a:xfrm>
            <a:off x="4669334" y="3416102"/>
            <a:ext cx="2938831"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E63"/>
                </a:solidFill>
                <a:latin typeface="IBM Plex Sans" pitchFamily="34" charset="0"/>
                <a:ea typeface="IBM Plex Sans" pitchFamily="34" charset="-122"/>
                <a:cs typeface="IBM Plex Sans" pitchFamily="34" charset="-120"/>
              </a:rPr>
              <a:t>Comments come in Jordanian Arabic or English, with typos, and “it” usually means the product in the post.</a:t>
            </a:r>
            <a:endParaRPr lang="en-US" sz="1400" dirty="0"/>
          </a:p>
        </p:txBody>
      </p:sp>
      <p:pic>
        <p:nvPicPr>
          <p:cNvPr id="14" name="Image 1" descr="line">    </p:cNvPr>
          <p:cNvPicPr>
            <a:picLocks noChangeAspect="1"/>
          </p:cNvPicPr>
          <p:nvPr/>
        </p:nvPicPr>
        <p:blipFill>
          <a:blip r:embed="rId2"/>
          <a:srcRect l="-35" r="-35" t="0" b="0"/>
          <a:stretch/>
        </p:blipFill>
        <p:spPr>
          <a:xfrm>
            <a:off x="4669334" y="4538464"/>
            <a:ext cx="2853234" cy="12700"/>
          </a:xfrm>
          <a:prstGeom prst="rect">
            <a:avLst/>
          </a:prstGeom>
        </p:spPr>
      </p:pic>
      <p:sp>
        <p:nvSpPr>
          <p:cNvPr id="15" name="Text 11"/>
          <p:cNvSpPr/>
          <p:nvPr/>
        </p:nvSpPr>
        <p:spPr>
          <a:xfrm>
            <a:off x="4669334" y="4678164"/>
            <a:ext cx="2938831"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182B"/>
                </a:solidFill>
                <a:latin typeface="IBM Plex Sans" pitchFamily="34" charset="0"/>
                <a:ea typeface="IBM Plex Sans" pitchFamily="34" charset="-122"/>
                <a:cs typeface="IBM Plex Sans" pitchFamily="34" charset="-120"/>
              </a:rPr>
              <a:t>Fix:</a:t>
            </a:r>
            <a:r>
              <a:rPr lang="en-US" sz="1400" dirty="0">
                <a:solidFill>
                  <a:srgbClr val="16182B"/>
                </a:solidFill>
                <a:latin typeface="IBM Plex Sans" pitchFamily="34" charset="0"/>
                <a:ea typeface="IBM Plex Sans" pitchFamily="34" charset="-122"/>
                <a:cs typeface="IBM Plex Sans" pitchFamily="34" charset="-120"/>
              </a:rPr>
              <a:t> the AI reads the comment, and search links each word to a product, shop or area.</a:t>
            </a:r>
            <a:endParaRPr lang="en-US" sz="1400" dirty="0"/>
          </a:p>
        </p:txBody>
      </p:sp>
      <p:sp>
        <p:nvSpPr>
          <p:cNvPr id="16" name="Shape 12"/>
          <p:cNvSpPr/>
          <p:nvPr/>
        </p:nvSpPr>
        <p:spPr>
          <a:xfrm>
            <a:off x="7998817" y="2383631"/>
            <a:ext cx="3373934" cy="3301405"/>
          </a:xfrm>
          <a:prstGeom prst="roundRect">
            <a:avLst>
              <a:gd name="adj" fmla="val 2885"/>
            </a:avLst>
          </a:prstGeom>
          <a:solidFill>
            <a:srgbClr val="FDFCF9"/>
          </a:solidFill>
          <a:ln w="12700">
            <a:solidFill>
              <a:srgbClr val="D9D6CC"/>
            </a:solidFill>
            <a:prstDash val="solid"/>
          </a:ln>
        </p:spPr>
      </p:sp>
      <p:sp>
        <p:nvSpPr>
          <p:cNvPr id="17" name="Text 13"/>
          <p:cNvSpPr/>
          <p:nvPr/>
        </p:nvSpPr>
        <p:spPr>
          <a:xfrm>
            <a:off x="8259167" y="2643981"/>
            <a:ext cx="29388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03</a:t>
            </a:r>
            <a:endParaRPr lang="en-US" sz="1200" dirty="0"/>
          </a:p>
        </p:txBody>
      </p:sp>
      <p:sp>
        <p:nvSpPr>
          <p:cNvPr id="18" name="Text 14"/>
          <p:cNvSpPr/>
          <p:nvPr/>
        </p:nvSpPr>
        <p:spPr>
          <a:xfrm>
            <a:off x="8259167" y="2984302"/>
            <a:ext cx="293883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82B"/>
                </a:solidFill>
                <a:latin typeface="Space Grotesk" pitchFamily="34" charset="0"/>
                <a:ea typeface="Space Grotesk" pitchFamily="34" charset="-122"/>
                <a:cs typeface="Space Grotesk" pitchFamily="34" charset="-120"/>
              </a:rPr>
              <a:t>Risky to get wrong</a:t>
            </a:r>
            <a:endParaRPr lang="en-US" sz="2000" dirty="0"/>
          </a:p>
        </p:txBody>
      </p:sp>
      <p:sp>
        <p:nvSpPr>
          <p:cNvPr id="19" name="Text 15"/>
          <p:cNvSpPr/>
          <p:nvPr/>
        </p:nvSpPr>
        <p:spPr>
          <a:xfrm>
            <a:off x="8259167" y="3416102"/>
            <a:ext cx="293883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E63"/>
                </a:solidFill>
                <a:latin typeface="IBM Plex Sans" pitchFamily="34" charset="0"/>
                <a:ea typeface="IBM Plex Sans" pitchFamily="34" charset="-122"/>
                <a:cs typeface="IBM Plex Sans" pitchFamily="34" charset="-120"/>
              </a:rPr>
              <a:t>A public reply that names the wrong shop, or stock from weeks ago, costs trust.</a:t>
            </a:r>
            <a:endParaRPr lang="en-US" sz="1400" dirty="0"/>
          </a:p>
        </p:txBody>
      </p:sp>
      <p:pic>
        <p:nvPicPr>
          <p:cNvPr id="20" name="Image 2" descr="line">    </p:cNvPr>
          <p:cNvPicPr>
            <a:picLocks noChangeAspect="1"/>
          </p:cNvPicPr>
          <p:nvPr/>
        </p:nvPicPr>
        <p:blipFill>
          <a:blip r:embed="rId3"/>
          <a:srcRect l="-35" r="-35" t="0" b="0"/>
          <a:stretch/>
        </p:blipFill>
        <p:spPr>
          <a:xfrm>
            <a:off x="8259167" y="4289623"/>
            <a:ext cx="2853234" cy="12700"/>
          </a:xfrm>
          <a:prstGeom prst="rect">
            <a:avLst/>
          </a:prstGeom>
        </p:spPr>
      </p:pic>
      <p:sp>
        <p:nvSpPr>
          <p:cNvPr id="21" name="Text 16"/>
          <p:cNvSpPr/>
          <p:nvPr/>
        </p:nvSpPr>
        <p:spPr>
          <a:xfrm>
            <a:off x="8259167" y="4429323"/>
            <a:ext cx="2938831"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182B"/>
                </a:solidFill>
                <a:latin typeface="IBM Plex Sans" pitchFamily="34" charset="0"/>
                <a:ea typeface="IBM Plex Sans" pitchFamily="34" charset="-122"/>
                <a:cs typeface="IBM Plex Sans" pitchFamily="34" charset="-120"/>
              </a:rPr>
              <a:t>Fix:</a:t>
            </a:r>
            <a:r>
              <a:rPr lang="en-US" sz="1400" dirty="0">
                <a:solidFill>
                  <a:srgbClr val="16182B"/>
                </a:solidFill>
                <a:latin typeface="IBM Plex Sans" pitchFamily="34" charset="0"/>
                <a:ea typeface="IBM Plex Sans" pitchFamily="34" charset="-122"/>
                <a:cs typeface="IBM Plex Sans" pitchFamily="34" charset="-120"/>
              </a:rPr>
              <a:t> shops and dates come only from the data, and every reply says when the shelf was checked.</a:t>
            </a:r>
            <a:endParaRPr lang="en-US" sz="1400" dirty="0"/>
          </a:p>
        </p:txBody>
      </p:sp>
      <p:sp>
        <p:nvSpPr>
          <p:cNvPr id="22" name="Text 17"/>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23" name="Text 18"/>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02 / 22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C3FD1"/>
        </a:solidFill>
      </p:bgPr>
    </p:bg>
    <p:spTree>
      <p:nvGrpSpPr>
        <p:cNvPr id="1" name=""/>
        <p:cNvGrpSpPr/>
        <p:nvPr/>
      </p:nvGrpSpPr>
      <p:grpSpPr>
        <a:xfrm>
          <a:off x="0" y="0"/>
          <a:ext cx="0" cy="0"/>
          <a:chOff x="0" y="0"/>
          <a:chExt cx="0" cy="0"/>
        </a:xfrm>
      </p:grpSpPr>
      <p:sp>
        <p:nvSpPr>
          <p:cNvPr id="2" name="Text 0"/>
          <p:cNvSpPr/>
          <p:nvPr/>
        </p:nvSpPr>
        <p:spPr>
          <a:xfrm>
            <a:off x="812800" y="14529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4E1FA"/>
                </a:solidFill>
                <a:latin typeface="JetBrains Mono" pitchFamily="49" charset="0"/>
                <a:ea typeface="JetBrains Mono" pitchFamily="49" charset="-122"/>
                <a:cs typeface="JetBrains Mono" pitchFamily="49" charset="-120"/>
              </a:rPr>
              <a:t>WHAT WOULD YOU BUILD SO THE TEAM ANSWERS IN SECONDS?</a:t>
            </a:r>
            <a:endParaRPr lang="en-US" sz="1200" dirty="0"/>
          </a:p>
        </p:txBody>
      </p:sp>
      <p:sp>
        <p:nvSpPr>
          <p:cNvPr id="3" name="Text 1"/>
          <p:cNvSpPr/>
          <p:nvPr/>
        </p:nvSpPr>
        <p:spPr>
          <a:xfrm>
            <a:off x="812800" y="1971080"/>
            <a:ext cx="10883392" cy="2265561"/>
          </a:xfrm>
          <a:prstGeom prst="rect">
            <a:avLst/>
          </a:prstGeom>
          <a:noFill/>
          <a:ln/>
        </p:spPr>
        <p:txBody>
          <a:bodyPr wrap="square" lIns="0" tIns="0" rIns="0" bIns="0" rtlCol="0" anchor="t">
            <a:normAutofit/>
          </a:bodyPr>
          <a:lstStyle/>
          <a:p>
            <a:pPr algn="l" indent="0" marL="0">
              <a:lnSpc>
                <a:spcPts val="5880"/>
              </a:lnSpc>
              <a:buNone/>
            </a:pPr>
            <a:r>
              <a:rPr lang="en-US" sz="5600" b="1" spc="-50" kern="0" dirty="0">
                <a:solidFill>
                  <a:srgbClr val="F6F5F1"/>
                </a:solidFill>
                <a:latin typeface="Space Grotesk" pitchFamily="34" charset="0"/>
                <a:ea typeface="Space Grotesk" pitchFamily="34" charset="-122"/>
                <a:cs typeface="Space Grotesk" pitchFamily="34" charset="-120"/>
              </a:rPr>
              <a:t>A console where every comment already has a checked reply waiting.</a:t>
            </a:r>
            <a:endParaRPr lang="en-US" sz="5600" dirty="0"/>
          </a:p>
        </p:txBody>
      </p:sp>
      <p:sp>
        <p:nvSpPr>
          <p:cNvPr id="4" name="Text 2"/>
          <p:cNvSpPr/>
          <p:nvPr/>
        </p:nvSpPr>
        <p:spPr>
          <a:xfrm>
            <a:off x="812800" y="4516041"/>
            <a:ext cx="98107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E4E1FA"/>
                </a:solidFill>
                <a:latin typeface="IBM Plex Sans" pitchFamily="34" charset="0"/>
                <a:ea typeface="IBM Plex Sans" pitchFamily="34" charset="-122"/>
                <a:cs typeface="IBM Plex Sans" pitchFamily="34" charset="-120"/>
              </a:rPr>
              <a:t>Search finds what the customer means. The data table gives the answer. The AI writes it in their dialect, and a person clicks Reply now.</a:t>
            </a:r>
            <a:endParaRPr lang="en-US" sz="2000" dirty="0"/>
          </a:p>
        </p:txBody>
      </p:sp>
      <p:sp>
        <p:nvSpPr>
          <p:cNvPr id="5" name="Text 3"/>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1FA"/>
                </a:solidFill>
                <a:latin typeface="IBM Plex Sans" pitchFamily="34" charset="0"/>
                <a:ea typeface="IBM Plex Sans" pitchFamily="34" charset="-122"/>
                <a:cs typeface="IBM Plex Sans" pitchFamily="34" charset="-120"/>
              </a:rPr>
              <a:t>Answering from the Data</a:t>
            </a:r>
            <a:endParaRPr lang="en-US" sz="1200" dirty="0"/>
          </a:p>
        </p:txBody>
      </p:sp>
      <p:sp>
        <p:nvSpPr>
          <p:cNvPr id="6" name="Text 4"/>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4E1FA"/>
                </a:solidFill>
                <a:latin typeface="JetBrains Mono" pitchFamily="49" charset="0"/>
                <a:ea typeface="JetBrains Mono" pitchFamily="49" charset="-122"/>
                <a:cs typeface="JetBrains Mono" pitchFamily="49" charset="-120"/>
              </a:rPr>
              <a:t>03 / 22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WHAT I BUILT</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Two small sites and one backend, on Netlify</a:t>
            </a:r>
            <a:endParaRPr lang="en-US" sz="3200" dirty="0"/>
          </a:p>
        </p:txBody>
      </p:sp>
      <p:sp>
        <p:nvSpPr>
          <p:cNvPr id="4" name="Shape 2"/>
          <p:cNvSpPr/>
          <p:nvPr/>
        </p:nvSpPr>
        <p:spPr>
          <a:xfrm>
            <a:off x="819150" y="1885950"/>
            <a:ext cx="3035300" cy="1003300"/>
          </a:xfrm>
          <a:prstGeom prst="roundRect">
            <a:avLst>
              <a:gd name="adj" fmla="val 9494"/>
            </a:avLst>
          </a:prstGeom>
          <a:solidFill>
            <a:srgbClr val="FDFCF9"/>
          </a:solidFill>
          <a:ln w="12700">
            <a:solidFill>
              <a:srgbClr val="D9D6CC"/>
            </a:solidFill>
            <a:prstDash val="solid"/>
          </a:ln>
        </p:spPr>
      </p:sp>
      <p:sp>
        <p:nvSpPr>
          <p:cNvPr id="5" name="Text 3"/>
          <p:cNvSpPr/>
          <p:nvPr/>
        </p:nvSpPr>
        <p:spPr>
          <a:xfrm>
            <a:off x="1003300" y="2044700"/>
            <a:ext cx="2747010" cy="237034"/>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16182B"/>
                </a:solidFill>
                <a:latin typeface="Space Grotesk" pitchFamily="34" charset="0"/>
                <a:ea typeface="Space Grotesk" pitchFamily="34" charset="-122"/>
                <a:cs typeface="Space Grotesk" pitchFamily="34" charset="-120"/>
              </a:rPr>
              <a:t>Feed simulator</a:t>
            </a:r>
            <a:endParaRPr lang="en-US" sz="1396" dirty="0"/>
          </a:p>
        </p:txBody>
      </p:sp>
      <p:sp>
        <p:nvSpPr>
          <p:cNvPr id="6" name="Text 4"/>
          <p:cNvSpPr/>
          <p:nvPr/>
        </p:nvSpPr>
        <p:spPr>
          <a:xfrm>
            <a:off x="1003300" y="2307134"/>
            <a:ext cx="2747010" cy="44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The brand posts; customers comment and see the replies</a:t>
            </a:r>
            <a:endParaRPr lang="en-US" sz="1200" dirty="0"/>
          </a:p>
        </p:txBody>
      </p:sp>
      <p:sp>
        <p:nvSpPr>
          <p:cNvPr id="7" name="Shape 5"/>
          <p:cNvSpPr/>
          <p:nvPr/>
        </p:nvSpPr>
        <p:spPr>
          <a:xfrm>
            <a:off x="4578350" y="1885950"/>
            <a:ext cx="3035300" cy="1003300"/>
          </a:xfrm>
          <a:prstGeom prst="roundRect">
            <a:avLst>
              <a:gd name="adj" fmla="val 9494"/>
            </a:avLst>
          </a:prstGeom>
          <a:solidFill>
            <a:srgbClr val="FDFCF9"/>
          </a:solidFill>
          <a:ln w="12700">
            <a:solidFill>
              <a:srgbClr val="D9D6CC"/>
            </a:solidFill>
            <a:prstDash val="solid"/>
          </a:ln>
        </p:spPr>
      </p:sp>
      <p:sp>
        <p:nvSpPr>
          <p:cNvPr id="8" name="Text 6"/>
          <p:cNvSpPr/>
          <p:nvPr/>
        </p:nvSpPr>
        <p:spPr>
          <a:xfrm>
            <a:off x="4762500" y="2044700"/>
            <a:ext cx="2747010" cy="237034"/>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16182B"/>
                </a:solidFill>
                <a:latin typeface="Space Grotesk" pitchFamily="34" charset="0"/>
                <a:ea typeface="Space Grotesk" pitchFamily="34" charset="-122"/>
                <a:cs typeface="Space Grotesk" pitchFamily="34" charset="-120"/>
              </a:rPr>
              <a:t>API</a:t>
            </a:r>
            <a:endParaRPr lang="en-US" sz="1396" dirty="0"/>
          </a:p>
        </p:txBody>
      </p:sp>
      <p:sp>
        <p:nvSpPr>
          <p:cNvPr id="9" name="Text 7"/>
          <p:cNvSpPr/>
          <p:nvPr/>
        </p:nvSpPr>
        <p:spPr>
          <a:xfrm>
            <a:off x="4762500" y="2307134"/>
            <a:ext cx="2747010" cy="44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12 Netlify Functions: posts, comments, state, reply, draft, data</a:t>
            </a:r>
            <a:endParaRPr lang="en-US" sz="1200" dirty="0"/>
          </a:p>
        </p:txBody>
      </p:sp>
      <p:sp>
        <p:nvSpPr>
          <p:cNvPr id="10" name="Shape 8"/>
          <p:cNvSpPr/>
          <p:nvPr/>
        </p:nvSpPr>
        <p:spPr>
          <a:xfrm>
            <a:off x="8337550" y="1885950"/>
            <a:ext cx="3035300" cy="1003300"/>
          </a:xfrm>
          <a:prstGeom prst="roundRect">
            <a:avLst>
              <a:gd name="adj" fmla="val 9494"/>
            </a:avLst>
          </a:prstGeom>
          <a:solidFill>
            <a:srgbClr val="FDFCF9"/>
          </a:solidFill>
          <a:ln w="12700">
            <a:solidFill>
              <a:srgbClr val="D9D6CC"/>
            </a:solidFill>
            <a:prstDash val="solid"/>
          </a:ln>
        </p:spPr>
      </p:sp>
      <p:sp>
        <p:nvSpPr>
          <p:cNvPr id="11" name="Text 9"/>
          <p:cNvSpPr/>
          <p:nvPr/>
        </p:nvSpPr>
        <p:spPr>
          <a:xfrm>
            <a:off x="8521700" y="2044700"/>
            <a:ext cx="2747010" cy="237034"/>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16182B"/>
                </a:solidFill>
                <a:latin typeface="Space Grotesk" pitchFamily="34" charset="0"/>
                <a:ea typeface="Space Grotesk" pitchFamily="34" charset="-122"/>
                <a:cs typeface="Space Grotesk" pitchFamily="34" charset="-120"/>
              </a:rPr>
              <a:t>Team console</a:t>
            </a:r>
            <a:endParaRPr lang="en-US" sz="1396" dirty="0"/>
          </a:p>
        </p:txBody>
      </p:sp>
      <p:sp>
        <p:nvSpPr>
          <p:cNvPr id="12" name="Text 10"/>
          <p:cNvSpPr/>
          <p:nvPr/>
        </p:nvSpPr>
        <p:spPr>
          <a:xfrm>
            <a:off x="8521700" y="2307134"/>
            <a:ext cx="2747010" cy="44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Every comment with its draft, shops and dates; Reply now</a:t>
            </a:r>
            <a:endParaRPr lang="en-US" sz="1200" dirty="0"/>
          </a:p>
        </p:txBody>
      </p:sp>
      <p:sp>
        <p:nvSpPr>
          <p:cNvPr id="13" name="Shape 11"/>
          <p:cNvSpPr/>
          <p:nvPr/>
        </p:nvSpPr>
        <p:spPr>
          <a:xfrm>
            <a:off x="4578350" y="3206750"/>
            <a:ext cx="3035300" cy="1003300"/>
          </a:xfrm>
          <a:prstGeom prst="roundRect">
            <a:avLst>
              <a:gd name="adj" fmla="val 9494"/>
            </a:avLst>
          </a:prstGeom>
          <a:solidFill>
            <a:srgbClr val="FDFCF9"/>
          </a:solidFill>
          <a:ln w="12700">
            <a:solidFill>
              <a:srgbClr val="D9D6CC"/>
            </a:solidFill>
            <a:prstDash val="solid"/>
          </a:ln>
        </p:spPr>
      </p:sp>
      <p:sp>
        <p:nvSpPr>
          <p:cNvPr id="14" name="Text 12"/>
          <p:cNvSpPr/>
          <p:nvPr/>
        </p:nvSpPr>
        <p:spPr>
          <a:xfrm>
            <a:off x="4762500" y="3365500"/>
            <a:ext cx="2747010" cy="237034"/>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16182B"/>
                </a:solidFill>
                <a:latin typeface="Space Grotesk" pitchFamily="34" charset="0"/>
                <a:ea typeface="Space Grotesk" pitchFamily="34" charset="-122"/>
                <a:cs typeface="Space Grotesk" pitchFamily="34" charset="-120"/>
              </a:rPr>
              <a:t>Background jobs</a:t>
            </a:r>
            <a:endParaRPr lang="en-US" sz="1396" dirty="0"/>
          </a:p>
        </p:txBody>
      </p:sp>
      <p:sp>
        <p:nvSpPr>
          <p:cNvPr id="15" name="Text 13"/>
          <p:cNvSpPr/>
          <p:nvPr/>
        </p:nvSpPr>
        <p:spPr>
          <a:xfrm>
            <a:off x="4762500" y="3627934"/>
            <a:ext cx="2747010" cy="44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Draft each comment and read each post, up to 15 minutes</a:t>
            </a:r>
            <a:endParaRPr lang="en-US" sz="1200" dirty="0"/>
          </a:p>
        </p:txBody>
      </p:sp>
      <p:sp>
        <p:nvSpPr>
          <p:cNvPr id="16" name="Shape 14"/>
          <p:cNvSpPr/>
          <p:nvPr/>
        </p:nvSpPr>
        <p:spPr>
          <a:xfrm>
            <a:off x="4581525" y="4530725"/>
            <a:ext cx="3028950" cy="996950"/>
          </a:xfrm>
          <a:prstGeom prst="roundRect">
            <a:avLst>
              <a:gd name="adj" fmla="val 9236"/>
            </a:avLst>
          </a:prstGeom>
          <a:solidFill>
            <a:srgbClr val="E4E1FA"/>
          </a:solidFill>
          <a:ln w="19050">
            <a:solidFill>
              <a:srgbClr val="4C3FD1"/>
            </a:solidFill>
            <a:prstDash val="solid"/>
          </a:ln>
        </p:spPr>
      </p:sp>
      <p:sp>
        <p:nvSpPr>
          <p:cNvPr id="17" name="Text 15"/>
          <p:cNvSpPr/>
          <p:nvPr/>
        </p:nvSpPr>
        <p:spPr>
          <a:xfrm>
            <a:off x="4768850" y="4692650"/>
            <a:ext cx="2733929" cy="232866"/>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16182B"/>
                </a:solidFill>
                <a:latin typeface="Space Grotesk" pitchFamily="34" charset="0"/>
                <a:ea typeface="Space Grotesk" pitchFamily="34" charset="-122"/>
                <a:cs typeface="Space Grotesk" pitchFamily="34" charset="-120"/>
              </a:rPr>
              <a:t>LangGraph</a:t>
            </a:r>
            <a:endParaRPr lang="en-US" sz="1396" dirty="0"/>
          </a:p>
        </p:txBody>
      </p:sp>
      <p:sp>
        <p:nvSpPr>
          <p:cNvPr id="18" name="Text 16"/>
          <p:cNvSpPr/>
          <p:nvPr/>
        </p:nvSpPr>
        <p:spPr>
          <a:xfrm>
            <a:off x="4768850" y="4950916"/>
            <a:ext cx="2733929" cy="440234"/>
          </a:xfrm>
          <a:prstGeom prst="rect">
            <a:avLst/>
          </a:prstGeom>
          <a:noFill/>
          <a:ln/>
        </p:spPr>
        <p:txBody>
          <a:bodyPr wrap="square" lIns="0" tIns="0" rIns="0" bIns="0" rtlCol="0" anchor="t">
            <a:normAutofit/>
          </a:bodyPr>
          <a:lstStyle/>
          <a:p>
            <a:pPr algn="l" indent="0" marL="0">
              <a:lnSpc>
                <a:spcPts val="1633"/>
              </a:lnSpc>
              <a:buNone/>
            </a:pPr>
            <a:r>
              <a:rPr lang="en-US" sz="1166" dirty="0">
                <a:solidFill>
                  <a:srgbClr val="16182B"/>
                </a:solidFill>
                <a:latin typeface="IBM Plex Sans" pitchFamily="34" charset="0"/>
                <a:ea typeface="IBM Plex Sans" pitchFamily="34" charset="-122"/>
                <a:cs typeface="IBM Plex Sans" pitchFamily="34" charset="-120"/>
              </a:rPr>
              <a:t>Post graph and ask graph: search, table query, AI, checks</a:t>
            </a:r>
            <a:endParaRPr lang="en-US" sz="1166" dirty="0"/>
          </a:p>
        </p:txBody>
      </p:sp>
      <p:sp>
        <p:nvSpPr>
          <p:cNvPr id="19" name="Shape 17"/>
          <p:cNvSpPr/>
          <p:nvPr/>
        </p:nvSpPr>
        <p:spPr>
          <a:xfrm>
            <a:off x="819150" y="4527550"/>
            <a:ext cx="3035300" cy="1003300"/>
          </a:xfrm>
          <a:prstGeom prst="roundRect">
            <a:avLst>
              <a:gd name="adj" fmla="val 9494"/>
            </a:avLst>
          </a:prstGeom>
          <a:solidFill>
            <a:srgbClr val="FDFCF9"/>
          </a:solidFill>
          <a:ln w="12700">
            <a:solidFill>
              <a:srgbClr val="D9D6CC"/>
            </a:solidFill>
            <a:prstDash val="solid"/>
          </a:ln>
        </p:spPr>
      </p:sp>
      <p:sp>
        <p:nvSpPr>
          <p:cNvPr id="20" name="Text 18"/>
          <p:cNvSpPr/>
          <p:nvPr/>
        </p:nvSpPr>
        <p:spPr>
          <a:xfrm>
            <a:off x="1003300" y="4686300"/>
            <a:ext cx="2747010" cy="237034"/>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16182B"/>
                </a:solidFill>
                <a:latin typeface="Space Grotesk" pitchFamily="34" charset="0"/>
                <a:ea typeface="Space Grotesk" pitchFamily="34" charset="-122"/>
                <a:cs typeface="Space Grotesk" pitchFamily="34" charset="-120"/>
              </a:rPr>
              <a:t>Netlify Blobs</a:t>
            </a:r>
            <a:endParaRPr lang="en-US" sz="1396" dirty="0"/>
          </a:p>
        </p:txBody>
      </p:sp>
      <p:sp>
        <p:nvSpPr>
          <p:cNvPr id="21" name="Text 19"/>
          <p:cNvSpPr/>
          <p:nvPr/>
        </p:nvSpPr>
        <p:spPr>
          <a:xfrm>
            <a:off x="1003300" y="4948734"/>
            <a:ext cx="2747010" cy="44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Posts, comments, drafts, replies, the data table and index</a:t>
            </a:r>
            <a:endParaRPr lang="en-US" sz="1200" dirty="0"/>
          </a:p>
        </p:txBody>
      </p:sp>
      <p:sp>
        <p:nvSpPr>
          <p:cNvPr id="22" name="Shape 20"/>
          <p:cNvSpPr/>
          <p:nvPr/>
        </p:nvSpPr>
        <p:spPr>
          <a:xfrm>
            <a:off x="8337550" y="3206750"/>
            <a:ext cx="3035300" cy="1003300"/>
          </a:xfrm>
          <a:prstGeom prst="roundRect">
            <a:avLst>
              <a:gd name="adj" fmla="val 9494"/>
            </a:avLst>
          </a:prstGeom>
          <a:solidFill>
            <a:srgbClr val="FDFCF9"/>
          </a:solidFill>
          <a:ln w="12700">
            <a:solidFill>
              <a:srgbClr val="D9D6CC"/>
            </a:solidFill>
            <a:prstDash val="solid"/>
          </a:ln>
        </p:spPr>
      </p:sp>
      <p:sp>
        <p:nvSpPr>
          <p:cNvPr id="23" name="Text 21"/>
          <p:cNvSpPr/>
          <p:nvPr/>
        </p:nvSpPr>
        <p:spPr>
          <a:xfrm>
            <a:off x="8521700" y="3365500"/>
            <a:ext cx="2747010" cy="237034"/>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16182B"/>
                </a:solidFill>
                <a:latin typeface="Space Grotesk" pitchFamily="34" charset="0"/>
                <a:ea typeface="Space Grotesk" pitchFamily="34" charset="-122"/>
                <a:cs typeface="Space Grotesk" pitchFamily="34" charset="-120"/>
              </a:rPr>
              <a:t>Groq</a:t>
            </a:r>
            <a:endParaRPr lang="en-US" sz="1396" dirty="0"/>
          </a:p>
        </p:txBody>
      </p:sp>
      <p:sp>
        <p:nvSpPr>
          <p:cNvPr id="24" name="Text 22"/>
          <p:cNvSpPr/>
          <p:nvPr/>
        </p:nvSpPr>
        <p:spPr>
          <a:xfrm>
            <a:off x="8521700" y="3627934"/>
            <a:ext cx="2747010" cy="44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openai/gpt-oss-120b reads comments and writes replies</a:t>
            </a:r>
            <a:endParaRPr lang="en-US" sz="1200" dirty="0"/>
          </a:p>
        </p:txBody>
      </p:sp>
      <p:sp>
        <p:nvSpPr>
          <p:cNvPr id="25" name="Shape 23"/>
          <p:cNvSpPr/>
          <p:nvPr/>
        </p:nvSpPr>
        <p:spPr>
          <a:xfrm>
            <a:off x="8337550" y="4527550"/>
            <a:ext cx="3035300" cy="1003300"/>
          </a:xfrm>
          <a:prstGeom prst="roundRect">
            <a:avLst>
              <a:gd name="adj" fmla="val 9494"/>
            </a:avLst>
          </a:prstGeom>
          <a:solidFill>
            <a:srgbClr val="FDFCF9"/>
          </a:solidFill>
          <a:ln w="12700">
            <a:solidFill>
              <a:srgbClr val="D9D6CC"/>
            </a:solidFill>
            <a:prstDash val="solid"/>
          </a:ln>
        </p:spPr>
      </p:sp>
      <p:sp>
        <p:nvSpPr>
          <p:cNvPr id="26" name="Text 24"/>
          <p:cNvSpPr/>
          <p:nvPr/>
        </p:nvSpPr>
        <p:spPr>
          <a:xfrm>
            <a:off x="8521700" y="4686300"/>
            <a:ext cx="2747010" cy="237034"/>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16182B"/>
                </a:solidFill>
                <a:latin typeface="Space Grotesk" pitchFamily="34" charset="0"/>
                <a:ea typeface="Space Grotesk" pitchFamily="34" charset="-122"/>
                <a:cs typeface="Space Grotesk" pitchFamily="34" charset="-120"/>
              </a:rPr>
              <a:t>Jina</a:t>
            </a:r>
            <a:endParaRPr lang="en-US" sz="1396" dirty="0"/>
          </a:p>
        </p:txBody>
      </p:sp>
      <p:sp>
        <p:nvSpPr>
          <p:cNvPr id="27" name="Text 25"/>
          <p:cNvSpPr/>
          <p:nvPr/>
        </p:nvSpPr>
        <p:spPr>
          <a:xfrm>
            <a:off x="8521700" y="4948734"/>
            <a:ext cx="2747010" cy="4487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jina-embeddings-v5-text-small turns names into vectors</a:t>
            </a:r>
            <a:endParaRPr lang="en-US" sz="1200" dirty="0"/>
          </a:p>
        </p:txBody>
      </p:sp>
      <p:pic>
        <p:nvPicPr>
          <p:cNvPr id="28" name="Image 0" descr="connector">    </p:cNvPr>
          <p:cNvPicPr>
            <a:picLocks noChangeAspect="1"/>
          </p:cNvPicPr>
          <p:nvPr/>
        </p:nvPicPr>
        <p:blipFill>
          <a:blip r:embed="rId1"/>
          <a:srcRect l="0" r="0" t="0" b="0"/>
          <a:stretch/>
        </p:blipFill>
        <p:spPr>
          <a:xfrm>
            <a:off x="3810000" y="2336800"/>
            <a:ext cx="812800" cy="101600"/>
          </a:xfrm>
          <a:prstGeom prst="rect">
            <a:avLst/>
          </a:prstGeom>
        </p:spPr>
      </p:pic>
      <p:pic>
        <p:nvPicPr>
          <p:cNvPr id="29" name="Image 1" descr="connector">    </p:cNvPr>
          <p:cNvPicPr>
            <a:picLocks noChangeAspect="1"/>
          </p:cNvPicPr>
          <p:nvPr/>
        </p:nvPicPr>
        <p:blipFill>
          <a:blip r:embed="rId2"/>
          <a:srcRect l="0" r="0" t="0" b="0"/>
          <a:stretch/>
        </p:blipFill>
        <p:spPr>
          <a:xfrm>
            <a:off x="7569200" y="2336800"/>
            <a:ext cx="812800" cy="101600"/>
          </a:xfrm>
          <a:prstGeom prst="rect">
            <a:avLst/>
          </a:prstGeom>
        </p:spPr>
      </p:pic>
      <p:pic>
        <p:nvPicPr>
          <p:cNvPr id="30" name="Image 2" descr="connector">    </p:cNvPr>
          <p:cNvPicPr>
            <a:picLocks noChangeAspect="1"/>
          </p:cNvPicPr>
          <p:nvPr/>
        </p:nvPicPr>
        <p:blipFill>
          <a:blip r:embed="rId3"/>
          <a:srcRect l="0" r="0" t="0" b="0"/>
          <a:stretch/>
        </p:blipFill>
        <p:spPr>
          <a:xfrm>
            <a:off x="6045200" y="2844800"/>
            <a:ext cx="101600" cy="406400"/>
          </a:xfrm>
          <a:prstGeom prst="rect">
            <a:avLst/>
          </a:prstGeom>
        </p:spPr>
      </p:pic>
      <p:pic>
        <p:nvPicPr>
          <p:cNvPr id="31" name="Image 3" descr="connector">    </p:cNvPr>
          <p:cNvPicPr>
            <a:picLocks noChangeAspect="1"/>
          </p:cNvPicPr>
          <p:nvPr/>
        </p:nvPicPr>
        <p:blipFill>
          <a:blip r:embed="rId4"/>
          <a:srcRect l="0" r="0" t="0" b="0"/>
          <a:stretch/>
        </p:blipFill>
        <p:spPr>
          <a:xfrm>
            <a:off x="6045200" y="4165600"/>
            <a:ext cx="101600" cy="406400"/>
          </a:xfrm>
          <a:prstGeom prst="rect">
            <a:avLst/>
          </a:prstGeom>
        </p:spPr>
      </p:pic>
      <p:pic>
        <p:nvPicPr>
          <p:cNvPr id="32" name="Image 4" descr="connector">    </p:cNvPr>
          <p:cNvPicPr>
            <a:picLocks noChangeAspect="1"/>
          </p:cNvPicPr>
          <p:nvPr/>
        </p:nvPicPr>
        <p:blipFill>
          <a:blip r:embed="rId5"/>
          <a:srcRect l="0" r="0" t="0" b="0"/>
          <a:stretch/>
        </p:blipFill>
        <p:spPr>
          <a:xfrm>
            <a:off x="4902200" y="2844800"/>
            <a:ext cx="101600" cy="254000"/>
          </a:xfrm>
          <a:prstGeom prst="rect">
            <a:avLst/>
          </a:prstGeom>
        </p:spPr>
      </p:pic>
      <p:pic>
        <p:nvPicPr>
          <p:cNvPr id="33" name="Image 5" descr="connector">    </p:cNvPr>
          <p:cNvPicPr>
            <a:picLocks noChangeAspect="1"/>
          </p:cNvPicPr>
          <p:nvPr/>
        </p:nvPicPr>
        <p:blipFill>
          <a:blip r:embed="rId6"/>
          <a:srcRect l="0" r="0" t="0" b="0"/>
          <a:stretch/>
        </p:blipFill>
        <p:spPr>
          <a:xfrm>
            <a:off x="2286000" y="2997200"/>
            <a:ext cx="2717800" cy="101600"/>
          </a:xfrm>
          <a:prstGeom prst="rect">
            <a:avLst/>
          </a:prstGeom>
        </p:spPr>
      </p:pic>
      <p:pic>
        <p:nvPicPr>
          <p:cNvPr id="34" name="Image 6" descr="connector">    </p:cNvPr>
          <p:cNvPicPr>
            <a:picLocks noChangeAspect="1"/>
          </p:cNvPicPr>
          <p:nvPr/>
        </p:nvPicPr>
        <p:blipFill>
          <a:blip r:embed="rId7"/>
          <a:srcRect l="0" r="0" t="0" b="0"/>
          <a:stretch/>
        </p:blipFill>
        <p:spPr>
          <a:xfrm>
            <a:off x="2286000" y="2997200"/>
            <a:ext cx="101600" cy="1574800"/>
          </a:xfrm>
          <a:prstGeom prst="rect">
            <a:avLst/>
          </a:prstGeom>
        </p:spPr>
      </p:pic>
      <p:pic>
        <p:nvPicPr>
          <p:cNvPr id="35" name="Image 7" descr="connector">    </p:cNvPr>
          <p:cNvPicPr>
            <a:picLocks noChangeAspect="1"/>
          </p:cNvPicPr>
          <p:nvPr/>
        </p:nvPicPr>
        <p:blipFill>
          <a:blip r:embed="rId8"/>
          <a:srcRect l="0" r="0" t="0" b="0"/>
          <a:stretch/>
        </p:blipFill>
        <p:spPr>
          <a:xfrm>
            <a:off x="3810000" y="4978400"/>
            <a:ext cx="812800" cy="101600"/>
          </a:xfrm>
          <a:prstGeom prst="rect">
            <a:avLst/>
          </a:prstGeom>
        </p:spPr>
      </p:pic>
      <p:pic>
        <p:nvPicPr>
          <p:cNvPr id="36" name="Image 8" descr="connector">    </p:cNvPr>
          <p:cNvPicPr>
            <a:picLocks noChangeAspect="1"/>
          </p:cNvPicPr>
          <p:nvPr/>
        </p:nvPicPr>
        <p:blipFill>
          <a:blip r:embed="rId9"/>
          <a:srcRect l="0" r="0" t="0" b="0"/>
          <a:stretch/>
        </p:blipFill>
        <p:spPr>
          <a:xfrm>
            <a:off x="7569200" y="4711700"/>
            <a:ext cx="457200" cy="101600"/>
          </a:xfrm>
          <a:prstGeom prst="rect">
            <a:avLst/>
          </a:prstGeom>
        </p:spPr>
      </p:pic>
      <p:pic>
        <p:nvPicPr>
          <p:cNvPr id="37" name="Image 9" descr="connector">    </p:cNvPr>
          <p:cNvPicPr>
            <a:picLocks noChangeAspect="1"/>
          </p:cNvPicPr>
          <p:nvPr/>
        </p:nvPicPr>
        <p:blipFill>
          <a:blip r:embed="rId10"/>
          <a:srcRect l="0" r="0" t="0" b="0"/>
          <a:stretch/>
        </p:blipFill>
        <p:spPr>
          <a:xfrm>
            <a:off x="7924800" y="3657600"/>
            <a:ext cx="101600" cy="1155700"/>
          </a:xfrm>
          <a:prstGeom prst="rect">
            <a:avLst/>
          </a:prstGeom>
        </p:spPr>
      </p:pic>
      <p:pic>
        <p:nvPicPr>
          <p:cNvPr id="38" name="Image 10" descr="connector">    </p:cNvPr>
          <p:cNvPicPr>
            <a:picLocks noChangeAspect="1"/>
          </p:cNvPicPr>
          <p:nvPr/>
        </p:nvPicPr>
        <p:blipFill>
          <a:blip r:embed="rId11"/>
          <a:srcRect l="0" r="0" t="0" b="0"/>
          <a:stretch/>
        </p:blipFill>
        <p:spPr>
          <a:xfrm>
            <a:off x="7924800" y="3657600"/>
            <a:ext cx="457200" cy="101600"/>
          </a:xfrm>
          <a:prstGeom prst="rect">
            <a:avLst/>
          </a:prstGeom>
        </p:spPr>
      </p:pic>
      <p:pic>
        <p:nvPicPr>
          <p:cNvPr id="39" name="Image 11" descr="connector">    </p:cNvPr>
          <p:cNvPicPr>
            <a:picLocks noChangeAspect="1"/>
          </p:cNvPicPr>
          <p:nvPr/>
        </p:nvPicPr>
        <p:blipFill>
          <a:blip r:embed="rId12"/>
          <a:srcRect l="0" r="0" t="0" b="0"/>
          <a:stretch/>
        </p:blipFill>
        <p:spPr>
          <a:xfrm>
            <a:off x="7569200" y="4978400"/>
            <a:ext cx="812800" cy="101600"/>
          </a:xfrm>
          <a:prstGeom prst="rect">
            <a:avLst/>
          </a:prstGeom>
        </p:spPr>
      </p:pic>
      <p:sp>
        <p:nvSpPr>
          <p:cNvPr id="40" name="Text 26"/>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41" name="Text 27"/>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04 / 22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PATH 1 OF 3 · THE DATA GOES IN</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From a CSV to a searchable index in eight steps</a:t>
            </a:r>
            <a:endParaRPr lang="en-US" sz="3200" dirty="0"/>
          </a:p>
        </p:txBody>
      </p:sp>
      <p:sp>
        <p:nvSpPr>
          <p:cNvPr id="4" name="Text 2"/>
          <p:cNvSpPr/>
          <p:nvPr/>
        </p:nvSpPr>
        <p:spPr>
          <a:xfrm>
            <a:off x="7978140" y="812800"/>
            <a:ext cx="3401060" cy="238720"/>
          </a:xfrm>
          <a:prstGeom prst="rect">
            <a:avLst/>
          </a:prstGeom>
          <a:noFill/>
          <a:ln/>
        </p:spPr>
        <p:txBody>
          <a:bodyPr wrap="square" lIns="0" tIns="0" rIns="0" bIns="0" rtlCol="0" anchor="t">
            <a:normAutofit/>
          </a:bodyPr>
          <a:lstStyle/>
          <a:p>
            <a:pPr algn="r" indent="0" marL="0">
              <a:lnSpc>
                <a:spcPts val="1680"/>
              </a:lnSpc>
              <a:buNone/>
            </a:pPr>
            <a:r>
              <a:rPr lang="en-US" sz="1200" u="sng" dirty="0">
                <a:solidFill>
                  <a:srgbClr val="4C3FD1"/>
                </a:solidFill>
                <a:latin typeface="JetBrains Mono" pitchFamily="49" charset="0"/>
                <a:ea typeface="JetBrains Mono" pitchFamily="49" charset="-122"/>
                <a:cs typeface="JetBrains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Open it in the explorer ↗</a:t>
            </a:r>
            <a:endParaRPr lang="en-US" sz="1200" dirty="0"/>
          </a:p>
        </p:txBody>
      </p:sp>
      <p:sp>
        <p:nvSpPr>
          <p:cNvPr id="5" name="Shape 3"/>
          <p:cNvSpPr/>
          <p:nvPr/>
        </p:nvSpPr>
        <p:spPr>
          <a:xfrm>
            <a:off x="819150" y="1885950"/>
            <a:ext cx="2324100" cy="1511300"/>
          </a:xfrm>
          <a:prstGeom prst="roundRect">
            <a:avLst>
              <a:gd name="adj" fmla="val 6303"/>
            </a:avLst>
          </a:prstGeom>
          <a:solidFill>
            <a:srgbClr val="FDFCF9"/>
          </a:solidFill>
          <a:ln w="12700">
            <a:solidFill>
              <a:srgbClr val="D9D6CC"/>
            </a:solidFill>
            <a:prstDash val="solid"/>
          </a:ln>
        </p:spPr>
      </p:sp>
      <p:sp>
        <p:nvSpPr>
          <p:cNvPr id="6" name="Text 4"/>
          <p:cNvSpPr/>
          <p:nvPr/>
        </p:nvSpPr>
        <p:spPr>
          <a:xfrm>
            <a:off x="977900" y="2044700"/>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01</a:t>
            </a:r>
            <a:endParaRPr lang="en-US" sz="1200" dirty="0"/>
          </a:p>
        </p:txBody>
      </p:sp>
      <p:sp>
        <p:nvSpPr>
          <p:cNvPr id="7" name="Text 5"/>
          <p:cNvSpPr/>
          <p:nvPr/>
        </p:nvSpPr>
        <p:spPr>
          <a:xfrm>
            <a:off x="977900" y="2308820"/>
            <a:ext cx="206679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Upload the file</a:t>
            </a:r>
            <a:endParaRPr lang="en-US" sz="1400" dirty="0"/>
          </a:p>
        </p:txBody>
      </p:sp>
      <p:sp>
        <p:nvSpPr>
          <p:cNvPr id="8" name="Text 6"/>
          <p:cNvSpPr/>
          <p:nvPr/>
        </p:nvSpPr>
        <p:spPr>
          <a:xfrm>
            <a:off x="977900" y="2572941"/>
            <a:ext cx="206679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Data page, or the built-in sample: 936 rows, 40 shops, 27 products</a:t>
            </a:r>
            <a:endParaRPr lang="en-US" sz="1200" dirty="0"/>
          </a:p>
        </p:txBody>
      </p:sp>
      <p:sp>
        <p:nvSpPr>
          <p:cNvPr id="9" name="Shape 7"/>
          <p:cNvSpPr/>
          <p:nvPr/>
        </p:nvSpPr>
        <p:spPr>
          <a:xfrm>
            <a:off x="3562350" y="1885950"/>
            <a:ext cx="2324100" cy="1511300"/>
          </a:xfrm>
          <a:prstGeom prst="roundRect">
            <a:avLst>
              <a:gd name="adj" fmla="val 6303"/>
            </a:avLst>
          </a:prstGeom>
          <a:solidFill>
            <a:srgbClr val="FDFCF9"/>
          </a:solidFill>
          <a:ln w="12700">
            <a:solidFill>
              <a:srgbClr val="D9D6CC"/>
            </a:solidFill>
            <a:prstDash val="solid"/>
          </a:ln>
        </p:spPr>
      </p:sp>
      <p:sp>
        <p:nvSpPr>
          <p:cNvPr id="10" name="Text 8"/>
          <p:cNvSpPr/>
          <p:nvPr/>
        </p:nvSpPr>
        <p:spPr>
          <a:xfrm>
            <a:off x="3721100" y="2044700"/>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02</a:t>
            </a:r>
            <a:endParaRPr lang="en-US" sz="1200" dirty="0"/>
          </a:p>
        </p:txBody>
      </p:sp>
      <p:sp>
        <p:nvSpPr>
          <p:cNvPr id="11" name="Text 9"/>
          <p:cNvSpPr/>
          <p:nvPr/>
        </p:nvSpPr>
        <p:spPr>
          <a:xfrm>
            <a:off x="3721100" y="2308820"/>
            <a:ext cx="206679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Map the columns</a:t>
            </a:r>
            <a:endParaRPr lang="en-US" sz="1400" dirty="0"/>
          </a:p>
        </p:txBody>
      </p:sp>
      <p:sp>
        <p:nvSpPr>
          <p:cNvPr id="12" name="Text 10"/>
          <p:cNvSpPr/>
          <p:nvPr/>
        </p:nvSpPr>
        <p:spPr>
          <a:xfrm>
            <a:off x="3721100" y="2572941"/>
            <a:ext cx="206679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Finds store, product, area, city, date and status, also by synonym</a:t>
            </a:r>
            <a:endParaRPr lang="en-US" sz="1200" dirty="0"/>
          </a:p>
        </p:txBody>
      </p:sp>
      <p:sp>
        <p:nvSpPr>
          <p:cNvPr id="13" name="Shape 11"/>
          <p:cNvSpPr/>
          <p:nvPr/>
        </p:nvSpPr>
        <p:spPr>
          <a:xfrm>
            <a:off x="6305550" y="1885950"/>
            <a:ext cx="2324100" cy="1511300"/>
          </a:xfrm>
          <a:prstGeom prst="roundRect">
            <a:avLst>
              <a:gd name="adj" fmla="val 6303"/>
            </a:avLst>
          </a:prstGeom>
          <a:solidFill>
            <a:srgbClr val="FDFCF9"/>
          </a:solidFill>
          <a:ln w="12700">
            <a:solidFill>
              <a:srgbClr val="D9D6CC"/>
            </a:solidFill>
            <a:prstDash val="solid"/>
          </a:ln>
        </p:spPr>
      </p:sp>
      <p:sp>
        <p:nvSpPr>
          <p:cNvPr id="14" name="Text 12"/>
          <p:cNvSpPr/>
          <p:nvPr/>
        </p:nvSpPr>
        <p:spPr>
          <a:xfrm>
            <a:off x="6464300" y="2044700"/>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03</a:t>
            </a:r>
            <a:endParaRPr lang="en-US" sz="1200" dirty="0"/>
          </a:p>
        </p:txBody>
      </p:sp>
      <p:sp>
        <p:nvSpPr>
          <p:cNvPr id="15" name="Text 13"/>
          <p:cNvSpPr/>
          <p:nvPr/>
        </p:nvSpPr>
        <p:spPr>
          <a:xfrm>
            <a:off x="6464300" y="2308820"/>
            <a:ext cx="206679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Clean each row</a:t>
            </a:r>
            <a:endParaRPr lang="en-US" sz="1400" dirty="0"/>
          </a:p>
        </p:txBody>
      </p:sp>
      <p:sp>
        <p:nvSpPr>
          <p:cNvPr id="16" name="Text 14"/>
          <p:cNvSpPr/>
          <p:nvPr/>
        </p:nvSpPr>
        <p:spPr>
          <a:xfrm>
            <a:off x="6464300" y="2572941"/>
            <a:ext cx="206679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19/08/2026 read as 19 August; status or quantity → in, low or out</a:t>
            </a:r>
            <a:endParaRPr lang="en-US" sz="1200" dirty="0"/>
          </a:p>
        </p:txBody>
      </p:sp>
      <p:sp>
        <p:nvSpPr>
          <p:cNvPr id="17" name="Shape 15"/>
          <p:cNvSpPr/>
          <p:nvPr/>
        </p:nvSpPr>
        <p:spPr>
          <a:xfrm>
            <a:off x="9048750" y="1885950"/>
            <a:ext cx="2324100" cy="1511300"/>
          </a:xfrm>
          <a:prstGeom prst="roundRect">
            <a:avLst>
              <a:gd name="adj" fmla="val 6303"/>
            </a:avLst>
          </a:prstGeom>
          <a:solidFill>
            <a:srgbClr val="FDFCF9"/>
          </a:solidFill>
          <a:ln w="12700">
            <a:solidFill>
              <a:srgbClr val="D9D6CC"/>
            </a:solidFill>
            <a:prstDash val="solid"/>
          </a:ln>
        </p:spPr>
      </p:sp>
      <p:sp>
        <p:nvSpPr>
          <p:cNvPr id="18" name="Text 16"/>
          <p:cNvSpPr/>
          <p:nvPr/>
        </p:nvSpPr>
        <p:spPr>
          <a:xfrm>
            <a:off x="9207500" y="2044700"/>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04</a:t>
            </a:r>
            <a:endParaRPr lang="en-US" sz="1200" dirty="0"/>
          </a:p>
        </p:txBody>
      </p:sp>
      <p:sp>
        <p:nvSpPr>
          <p:cNvPr id="19" name="Text 17"/>
          <p:cNvSpPr/>
          <p:nvPr/>
        </p:nvSpPr>
        <p:spPr>
          <a:xfrm>
            <a:off x="9207500" y="2308820"/>
            <a:ext cx="206679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Keep the latest visit</a:t>
            </a:r>
            <a:endParaRPr lang="en-US" sz="1400" dirty="0"/>
          </a:p>
        </p:txBody>
      </p:sp>
      <p:sp>
        <p:nvSpPr>
          <p:cNvPr id="20" name="Text 18"/>
          <p:cNvSpPr/>
          <p:nvPr/>
        </p:nvSpPr>
        <p:spPr>
          <a:xfrm>
            <a:off x="9207500" y="2572941"/>
            <a:ext cx="20667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One row per shop and SKU; the newest visit date wins</a:t>
            </a:r>
            <a:endParaRPr lang="en-US" sz="1200" dirty="0"/>
          </a:p>
        </p:txBody>
      </p:sp>
      <p:sp>
        <p:nvSpPr>
          <p:cNvPr id="21" name="Shape 19"/>
          <p:cNvSpPr/>
          <p:nvPr/>
        </p:nvSpPr>
        <p:spPr>
          <a:xfrm>
            <a:off x="9048750" y="3917950"/>
            <a:ext cx="2324100" cy="1511300"/>
          </a:xfrm>
          <a:prstGeom prst="roundRect">
            <a:avLst>
              <a:gd name="adj" fmla="val 6303"/>
            </a:avLst>
          </a:prstGeom>
          <a:solidFill>
            <a:srgbClr val="FDFCF9"/>
          </a:solidFill>
          <a:ln w="12700">
            <a:solidFill>
              <a:srgbClr val="D9D6CC"/>
            </a:solidFill>
            <a:prstDash val="solid"/>
          </a:ln>
        </p:spPr>
      </p:sp>
      <p:sp>
        <p:nvSpPr>
          <p:cNvPr id="22" name="Text 20"/>
          <p:cNvSpPr/>
          <p:nvPr/>
        </p:nvSpPr>
        <p:spPr>
          <a:xfrm>
            <a:off x="9207500" y="4076700"/>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05</a:t>
            </a:r>
            <a:endParaRPr lang="en-US" sz="1200" dirty="0"/>
          </a:p>
        </p:txBody>
      </p:sp>
      <p:sp>
        <p:nvSpPr>
          <p:cNvPr id="23" name="Text 21"/>
          <p:cNvSpPr/>
          <p:nvPr/>
        </p:nvSpPr>
        <p:spPr>
          <a:xfrm>
            <a:off x="9207500" y="4340820"/>
            <a:ext cx="206679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Build the catalog</a:t>
            </a:r>
            <a:endParaRPr lang="en-US" sz="1400" dirty="0"/>
          </a:p>
        </p:txBody>
      </p:sp>
      <p:sp>
        <p:nvSpPr>
          <p:cNvPr id="24" name="Text 22"/>
          <p:cNvSpPr/>
          <p:nvPr/>
        </p:nvSpPr>
        <p:spPr>
          <a:xfrm>
            <a:off x="9207500" y="4604941"/>
            <a:ext cx="206679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129 entries: products, shops, areas, cities, categories, regions</a:t>
            </a:r>
            <a:endParaRPr lang="en-US" sz="1200" dirty="0"/>
          </a:p>
        </p:txBody>
      </p:sp>
      <p:sp>
        <p:nvSpPr>
          <p:cNvPr id="25" name="Shape 23"/>
          <p:cNvSpPr/>
          <p:nvPr/>
        </p:nvSpPr>
        <p:spPr>
          <a:xfrm>
            <a:off x="6305550" y="3917950"/>
            <a:ext cx="2324100" cy="1511300"/>
          </a:xfrm>
          <a:prstGeom prst="roundRect">
            <a:avLst>
              <a:gd name="adj" fmla="val 6303"/>
            </a:avLst>
          </a:prstGeom>
          <a:solidFill>
            <a:srgbClr val="FDFCF9"/>
          </a:solidFill>
          <a:ln w="12700">
            <a:solidFill>
              <a:srgbClr val="D9D6CC"/>
            </a:solidFill>
            <a:prstDash val="solid"/>
          </a:ln>
        </p:spPr>
      </p:sp>
      <p:sp>
        <p:nvSpPr>
          <p:cNvPr id="26" name="Text 24"/>
          <p:cNvSpPr/>
          <p:nvPr/>
        </p:nvSpPr>
        <p:spPr>
          <a:xfrm>
            <a:off x="6464300" y="4076700"/>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06</a:t>
            </a:r>
            <a:endParaRPr lang="en-US" sz="1200" dirty="0"/>
          </a:p>
        </p:txBody>
      </p:sp>
      <p:sp>
        <p:nvSpPr>
          <p:cNvPr id="27" name="Text 25"/>
          <p:cNvSpPr/>
          <p:nvPr/>
        </p:nvSpPr>
        <p:spPr>
          <a:xfrm>
            <a:off x="6464300" y="4340820"/>
            <a:ext cx="206679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Write every name</a:t>
            </a:r>
            <a:endParaRPr lang="en-US" sz="1400" dirty="0"/>
          </a:p>
        </p:txBody>
      </p:sp>
      <p:sp>
        <p:nvSpPr>
          <p:cNvPr id="28" name="Text 26"/>
          <p:cNvSpPr/>
          <p:nvPr/>
        </p:nvSpPr>
        <p:spPr>
          <a:xfrm>
            <a:off x="6464300" y="4604941"/>
            <a:ext cx="206679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436 names in Arabic and English, normalized, filler words removed</a:t>
            </a:r>
            <a:endParaRPr lang="en-US" sz="1200" dirty="0"/>
          </a:p>
        </p:txBody>
      </p:sp>
      <p:sp>
        <p:nvSpPr>
          <p:cNvPr id="29" name="Shape 27"/>
          <p:cNvSpPr/>
          <p:nvPr/>
        </p:nvSpPr>
        <p:spPr>
          <a:xfrm>
            <a:off x="3565525" y="3921125"/>
            <a:ext cx="2317750" cy="1504950"/>
          </a:xfrm>
          <a:prstGeom prst="roundRect">
            <a:avLst>
              <a:gd name="adj" fmla="val 6118"/>
            </a:avLst>
          </a:prstGeom>
          <a:solidFill>
            <a:srgbClr val="E4E1FA"/>
          </a:solidFill>
          <a:ln w="19050">
            <a:solidFill>
              <a:srgbClr val="4C3FD1"/>
            </a:solidFill>
            <a:prstDash val="solid"/>
          </a:ln>
        </p:spPr>
      </p:sp>
      <p:sp>
        <p:nvSpPr>
          <p:cNvPr id="30" name="Text 28"/>
          <p:cNvSpPr/>
          <p:nvPr/>
        </p:nvSpPr>
        <p:spPr>
          <a:xfrm>
            <a:off x="3727450" y="4083050"/>
            <a:ext cx="20537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07</a:t>
            </a:r>
            <a:endParaRPr lang="en-US" sz="1200" dirty="0"/>
          </a:p>
        </p:txBody>
      </p:sp>
      <p:sp>
        <p:nvSpPr>
          <p:cNvPr id="31" name="Text 29"/>
          <p:cNvSpPr/>
          <p:nvPr/>
        </p:nvSpPr>
        <p:spPr>
          <a:xfrm>
            <a:off x="3727450" y="4347170"/>
            <a:ext cx="205371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Index three ways</a:t>
            </a:r>
            <a:endParaRPr lang="en-US" sz="1400" dirty="0"/>
          </a:p>
        </p:txBody>
      </p:sp>
      <p:sp>
        <p:nvSpPr>
          <p:cNvPr id="32" name="Text 30"/>
          <p:cNvSpPr/>
          <p:nvPr/>
        </p:nvSpPr>
        <p:spPr>
          <a:xfrm>
            <a:off x="3727450" y="4611291"/>
            <a:ext cx="205371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BM25 words · character vectors · Jina vectors (256 numbers)</a:t>
            </a:r>
            <a:endParaRPr lang="en-US" sz="1200" dirty="0"/>
          </a:p>
        </p:txBody>
      </p:sp>
      <p:sp>
        <p:nvSpPr>
          <p:cNvPr id="33" name="Shape 31"/>
          <p:cNvSpPr/>
          <p:nvPr/>
        </p:nvSpPr>
        <p:spPr>
          <a:xfrm>
            <a:off x="819150" y="3917950"/>
            <a:ext cx="2324100" cy="1511300"/>
          </a:xfrm>
          <a:prstGeom prst="roundRect">
            <a:avLst>
              <a:gd name="adj" fmla="val 6303"/>
            </a:avLst>
          </a:prstGeom>
          <a:solidFill>
            <a:srgbClr val="FDFCF9"/>
          </a:solidFill>
          <a:ln w="12700">
            <a:solidFill>
              <a:srgbClr val="D9D6CC"/>
            </a:solidFill>
            <a:prstDash val="solid"/>
          </a:ln>
        </p:spPr>
      </p:sp>
      <p:sp>
        <p:nvSpPr>
          <p:cNvPr id="34" name="Text 32"/>
          <p:cNvSpPr/>
          <p:nvPr/>
        </p:nvSpPr>
        <p:spPr>
          <a:xfrm>
            <a:off x="977900" y="4076700"/>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08</a:t>
            </a:r>
            <a:endParaRPr lang="en-US" sz="1200" dirty="0"/>
          </a:p>
        </p:txBody>
      </p:sp>
      <p:sp>
        <p:nvSpPr>
          <p:cNvPr id="35" name="Text 33"/>
          <p:cNvSpPr/>
          <p:nvPr/>
        </p:nvSpPr>
        <p:spPr>
          <a:xfrm>
            <a:off x="977900" y="4340820"/>
            <a:ext cx="206679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Save it</a:t>
            </a:r>
            <a:endParaRPr lang="en-US" sz="1400" dirty="0"/>
          </a:p>
        </p:txBody>
      </p:sp>
      <p:sp>
        <p:nvSpPr>
          <p:cNvPr id="36" name="Text 34"/>
          <p:cNvSpPr/>
          <p:nvPr/>
        </p:nvSpPr>
        <p:spPr>
          <a:xfrm>
            <a:off x="977900" y="4604941"/>
            <a:ext cx="206679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Table, catalog and index in Netlify Blobs; Jina vectors as base64</a:t>
            </a:r>
            <a:endParaRPr lang="en-US" sz="1200" dirty="0"/>
          </a:p>
        </p:txBody>
      </p:sp>
      <p:pic>
        <p:nvPicPr>
          <p:cNvPr id="37" name="Image 0" descr="connector">    </p:cNvPr>
          <p:cNvPicPr>
            <a:picLocks noChangeAspect="1"/>
          </p:cNvPicPr>
          <p:nvPr/>
        </p:nvPicPr>
        <p:blipFill>
          <a:blip r:embed="rId2"/>
          <a:srcRect l="0" r="0" t="0" b="0"/>
          <a:stretch/>
        </p:blipFill>
        <p:spPr>
          <a:xfrm>
            <a:off x="3098800" y="2590800"/>
            <a:ext cx="508000" cy="101600"/>
          </a:xfrm>
          <a:prstGeom prst="rect">
            <a:avLst/>
          </a:prstGeom>
        </p:spPr>
      </p:pic>
      <p:pic>
        <p:nvPicPr>
          <p:cNvPr id="38" name="Image 1" descr="connector">    </p:cNvPr>
          <p:cNvPicPr>
            <a:picLocks noChangeAspect="1"/>
          </p:cNvPicPr>
          <p:nvPr/>
        </p:nvPicPr>
        <p:blipFill>
          <a:blip r:embed="rId3"/>
          <a:srcRect l="0" r="0" t="0" b="0"/>
          <a:stretch/>
        </p:blipFill>
        <p:spPr>
          <a:xfrm>
            <a:off x="5842000" y="2590800"/>
            <a:ext cx="508000" cy="101600"/>
          </a:xfrm>
          <a:prstGeom prst="rect">
            <a:avLst/>
          </a:prstGeom>
        </p:spPr>
      </p:pic>
      <p:pic>
        <p:nvPicPr>
          <p:cNvPr id="39" name="Image 2" descr="connector">    </p:cNvPr>
          <p:cNvPicPr>
            <a:picLocks noChangeAspect="1"/>
          </p:cNvPicPr>
          <p:nvPr/>
        </p:nvPicPr>
        <p:blipFill>
          <a:blip r:embed="rId4"/>
          <a:srcRect l="0" r="0" t="0" b="0"/>
          <a:stretch/>
        </p:blipFill>
        <p:spPr>
          <a:xfrm>
            <a:off x="8585200" y="2590800"/>
            <a:ext cx="508000" cy="101600"/>
          </a:xfrm>
          <a:prstGeom prst="rect">
            <a:avLst/>
          </a:prstGeom>
        </p:spPr>
      </p:pic>
      <p:pic>
        <p:nvPicPr>
          <p:cNvPr id="40" name="Image 3" descr="connector">    </p:cNvPr>
          <p:cNvPicPr>
            <a:picLocks noChangeAspect="1"/>
          </p:cNvPicPr>
          <p:nvPr/>
        </p:nvPicPr>
        <p:blipFill>
          <a:blip r:embed="rId5"/>
          <a:srcRect l="0" r="0" t="0" b="0"/>
          <a:stretch/>
        </p:blipFill>
        <p:spPr>
          <a:xfrm>
            <a:off x="10160000" y="3352800"/>
            <a:ext cx="101600" cy="609600"/>
          </a:xfrm>
          <a:prstGeom prst="rect">
            <a:avLst/>
          </a:prstGeom>
        </p:spPr>
      </p:pic>
      <p:pic>
        <p:nvPicPr>
          <p:cNvPr id="41" name="Image 4" descr="connector">    </p:cNvPr>
          <p:cNvPicPr>
            <a:picLocks noChangeAspect="1"/>
          </p:cNvPicPr>
          <p:nvPr/>
        </p:nvPicPr>
        <p:blipFill>
          <a:blip r:embed="rId6"/>
          <a:srcRect l="0" r="0" t="0" b="0"/>
          <a:stretch/>
        </p:blipFill>
        <p:spPr>
          <a:xfrm>
            <a:off x="8585200" y="4622800"/>
            <a:ext cx="508000" cy="101600"/>
          </a:xfrm>
          <a:prstGeom prst="rect">
            <a:avLst/>
          </a:prstGeom>
        </p:spPr>
      </p:pic>
      <p:pic>
        <p:nvPicPr>
          <p:cNvPr id="42" name="Image 5" descr="connector">    </p:cNvPr>
          <p:cNvPicPr>
            <a:picLocks noChangeAspect="1"/>
          </p:cNvPicPr>
          <p:nvPr/>
        </p:nvPicPr>
        <p:blipFill>
          <a:blip r:embed="rId7"/>
          <a:srcRect l="0" r="0" t="0" b="0"/>
          <a:stretch/>
        </p:blipFill>
        <p:spPr>
          <a:xfrm>
            <a:off x="5842000" y="4622800"/>
            <a:ext cx="508000" cy="101600"/>
          </a:xfrm>
          <a:prstGeom prst="rect">
            <a:avLst/>
          </a:prstGeom>
        </p:spPr>
      </p:pic>
      <p:pic>
        <p:nvPicPr>
          <p:cNvPr id="43" name="Image 6" descr="connector">    </p:cNvPr>
          <p:cNvPicPr>
            <a:picLocks noChangeAspect="1"/>
          </p:cNvPicPr>
          <p:nvPr/>
        </p:nvPicPr>
        <p:blipFill>
          <a:blip r:embed="rId8"/>
          <a:srcRect l="0" r="0" t="0" b="0"/>
          <a:stretch/>
        </p:blipFill>
        <p:spPr>
          <a:xfrm>
            <a:off x="3098800" y="4622800"/>
            <a:ext cx="508000" cy="101600"/>
          </a:xfrm>
          <a:prstGeom prst="rect">
            <a:avLst/>
          </a:prstGeom>
        </p:spPr>
      </p:pic>
      <p:sp>
        <p:nvSpPr>
          <p:cNvPr id="44" name="Text 35"/>
          <p:cNvSpPr/>
          <p:nvPr/>
        </p:nvSpPr>
        <p:spPr>
          <a:xfrm>
            <a:off x="812800" y="5562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Runs on every upload and on “Rebuild index”. A Jina key added later rebuilds the vectors on its own.</a:t>
            </a:r>
            <a:endParaRPr lang="en-US" sz="1200" dirty="0"/>
          </a:p>
        </p:txBody>
      </p:sp>
      <p:sp>
        <p:nvSpPr>
          <p:cNvPr id="45" name="Text 36"/>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46" name="Text 37"/>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05 / 22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PATH 1 OF 3 · STEP 07 UP CLOSE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Every name is indexed three ways</a:t>
            </a:r>
            <a:endParaRPr lang="en-US" sz="3200" dirty="0"/>
          </a:p>
        </p:txBody>
      </p:sp>
      <p:sp>
        <p:nvSpPr>
          <p:cNvPr id="4" name="Shape 2"/>
          <p:cNvSpPr/>
          <p:nvPr/>
        </p:nvSpPr>
        <p:spPr>
          <a:xfrm>
            <a:off x="812800" y="1879600"/>
            <a:ext cx="3302000" cy="3423444"/>
          </a:xfrm>
          <a:prstGeom prst="roundRect">
            <a:avLst>
              <a:gd name="adj" fmla="val 3077"/>
            </a:avLst>
          </a:prstGeom>
          <a:solidFill>
            <a:srgbClr val="16182B"/>
          </a:solidFill>
          <a:ln/>
        </p:spPr>
      </p:sp>
      <p:sp>
        <p:nvSpPr>
          <p:cNvPr id="5" name="Text 3"/>
          <p:cNvSpPr/>
          <p:nvPr/>
        </p:nvSpPr>
        <p:spPr>
          <a:xfrm>
            <a:off x="1016000" y="2082800"/>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9FF5"/>
                </a:solidFill>
                <a:latin typeface="JetBrains Mono" pitchFamily="49" charset="0"/>
                <a:ea typeface="JetBrains Mono" pitchFamily="49" charset="-122"/>
                <a:cs typeface="JetBrains Mono" pitchFamily="49" charset="-120"/>
              </a:rPr>
              <a:t>ONE CATALOG ENTRY</a:t>
            </a:r>
            <a:endParaRPr lang="en-US" sz="1200" dirty="0"/>
          </a:p>
        </p:txBody>
      </p:sp>
      <p:sp>
        <p:nvSpPr>
          <p:cNvPr id="6" name="Text 4"/>
          <p:cNvSpPr/>
          <p:nvPr/>
        </p:nvSpPr>
        <p:spPr>
          <a:xfrm>
            <a:off x="1016000" y="2372320"/>
            <a:ext cx="2982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E0"/>
                </a:solidFill>
                <a:latin typeface="JetBrains Mono" pitchFamily="49" charset="0"/>
                <a:ea typeface="JetBrains Mono" pitchFamily="49" charset="-122"/>
                <a:cs typeface="JetBrains Mono" pitchFamily="49" charset="-120"/>
              </a:rPr>
              <a:t>product:olive oil extra virgin</a:t>
            </a:r>
            <a:endParaRPr lang="en-US" sz="1200" dirty="0"/>
          </a:p>
        </p:txBody>
      </p:sp>
      <p:sp>
        <p:nvSpPr>
          <p:cNvPr id="7" name="Text 5"/>
          <p:cNvSpPr/>
          <p:nvPr/>
        </p:nvSpPr>
        <p:spPr>
          <a:xfrm>
            <a:off x="1016000" y="2661841"/>
            <a:ext cx="298246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Space Grotesk" pitchFamily="34" charset="0"/>
                <a:ea typeface="Space Grotesk" pitchFamily="34" charset="-122"/>
                <a:cs typeface="Space Grotesk" pitchFamily="34" charset="-120"/>
              </a:rPr>
              <a:t>Olive Oil Extra Virgin</a:t>
            </a:r>
            <a:endParaRPr lang="en-US" sz="1400" dirty="0"/>
          </a:p>
        </p:txBody>
      </p:sp>
      <p:sp>
        <p:nvSpPr>
          <p:cNvPr id="8" name="Text 6"/>
          <p:cNvSpPr/>
          <p:nvPr/>
        </p:nvSpPr>
        <p:spPr>
          <a:xfrm>
            <a:off x="1016000" y="2986881"/>
            <a:ext cx="298246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1"/>
                </a:solidFill>
                <a:latin typeface="IBM Plex Sans" pitchFamily="34" charset="0"/>
                <a:ea typeface="IBM Plex Sans" pitchFamily="34" charset="-122"/>
                <a:cs typeface="IBM Plex Sans" pitchFamily="34" charset="-120"/>
              </a:rPr>
              <a:t>زيت زيتون بكر ممتاز</a:t>
            </a:r>
            <a:endParaRPr lang="en-US" sz="1400" dirty="0"/>
          </a:p>
        </p:txBody>
      </p:sp>
      <p:sp>
        <p:nvSpPr>
          <p:cNvPr id="9" name="Text 7"/>
          <p:cNvSpPr/>
          <p:nvPr/>
        </p:nvSpPr>
        <p:spPr>
          <a:xfrm>
            <a:off x="1016000" y="3311922"/>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9FF5"/>
                </a:solidFill>
                <a:latin typeface="JetBrains Mono" pitchFamily="49" charset="0"/>
                <a:ea typeface="JetBrains Mono" pitchFamily="49" charset="-122"/>
                <a:cs typeface="JetBrains Mono" pitchFamily="49" charset="-120"/>
              </a:rPr>
              <a:t>ITS 7 NAMES</a:t>
            </a:r>
            <a:endParaRPr lang="en-US" sz="1200" dirty="0"/>
          </a:p>
        </p:txBody>
      </p:sp>
      <p:sp>
        <p:nvSpPr>
          <p:cNvPr id="10" name="Text 8"/>
          <p:cNvSpPr/>
          <p:nvPr/>
        </p:nvSpPr>
        <p:spPr>
          <a:xfrm>
            <a:off x="1016000" y="3601442"/>
            <a:ext cx="813098" cy="264120"/>
          </a:xfrm>
          <a:custGeom>
            <a:avLst/>
            <a:gdLst/>
            <a:ahLst/>
            <a:cxnLst/>
            <a:rect l="l" t="t" r="r" b="b"/>
            <a:pathLst>
              <a:path w="813098" h="264120">
                <a:moveTo>
                  <a:pt x="132060" y="0"/>
                </a:moveTo>
                <a:lnTo>
                  <a:pt x="681038" y="0"/>
                </a:lnTo>
                <a:arcTo hR="132060" wR="132060" stAng="16200000" swAng="5400000"/>
                <a:lnTo>
                  <a:pt x="813098" y="132060"/>
                </a:lnTo>
                <a:arcTo hR="132060" wR="132060" stAng="0" swAng="5400000"/>
                <a:lnTo>
                  <a:pt x="132060" y="264120"/>
                </a:lnTo>
                <a:arcTo hR="132060" wR="132060" stAng="5400000" swAng="5400000"/>
                <a:lnTo>
                  <a:pt x="0" y="132060"/>
                </a:lnTo>
                <a:arcTo hR="132060" wR="132060" stAng="10800000" swAng="5400000"/>
                <a:close/>
              </a:path>
            </a:pathLst>
          </a:custGeom>
          <a:solidFill>
            <a:srgbClr val="4C3FD1"/>
          </a:solidFill>
          <a:ln/>
        </p:spPr>
        <p:txBody>
          <a:bodyPr wrap="none" lIns="0" tIns="12700" rIns="0" bIns="0"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زيت زيتون</a:t>
            </a:r>
            <a:endParaRPr lang="en-US" sz="1200" dirty="0"/>
          </a:p>
        </p:txBody>
      </p:sp>
      <p:sp>
        <p:nvSpPr>
          <p:cNvPr id="11" name="Text 9"/>
          <p:cNvSpPr/>
          <p:nvPr/>
        </p:nvSpPr>
        <p:spPr>
          <a:xfrm>
            <a:off x="1886248" y="3607792"/>
            <a:ext cx="925016" cy="251420"/>
          </a:xfrm>
          <a:custGeom>
            <a:avLst/>
            <a:gdLst/>
            <a:ahLst/>
            <a:cxnLst/>
            <a:rect l="l" t="t" r="r" b="b"/>
            <a:pathLst>
              <a:path w="925016" h="251420">
                <a:moveTo>
                  <a:pt x="125710" y="0"/>
                </a:moveTo>
                <a:lnTo>
                  <a:pt x="799306" y="0"/>
                </a:lnTo>
                <a:arcTo hR="125710" wR="125710" stAng="16200000" swAng="5400000"/>
                <a:lnTo>
                  <a:pt x="925016" y="125710"/>
                </a:lnTo>
                <a:arcTo hR="125710" wR="125710" stAng="0" swAng="5400000"/>
                <a:lnTo>
                  <a:pt x="125710" y="251420"/>
                </a:lnTo>
                <a:arcTo hR="125710" wR="125710" stAng="5400000" swAng="5400000"/>
                <a:lnTo>
                  <a:pt x="0" y="125710"/>
                </a:lnTo>
                <a:arcTo hR="125710" wR="125710" stAng="10800000" swAng="5400000"/>
                <a:close/>
              </a:path>
            </a:pathLst>
          </a:custGeom>
          <a:noFill/>
          <a:ln w="12700">
            <a:solidFill>
              <a:srgbClr val="4A4E70"/>
            </a:solidFill>
            <a:prstDash val="solid"/>
          </a:ln>
        </p:spPr>
        <p:txBody>
          <a:bodyPr wrap="none" lIns="0" tIns="0" rIns="0" bIns="0" rtlCol="0" anchor="ctr">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زيت الزيتون</a:t>
            </a:r>
            <a:endParaRPr lang="en-US" sz="1200" dirty="0"/>
          </a:p>
        </p:txBody>
      </p:sp>
      <p:sp>
        <p:nvSpPr>
          <p:cNvPr id="12" name="Text 10"/>
          <p:cNvSpPr/>
          <p:nvPr/>
        </p:nvSpPr>
        <p:spPr>
          <a:xfrm>
            <a:off x="1022350" y="3922713"/>
            <a:ext cx="1078805" cy="251420"/>
          </a:xfrm>
          <a:custGeom>
            <a:avLst/>
            <a:gdLst/>
            <a:ahLst/>
            <a:cxnLst/>
            <a:rect l="l" t="t" r="r" b="b"/>
            <a:pathLst>
              <a:path w="1078805" h="251420">
                <a:moveTo>
                  <a:pt x="125710" y="0"/>
                </a:moveTo>
                <a:lnTo>
                  <a:pt x="953095" y="0"/>
                </a:lnTo>
                <a:arcTo hR="125710" wR="125710" stAng="16200000" swAng="5400000"/>
                <a:lnTo>
                  <a:pt x="1078805" y="125710"/>
                </a:lnTo>
                <a:arcTo hR="125710" wR="125710" stAng="0" swAng="5400000"/>
                <a:lnTo>
                  <a:pt x="125710" y="251420"/>
                </a:lnTo>
                <a:arcTo hR="125710" wR="125710" stAng="5400000" swAng="5400000"/>
                <a:lnTo>
                  <a:pt x="0" y="125710"/>
                </a:lnTo>
                <a:arcTo hR="125710" wR="125710" stAng="10800000" swAng="5400000"/>
                <a:close/>
              </a:path>
            </a:pathLst>
          </a:custGeom>
          <a:noFill/>
          <a:ln w="12700">
            <a:solidFill>
              <a:srgbClr val="4A4E70"/>
            </a:solidFill>
            <a:prstDash val="solid"/>
          </a:ln>
        </p:spPr>
        <p:txBody>
          <a:bodyPr wrap="none" lIns="0" tIns="0" rIns="0" bIns="0" rtlCol="0" anchor="ctr">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زيت زيتون بكر</a:t>
            </a:r>
            <a:endParaRPr lang="en-US" sz="1200" dirty="0"/>
          </a:p>
        </p:txBody>
      </p:sp>
      <p:sp>
        <p:nvSpPr>
          <p:cNvPr id="13" name="Text 11"/>
          <p:cNvSpPr/>
          <p:nvPr/>
        </p:nvSpPr>
        <p:spPr>
          <a:xfrm>
            <a:off x="2164655" y="3922713"/>
            <a:ext cx="1456928" cy="251420"/>
          </a:xfrm>
          <a:custGeom>
            <a:avLst/>
            <a:gdLst/>
            <a:ahLst/>
            <a:cxnLst/>
            <a:rect l="l" t="t" r="r" b="b"/>
            <a:pathLst>
              <a:path w="1456928" h="251420">
                <a:moveTo>
                  <a:pt x="125710" y="0"/>
                </a:moveTo>
                <a:lnTo>
                  <a:pt x="1331218" y="0"/>
                </a:lnTo>
                <a:arcTo hR="125710" wR="125710" stAng="16200000" swAng="5400000"/>
                <a:lnTo>
                  <a:pt x="1456928" y="125710"/>
                </a:lnTo>
                <a:arcTo hR="125710" wR="125710" stAng="0" swAng="5400000"/>
                <a:lnTo>
                  <a:pt x="125710" y="251420"/>
                </a:lnTo>
                <a:arcTo hR="125710" wR="125710" stAng="5400000" swAng="5400000"/>
                <a:lnTo>
                  <a:pt x="0" y="125710"/>
                </a:lnTo>
                <a:arcTo hR="125710" wR="125710" stAng="10800000" swAng="5400000"/>
                <a:close/>
              </a:path>
            </a:pathLst>
          </a:custGeom>
          <a:noFill/>
          <a:ln w="12700">
            <a:solidFill>
              <a:srgbClr val="4A4E70"/>
            </a:solidFill>
            <a:prstDash val="solid"/>
          </a:ln>
        </p:spPr>
        <p:txBody>
          <a:bodyPr wrap="none" lIns="0" tIns="0" rIns="0" bIns="0" rtlCol="0" anchor="ctr">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زيت زيتون بكر ممتاز</a:t>
            </a:r>
            <a:endParaRPr lang="en-US" sz="1200" dirty="0"/>
          </a:p>
        </p:txBody>
      </p:sp>
      <p:sp>
        <p:nvSpPr>
          <p:cNvPr id="14" name="Text 12"/>
          <p:cNvSpPr/>
          <p:nvPr/>
        </p:nvSpPr>
        <p:spPr>
          <a:xfrm>
            <a:off x="1022350" y="4237633"/>
            <a:ext cx="1568252" cy="251420"/>
          </a:xfrm>
          <a:custGeom>
            <a:avLst/>
            <a:gdLst/>
            <a:ahLst/>
            <a:cxnLst/>
            <a:rect l="l" t="t" r="r" b="b"/>
            <a:pathLst>
              <a:path w="1568252" h="251420">
                <a:moveTo>
                  <a:pt x="125710" y="0"/>
                </a:moveTo>
                <a:lnTo>
                  <a:pt x="1442541" y="0"/>
                </a:lnTo>
                <a:arcTo hR="125710" wR="125710" stAng="16200000" swAng="5400000"/>
                <a:lnTo>
                  <a:pt x="1568252" y="125710"/>
                </a:lnTo>
                <a:arcTo hR="125710" wR="125710" stAng="0" swAng="5400000"/>
                <a:lnTo>
                  <a:pt x="125710" y="251420"/>
                </a:lnTo>
                <a:arcTo hR="125710" wR="125710" stAng="5400000" swAng="5400000"/>
                <a:lnTo>
                  <a:pt x="0" y="125710"/>
                </a:lnTo>
                <a:arcTo hR="125710" wR="125710" stAng="10800000" swAng="5400000"/>
                <a:close/>
              </a:path>
            </a:pathLst>
          </a:custGeom>
          <a:noFill/>
          <a:ln w="12700">
            <a:solidFill>
              <a:srgbClr val="4A4E70"/>
            </a:solidFill>
            <a:prstDash val="solid"/>
          </a:ln>
        </p:spPr>
        <p:txBody>
          <a:bodyPr wrap="none" lIns="0" tIns="0" rIns="0" bIns="0" rtlCol="0" anchor="ctr">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Olive Oil Extra Virgin</a:t>
            </a:r>
            <a:endParaRPr lang="en-US" sz="1200" dirty="0"/>
          </a:p>
        </p:txBody>
      </p:sp>
      <p:sp>
        <p:nvSpPr>
          <p:cNvPr id="15" name="Text 13"/>
          <p:cNvSpPr/>
          <p:nvPr/>
        </p:nvSpPr>
        <p:spPr>
          <a:xfrm>
            <a:off x="2654102" y="4237633"/>
            <a:ext cx="673398" cy="251420"/>
          </a:xfrm>
          <a:custGeom>
            <a:avLst/>
            <a:gdLst/>
            <a:ahLst/>
            <a:cxnLst/>
            <a:rect l="l" t="t" r="r" b="b"/>
            <a:pathLst>
              <a:path w="673398" h="251420">
                <a:moveTo>
                  <a:pt x="125710" y="0"/>
                </a:moveTo>
                <a:lnTo>
                  <a:pt x="547687" y="0"/>
                </a:lnTo>
                <a:arcTo hR="125710" wR="125710" stAng="16200000" swAng="5400000"/>
                <a:lnTo>
                  <a:pt x="673398" y="125710"/>
                </a:lnTo>
                <a:arcTo hR="125710" wR="125710" stAng="0" swAng="5400000"/>
                <a:lnTo>
                  <a:pt x="125710" y="251420"/>
                </a:lnTo>
                <a:arcTo hR="125710" wR="125710" stAng="5400000" swAng="5400000"/>
                <a:lnTo>
                  <a:pt x="0" y="125710"/>
                </a:lnTo>
                <a:arcTo hR="125710" wR="125710" stAng="10800000" swAng="5400000"/>
                <a:close/>
              </a:path>
            </a:pathLst>
          </a:custGeom>
          <a:noFill/>
          <a:ln w="12700">
            <a:solidFill>
              <a:srgbClr val="4A4E70"/>
            </a:solidFill>
            <a:prstDash val="solid"/>
          </a:ln>
        </p:spPr>
        <p:txBody>
          <a:bodyPr wrap="none" lIns="0" tIns="0" rIns="0" bIns="0" rtlCol="0" anchor="ctr">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olive oil</a:t>
            </a:r>
            <a:endParaRPr lang="en-US" sz="1200" dirty="0"/>
          </a:p>
        </p:txBody>
      </p:sp>
      <p:sp>
        <p:nvSpPr>
          <p:cNvPr id="16" name="Text 14"/>
          <p:cNvSpPr/>
          <p:nvPr/>
        </p:nvSpPr>
        <p:spPr>
          <a:xfrm>
            <a:off x="1022350" y="4552553"/>
            <a:ext cx="1461095" cy="251420"/>
          </a:xfrm>
          <a:custGeom>
            <a:avLst/>
            <a:gdLst/>
            <a:ahLst/>
            <a:cxnLst/>
            <a:rect l="l" t="t" r="r" b="b"/>
            <a:pathLst>
              <a:path w="1461095" h="251420">
                <a:moveTo>
                  <a:pt x="125710" y="0"/>
                </a:moveTo>
                <a:lnTo>
                  <a:pt x="1335385" y="0"/>
                </a:lnTo>
                <a:arcTo hR="125710" wR="125710" stAng="16200000" swAng="5400000"/>
                <a:lnTo>
                  <a:pt x="1461095" y="125710"/>
                </a:lnTo>
                <a:arcTo hR="125710" wR="125710" stAng="0" swAng="5400000"/>
                <a:lnTo>
                  <a:pt x="125710" y="251420"/>
                </a:lnTo>
                <a:arcTo hR="125710" wR="125710" stAng="5400000" swAng="5400000"/>
                <a:lnTo>
                  <a:pt x="0" y="125710"/>
                </a:lnTo>
                <a:arcTo hR="125710" wR="125710" stAng="10800000" swAng="5400000"/>
                <a:close/>
              </a:path>
            </a:pathLst>
          </a:custGeom>
          <a:noFill/>
          <a:ln w="12700">
            <a:solidFill>
              <a:srgbClr val="4A4E70"/>
            </a:solidFill>
            <a:prstDash val="solid"/>
          </a:ln>
        </p:spPr>
        <p:txBody>
          <a:bodyPr wrap="none" lIns="0" tIns="0" rIns="0" bIns="0" rtlCol="0" anchor="ctr">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extra virgin olive oil</a:t>
            </a:r>
            <a:endParaRPr lang="en-US" sz="1200" dirty="0"/>
          </a:p>
        </p:txBody>
      </p:sp>
      <p:sp>
        <p:nvSpPr>
          <p:cNvPr id="17" name="Text 15"/>
          <p:cNvSpPr/>
          <p:nvPr/>
        </p:nvSpPr>
        <p:spPr>
          <a:xfrm>
            <a:off x="1016000" y="4886523"/>
            <a:ext cx="2982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E0"/>
                </a:solidFill>
                <a:latin typeface="IBM Plex Sans" pitchFamily="34" charset="0"/>
                <a:ea typeface="IBM Plex Sans" pitchFamily="34" charset="-122"/>
                <a:cs typeface="IBM Plex Sans" pitchFamily="34" charset="-120"/>
              </a:rPr>
              <a:t>Pack 750 ml · SKU-1013 · Cooking Oil</a:t>
            </a:r>
            <a:endParaRPr lang="en-US" sz="1200" dirty="0"/>
          </a:p>
        </p:txBody>
      </p:sp>
      <p:sp>
        <p:nvSpPr>
          <p:cNvPr id="18" name="Shape 16"/>
          <p:cNvSpPr/>
          <p:nvPr/>
        </p:nvSpPr>
        <p:spPr>
          <a:xfrm>
            <a:off x="4375150" y="1885950"/>
            <a:ext cx="6997700" cy="1231900"/>
          </a:xfrm>
          <a:prstGeom prst="roundRect">
            <a:avLst>
              <a:gd name="adj" fmla="val 7732"/>
            </a:avLst>
          </a:prstGeom>
          <a:solidFill>
            <a:srgbClr val="FDFCF9"/>
          </a:solidFill>
          <a:ln w="12700">
            <a:solidFill>
              <a:srgbClr val="D9D6CC"/>
            </a:solidFill>
            <a:prstDash val="solid"/>
          </a:ln>
        </p:spPr>
      </p:sp>
      <p:sp>
        <p:nvSpPr>
          <p:cNvPr id="19" name="Text 17"/>
          <p:cNvSpPr/>
          <p:nvPr/>
        </p:nvSpPr>
        <p:spPr>
          <a:xfrm>
            <a:off x="4533900" y="2044700"/>
            <a:ext cx="226433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1 · BM25 on the words</a:t>
            </a:r>
            <a:endParaRPr lang="en-US" sz="1400" dirty="0"/>
          </a:p>
        </p:txBody>
      </p:sp>
      <p:sp>
        <p:nvSpPr>
          <p:cNvPr id="20" name="Text 18"/>
          <p:cNvSpPr/>
          <p:nvPr/>
        </p:nvSpPr>
        <p:spPr>
          <a:xfrm>
            <a:off x="10006806" y="2063750"/>
            <a:ext cx="120729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exact words</a:t>
            </a:r>
            <a:endParaRPr lang="en-US" sz="1200" dirty="0"/>
          </a:p>
        </p:txBody>
      </p:sp>
      <p:sp>
        <p:nvSpPr>
          <p:cNvPr id="21" name="Text 19"/>
          <p:cNvSpPr/>
          <p:nvPr/>
        </p:nvSpPr>
        <p:spPr>
          <a:xfrm>
            <a:off x="4533900" y="2327870"/>
            <a:ext cx="68806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Each word and its Arabic prefix forms; a word found in fewer names counts more</a:t>
            </a:r>
            <a:endParaRPr lang="en-US" sz="1200" dirty="0"/>
          </a:p>
        </p:txBody>
      </p:sp>
      <p:sp>
        <p:nvSpPr>
          <p:cNvPr id="22" name="Text 20"/>
          <p:cNvSpPr/>
          <p:nvPr/>
        </p:nvSpPr>
        <p:spPr>
          <a:xfrm>
            <a:off x="4533900" y="2604691"/>
            <a:ext cx="468908" cy="264120"/>
          </a:xfrm>
          <a:prstGeom prst="roundRect">
            <a:avLst>
              <a:gd name="adj" fmla="val 19234"/>
            </a:avLst>
          </a:prstGeom>
          <a:solidFill>
            <a:srgbClr val="E4E1FA"/>
          </a:solidFill>
          <a:ln/>
        </p:spPr>
        <p:txBody>
          <a:bodyPr wrap="none" lIns="0" tIns="0" rIns="0" bIns="0" rtlCol="0" anchor="ctr">
            <a:normAutofit/>
          </a:bodyPr>
          <a:lstStyle/>
          <a:p>
            <a:pPr algn="ct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زيت</a:t>
            </a:r>
            <a:endParaRPr lang="en-US" sz="1200" dirty="0"/>
          </a:p>
        </p:txBody>
      </p:sp>
      <p:sp>
        <p:nvSpPr>
          <p:cNvPr id="23" name="Text 21"/>
          <p:cNvSpPr/>
          <p:nvPr/>
        </p:nvSpPr>
        <p:spPr>
          <a:xfrm>
            <a:off x="5079008" y="2604691"/>
            <a:ext cx="555923" cy="264120"/>
          </a:xfrm>
          <a:prstGeom prst="roundRect">
            <a:avLst>
              <a:gd name="adj" fmla="val 19234"/>
            </a:avLst>
          </a:prstGeom>
          <a:solidFill>
            <a:srgbClr val="E4E1FA"/>
          </a:solidFill>
          <a:ln/>
        </p:spPr>
        <p:txBody>
          <a:bodyPr wrap="none" lIns="0" tIns="0" rIns="0" bIns="0" rtlCol="0" anchor="ctr">
            <a:normAutofit/>
          </a:bodyPr>
          <a:lstStyle/>
          <a:p>
            <a:pPr algn="ct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زيتون</a:t>
            </a:r>
            <a:endParaRPr lang="en-US" sz="1200" dirty="0"/>
          </a:p>
        </p:txBody>
      </p:sp>
      <p:sp>
        <p:nvSpPr>
          <p:cNvPr id="24" name="Text 22"/>
          <p:cNvSpPr/>
          <p:nvPr/>
        </p:nvSpPr>
        <p:spPr>
          <a:xfrm>
            <a:off x="5761930" y="2630091"/>
            <a:ext cx="1024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also matches</a:t>
            </a:r>
            <a:endParaRPr lang="en-US" sz="1200" dirty="0"/>
          </a:p>
        </p:txBody>
      </p:sp>
      <p:sp>
        <p:nvSpPr>
          <p:cNvPr id="25" name="Text 23"/>
          <p:cNvSpPr/>
          <p:nvPr/>
        </p:nvSpPr>
        <p:spPr>
          <a:xfrm>
            <a:off x="6793210" y="2598341"/>
            <a:ext cx="1211362" cy="276820"/>
          </a:xfrm>
          <a:prstGeom prst="roundRect">
            <a:avLst>
              <a:gd name="adj" fmla="val 16057"/>
            </a:avLst>
          </a:prstGeom>
          <a:noFill/>
          <a:ln w="12700">
            <a:solidFill>
              <a:srgbClr val="D9D6CC"/>
            </a:solidFill>
            <a:prstDash val="solid"/>
          </a:ln>
        </p:spPr>
        <p:txBody>
          <a:bodyPr wrap="none" lIns="0" tIns="0" rIns="0" bIns="0" rtlCol="0" anchor="ctr">
            <a:normAutofit/>
          </a:bodyPr>
          <a:lstStyle/>
          <a:p>
            <a:pPr algn="ct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بزيتون‎ → ‎زيتون</a:t>
            </a:r>
            <a:endParaRPr lang="en-US" sz="1200" dirty="0"/>
          </a:p>
        </p:txBody>
      </p:sp>
      <p:sp>
        <p:nvSpPr>
          <p:cNvPr id="26" name="Text 24"/>
          <p:cNvSpPr/>
          <p:nvPr/>
        </p:nvSpPr>
        <p:spPr>
          <a:xfrm>
            <a:off x="8093472" y="2598341"/>
            <a:ext cx="1157288" cy="276820"/>
          </a:xfrm>
          <a:prstGeom prst="roundRect">
            <a:avLst>
              <a:gd name="adj" fmla="val 16057"/>
            </a:avLst>
          </a:prstGeom>
          <a:noFill/>
          <a:ln w="12700">
            <a:solidFill>
              <a:srgbClr val="D9D6CC"/>
            </a:solidFill>
            <a:prstDash val="solid"/>
          </a:ln>
        </p:spPr>
        <p:txBody>
          <a:bodyPr wrap="none" lIns="0" tIns="0" rIns="0" bIns="0" rtlCol="0" anchor="ctr">
            <a:normAutofit/>
          </a:bodyPr>
          <a:lstStyle/>
          <a:p>
            <a:pPr algn="ct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والزيت‎ → ‎زيت</a:t>
            </a:r>
            <a:endParaRPr lang="en-US" sz="1200" dirty="0"/>
          </a:p>
        </p:txBody>
      </p:sp>
      <p:sp>
        <p:nvSpPr>
          <p:cNvPr id="27" name="Shape 25"/>
          <p:cNvSpPr/>
          <p:nvPr/>
        </p:nvSpPr>
        <p:spPr>
          <a:xfrm>
            <a:off x="4375150" y="3232150"/>
            <a:ext cx="6997700" cy="1231900"/>
          </a:xfrm>
          <a:prstGeom prst="roundRect">
            <a:avLst>
              <a:gd name="adj" fmla="val 7732"/>
            </a:avLst>
          </a:prstGeom>
          <a:solidFill>
            <a:srgbClr val="FDFCF9"/>
          </a:solidFill>
          <a:ln w="12700">
            <a:solidFill>
              <a:srgbClr val="D9D6CC"/>
            </a:solidFill>
            <a:prstDash val="solid"/>
          </a:ln>
        </p:spPr>
      </p:sp>
      <p:sp>
        <p:nvSpPr>
          <p:cNvPr id="28" name="Text 26"/>
          <p:cNvSpPr/>
          <p:nvPr/>
        </p:nvSpPr>
        <p:spPr>
          <a:xfrm>
            <a:off x="4533900" y="3390900"/>
            <a:ext cx="20041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2 · Character vector</a:t>
            </a:r>
            <a:endParaRPr lang="en-US" sz="1400" dirty="0"/>
          </a:p>
        </p:txBody>
      </p:sp>
      <p:sp>
        <p:nvSpPr>
          <p:cNvPr id="29" name="Text 27"/>
          <p:cNvSpPr/>
          <p:nvPr/>
        </p:nvSpPr>
        <p:spPr>
          <a:xfrm>
            <a:off x="8360648" y="3409950"/>
            <a:ext cx="285345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spelling · 18 of 512 slots</a:t>
            </a:r>
            <a:endParaRPr lang="en-US" sz="1200" dirty="0"/>
          </a:p>
        </p:txBody>
      </p:sp>
      <p:sp>
        <p:nvSpPr>
          <p:cNvPr id="30" name="Text 28"/>
          <p:cNvSpPr/>
          <p:nvPr/>
        </p:nvSpPr>
        <p:spPr>
          <a:xfrm>
            <a:off x="4533900" y="3674070"/>
            <a:ext cx="68806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#زيت# #زيتون# → pieces of 2, 3 and 4 letters → each hashed to one of 512 slots</a:t>
            </a:r>
            <a:endParaRPr lang="en-US" sz="1200" dirty="0"/>
          </a:p>
        </p:txBody>
      </p:sp>
      <p:pic>
        <p:nvPicPr>
          <p:cNvPr id="31" name="Image 0" descr="The real character vector of the name زيت زيتون: 18 of 512 slots are non-zero">    </p:cNvPr>
          <p:cNvPicPr>
            <a:picLocks noChangeAspect="1"/>
          </p:cNvPicPr>
          <p:nvPr/>
        </p:nvPicPr>
        <p:blipFill>
          <a:blip r:embed="rId1"/>
          <a:srcRect l="-181" r="-181" t="0" b="0"/>
          <a:stretch/>
        </p:blipFill>
        <p:spPr>
          <a:xfrm>
            <a:off x="4533900" y="3938191"/>
            <a:ext cx="6705600" cy="355600"/>
          </a:xfrm>
          <a:prstGeom prst="rect">
            <a:avLst/>
          </a:prstGeom>
        </p:spPr>
      </p:pic>
      <p:sp>
        <p:nvSpPr>
          <p:cNvPr id="32" name="Shape 29"/>
          <p:cNvSpPr/>
          <p:nvPr/>
        </p:nvSpPr>
        <p:spPr>
          <a:xfrm>
            <a:off x="4375150" y="4578350"/>
            <a:ext cx="6997700" cy="1231900"/>
          </a:xfrm>
          <a:prstGeom prst="roundRect">
            <a:avLst>
              <a:gd name="adj" fmla="val 7732"/>
            </a:avLst>
          </a:prstGeom>
          <a:solidFill>
            <a:srgbClr val="FDFCF9"/>
          </a:solidFill>
          <a:ln w="12700">
            <a:solidFill>
              <a:srgbClr val="D9D6CC"/>
            </a:solidFill>
            <a:prstDash val="solid"/>
          </a:ln>
        </p:spPr>
      </p:sp>
      <p:sp>
        <p:nvSpPr>
          <p:cNvPr id="33" name="Text 30"/>
          <p:cNvSpPr/>
          <p:nvPr/>
        </p:nvSpPr>
        <p:spPr>
          <a:xfrm>
            <a:off x="4533900" y="4737100"/>
            <a:ext cx="143494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3 · Jina vector</a:t>
            </a:r>
            <a:endParaRPr lang="en-US" sz="1400" dirty="0"/>
          </a:p>
        </p:txBody>
      </p:sp>
      <p:sp>
        <p:nvSpPr>
          <p:cNvPr id="34" name="Text 31"/>
          <p:cNvSpPr/>
          <p:nvPr/>
        </p:nvSpPr>
        <p:spPr>
          <a:xfrm>
            <a:off x="7592457" y="4756150"/>
            <a:ext cx="362164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meaning · 256 numbers · schematic</a:t>
            </a:r>
            <a:endParaRPr lang="en-US" sz="1200" dirty="0"/>
          </a:p>
        </p:txBody>
      </p:sp>
      <p:sp>
        <p:nvSpPr>
          <p:cNvPr id="35" name="Text 32"/>
          <p:cNvSpPr/>
          <p:nvPr/>
        </p:nvSpPr>
        <p:spPr>
          <a:xfrm>
            <a:off x="4533900" y="5020270"/>
            <a:ext cx="68806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jina-embeddings-v5-text-small gives 1,024 numbers; the first 256 are kept</a:t>
            </a:r>
            <a:endParaRPr lang="en-US" sz="1200" dirty="0"/>
          </a:p>
        </p:txBody>
      </p:sp>
      <p:pic>
        <p:nvPicPr>
          <p:cNvPr id="36" name="Image 1" descr="Schematic of a dense embedding: every number is used, unlike the character vector">    </p:cNvPr>
          <p:cNvPicPr>
            <a:picLocks noChangeAspect="1"/>
          </p:cNvPicPr>
          <p:nvPr/>
        </p:nvPicPr>
        <p:blipFill>
          <a:blip r:embed="rId2"/>
          <a:srcRect l="-181" r="-181" t="0" b="0"/>
          <a:stretch/>
        </p:blipFill>
        <p:spPr>
          <a:xfrm>
            <a:off x="4533900" y="5284391"/>
            <a:ext cx="6705600" cy="355600"/>
          </a:xfrm>
          <a:prstGeom prst="rect">
            <a:avLst/>
          </a:prstGeom>
        </p:spPr>
      </p:pic>
      <p:sp>
        <p:nvSpPr>
          <p:cNvPr id="37" name="Text 33"/>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38" name="Text 34"/>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06 / 22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PATH 2 OF 3 · A NEW POST</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Each post is read once, so “it” has a meaning</a:t>
            </a:r>
            <a:endParaRPr lang="en-US" sz="3200" dirty="0"/>
          </a:p>
        </p:txBody>
      </p:sp>
      <p:sp>
        <p:nvSpPr>
          <p:cNvPr id="4" name="Text 2"/>
          <p:cNvSpPr/>
          <p:nvPr/>
        </p:nvSpPr>
        <p:spPr>
          <a:xfrm>
            <a:off x="7978140" y="812800"/>
            <a:ext cx="3401060" cy="238720"/>
          </a:xfrm>
          <a:prstGeom prst="rect">
            <a:avLst/>
          </a:prstGeom>
          <a:noFill/>
          <a:ln/>
        </p:spPr>
        <p:txBody>
          <a:bodyPr wrap="square" lIns="0" tIns="0" rIns="0" bIns="0" rtlCol="0" anchor="t">
            <a:normAutofit/>
          </a:bodyPr>
          <a:lstStyle/>
          <a:p>
            <a:pPr algn="r" indent="0" marL="0">
              <a:lnSpc>
                <a:spcPts val="1680"/>
              </a:lnSpc>
              <a:buNone/>
            </a:pPr>
            <a:r>
              <a:rPr lang="en-US" sz="1200" u="sng" dirty="0">
                <a:solidFill>
                  <a:srgbClr val="4C3FD1"/>
                </a:solidFill>
                <a:latin typeface="JetBrains Mono" pitchFamily="49" charset="0"/>
                <a:ea typeface="JetBrains Mono" pitchFamily="49" charset="-122"/>
                <a:cs typeface="JetBrains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Open it in the explorer ↗</a:t>
            </a:r>
            <a:endParaRPr lang="en-US" sz="1200" dirty="0"/>
          </a:p>
        </p:txBody>
      </p:sp>
      <p:sp>
        <p:nvSpPr>
          <p:cNvPr id="5" name="Shape 3"/>
          <p:cNvSpPr/>
          <p:nvPr/>
        </p:nvSpPr>
        <p:spPr>
          <a:xfrm>
            <a:off x="812800" y="3505200"/>
            <a:ext cx="10566400" cy="2006600"/>
          </a:xfrm>
          <a:prstGeom prst="roundRect">
            <a:avLst>
              <a:gd name="adj" fmla="val 5063"/>
            </a:avLst>
          </a:prstGeom>
          <a:solidFill>
            <a:srgbClr val="ECEAE3"/>
          </a:solidFill>
          <a:ln/>
        </p:spPr>
      </p:sp>
      <p:sp>
        <p:nvSpPr>
          <p:cNvPr id="6" name="Text 4"/>
          <p:cNvSpPr/>
          <p:nvPr/>
        </p:nvSpPr>
        <p:spPr>
          <a:xfrm>
            <a:off x="2362200" y="3606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POST GRAPH · LANGGRAPH</a:t>
            </a:r>
            <a:endParaRPr lang="en-US" sz="1200" dirty="0"/>
          </a:p>
        </p:txBody>
      </p:sp>
      <p:sp>
        <p:nvSpPr>
          <p:cNvPr id="7" name="Shape 5"/>
          <p:cNvSpPr/>
          <p:nvPr/>
        </p:nvSpPr>
        <p:spPr>
          <a:xfrm>
            <a:off x="971550" y="1885950"/>
            <a:ext cx="2171700" cy="1257300"/>
          </a:xfrm>
          <a:prstGeom prst="roundRect">
            <a:avLst>
              <a:gd name="adj" fmla="val 7576"/>
            </a:avLst>
          </a:prstGeom>
          <a:solidFill>
            <a:srgbClr val="FDFCF9"/>
          </a:solidFill>
          <a:ln w="12700">
            <a:solidFill>
              <a:srgbClr val="D9D6CC"/>
            </a:solidFill>
            <a:prstDash val="solid"/>
          </a:ln>
        </p:spPr>
      </p:sp>
      <p:sp>
        <p:nvSpPr>
          <p:cNvPr id="8" name="Text 6"/>
          <p:cNvSpPr/>
          <p:nvPr/>
        </p:nvSpPr>
        <p:spPr>
          <a:xfrm>
            <a:off x="1130300" y="2063750"/>
            <a:ext cx="2337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01</a:t>
            </a:r>
            <a:endParaRPr lang="en-US" sz="1200" dirty="0"/>
          </a:p>
        </p:txBody>
      </p:sp>
      <p:sp>
        <p:nvSpPr>
          <p:cNvPr id="9" name="Text 7"/>
          <p:cNvSpPr/>
          <p:nvPr/>
        </p:nvSpPr>
        <p:spPr>
          <a:xfrm>
            <a:off x="1389459" y="2044700"/>
            <a:ext cx="167163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Brand publishes</a:t>
            </a:r>
            <a:endParaRPr lang="en-US" sz="1400" dirty="0"/>
          </a:p>
        </p:txBody>
      </p:sp>
      <p:sp>
        <p:nvSpPr>
          <p:cNvPr id="10" name="Text 8"/>
          <p:cNvSpPr/>
          <p:nvPr/>
        </p:nvSpPr>
        <p:spPr>
          <a:xfrm>
            <a:off x="1130300" y="2327870"/>
            <a:ext cx="19098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An image and a caption, from the feed simulator</a:t>
            </a:r>
            <a:endParaRPr lang="en-US" sz="1200" dirty="0"/>
          </a:p>
        </p:txBody>
      </p:sp>
      <p:sp>
        <p:nvSpPr>
          <p:cNvPr id="11" name="Shape 9"/>
          <p:cNvSpPr/>
          <p:nvPr/>
        </p:nvSpPr>
        <p:spPr>
          <a:xfrm>
            <a:off x="3613150" y="1885950"/>
            <a:ext cx="2171700" cy="1257300"/>
          </a:xfrm>
          <a:prstGeom prst="roundRect">
            <a:avLst>
              <a:gd name="adj" fmla="val 7576"/>
            </a:avLst>
          </a:prstGeom>
          <a:solidFill>
            <a:srgbClr val="FDFCF9"/>
          </a:solidFill>
          <a:ln w="12700">
            <a:solidFill>
              <a:srgbClr val="D9D6CC"/>
            </a:solidFill>
            <a:prstDash val="solid"/>
          </a:ln>
        </p:spPr>
      </p:sp>
      <p:sp>
        <p:nvSpPr>
          <p:cNvPr id="12" name="Text 10"/>
          <p:cNvSpPr/>
          <p:nvPr/>
        </p:nvSpPr>
        <p:spPr>
          <a:xfrm>
            <a:off x="3771900" y="2063750"/>
            <a:ext cx="2337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02</a:t>
            </a:r>
            <a:endParaRPr lang="en-US" sz="1200" dirty="0"/>
          </a:p>
        </p:txBody>
      </p:sp>
      <p:sp>
        <p:nvSpPr>
          <p:cNvPr id="13" name="Text 11"/>
          <p:cNvSpPr/>
          <p:nvPr/>
        </p:nvSpPr>
        <p:spPr>
          <a:xfrm>
            <a:off x="4031059" y="2044700"/>
            <a:ext cx="6286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Saved</a:t>
            </a:r>
            <a:endParaRPr lang="en-US" sz="1400" dirty="0"/>
          </a:p>
        </p:txBody>
      </p:sp>
      <p:sp>
        <p:nvSpPr>
          <p:cNvPr id="14" name="Text 12"/>
          <p:cNvSpPr/>
          <p:nvPr/>
        </p:nvSpPr>
        <p:spPr>
          <a:xfrm>
            <a:off x="3771900" y="2327870"/>
            <a:ext cx="19098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Image → media store; post → social store; context: pending</a:t>
            </a:r>
            <a:endParaRPr lang="en-US" sz="1200" dirty="0"/>
          </a:p>
        </p:txBody>
      </p:sp>
      <p:sp>
        <p:nvSpPr>
          <p:cNvPr id="15" name="Shape 13"/>
          <p:cNvSpPr/>
          <p:nvPr/>
        </p:nvSpPr>
        <p:spPr>
          <a:xfrm>
            <a:off x="6254750" y="1885950"/>
            <a:ext cx="2171700" cy="1257300"/>
          </a:xfrm>
          <a:prstGeom prst="roundRect">
            <a:avLst>
              <a:gd name="adj" fmla="val 7576"/>
            </a:avLst>
          </a:prstGeom>
          <a:solidFill>
            <a:srgbClr val="FDFCF9"/>
          </a:solidFill>
          <a:ln w="12700">
            <a:solidFill>
              <a:srgbClr val="D9D6CC"/>
            </a:solidFill>
            <a:prstDash val="solid"/>
          </a:ln>
        </p:spPr>
      </p:sp>
      <p:sp>
        <p:nvSpPr>
          <p:cNvPr id="16" name="Text 14"/>
          <p:cNvSpPr/>
          <p:nvPr/>
        </p:nvSpPr>
        <p:spPr>
          <a:xfrm>
            <a:off x="6413500" y="2063750"/>
            <a:ext cx="2337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03</a:t>
            </a:r>
            <a:endParaRPr lang="en-US" sz="1200" dirty="0"/>
          </a:p>
        </p:txBody>
      </p:sp>
      <p:sp>
        <p:nvSpPr>
          <p:cNvPr id="17" name="Text 15"/>
          <p:cNvSpPr/>
          <p:nvPr/>
        </p:nvSpPr>
        <p:spPr>
          <a:xfrm>
            <a:off x="6672659" y="2044700"/>
            <a:ext cx="16240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Background job</a:t>
            </a:r>
            <a:endParaRPr lang="en-US" sz="1400" dirty="0"/>
          </a:p>
        </p:txBody>
      </p:sp>
      <p:sp>
        <p:nvSpPr>
          <p:cNvPr id="18" name="Text 16"/>
          <p:cNvSpPr/>
          <p:nvPr/>
        </p:nvSpPr>
        <p:spPr>
          <a:xfrm>
            <a:off x="6413500" y="2327870"/>
            <a:ext cx="19098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analyze-post answers at once, then runs for up to 15 minutes</a:t>
            </a:r>
            <a:endParaRPr lang="en-US" sz="1200" dirty="0"/>
          </a:p>
        </p:txBody>
      </p:sp>
      <p:sp>
        <p:nvSpPr>
          <p:cNvPr id="19" name="Shape 17"/>
          <p:cNvSpPr/>
          <p:nvPr/>
        </p:nvSpPr>
        <p:spPr>
          <a:xfrm>
            <a:off x="8896350" y="1885950"/>
            <a:ext cx="2171700" cy="1257300"/>
          </a:xfrm>
          <a:prstGeom prst="roundRect">
            <a:avLst>
              <a:gd name="adj" fmla="val 7576"/>
            </a:avLst>
          </a:prstGeom>
          <a:solidFill>
            <a:srgbClr val="FDFCF9"/>
          </a:solidFill>
          <a:ln w="12700">
            <a:solidFill>
              <a:srgbClr val="D9D6CC"/>
            </a:solidFill>
            <a:prstDash val="solid"/>
          </a:ln>
        </p:spPr>
      </p:sp>
      <p:sp>
        <p:nvSpPr>
          <p:cNvPr id="20" name="Text 18"/>
          <p:cNvSpPr/>
          <p:nvPr/>
        </p:nvSpPr>
        <p:spPr>
          <a:xfrm>
            <a:off x="9055100" y="2063750"/>
            <a:ext cx="2337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08</a:t>
            </a:r>
            <a:endParaRPr lang="en-US" sz="1200" dirty="0"/>
          </a:p>
        </p:txBody>
      </p:sp>
      <p:sp>
        <p:nvSpPr>
          <p:cNvPr id="21" name="Text 19"/>
          <p:cNvSpPr/>
          <p:nvPr/>
        </p:nvSpPr>
        <p:spPr>
          <a:xfrm>
            <a:off x="9314259" y="2044700"/>
            <a:ext cx="171914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Comments use it</a:t>
            </a:r>
            <a:endParaRPr lang="en-US" sz="1400" dirty="0"/>
          </a:p>
        </p:txBody>
      </p:sp>
      <p:sp>
        <p:nvSpPr>
          <p:cNvPr id="22" name="Text 20"/>
          <p:cNvSpPr/>
          <p:nvPr/>
        </p:nvSpPr>
        <p:spPr>
          <a:xfrm>
            <a:off x="9055100" y="2327870"/>
            <a:ext cx="19098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“وين بلاقيه؟” under this post now means its product</a:t>
            </a:r>
            <a:endParaRPr lang="en-US" sz="1200" dirty="0"/>
          </a:p>
        </p:txBody>
      </p:sp>
      <p:sp>
        <p:nvSpPr>
          <p:cNvPr id="23" name="Shape 21"/>
          <p:cNvSpPr/>
          <p:nvPr/>
        </p:nvSpPr>
        <p:spPr>
          <a:xfrm>
            <a:off x="971550" y="3917950"/>
            <a:ext cx="2171700" cy="1435100"/>
          </a:xfrm>
          <a:prstGeom prst="roundRect">
            <a:avLst>
              <a:gd name="adj" fmla="val 6637"/>
            </a:avLst>
          </a:prstGeom>
          <a:solidFill>
            <a:srgbClr val="FDFCF9"/>
          </a:solidFill>
          <a:ln w="12700">
            <a:solidFill>
              <a:srgbClr val="C5C8D4"/>
            </a:solidFill>
            <a:prstDash val="solid"/>
          </a:ln>
        </p:spPr>
      </p:sp>
      <p:sp>
        <p:nvSpPr>
          <p:cNvPr id="24" name="Text 22"/>
          <p:cNvSpPr/>
          <p:nvPr/>
        </p:nvSpPr>
        <p:spPr>
          <a:xfrm>
            <a:off x="1130300" y="4076700"/>
            <a:ext cx="1909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04 read_post</a:t>
            </a:r>
            <a:endParaRPr lang="en-US" sz="1200" dirty="0"/>
          </a:p>
        </p:txBody>
      </p:sp>
      <p:sp>
        <p:nvSpPr>
          <p:cNvPr id="25" name="Text 23"/>
          <p:cNvSpPr/>
          <p:nvPr/>
        </p:nvSpPr>
        <p:spPr>
          <a:xfrm>
            <a:off x="1130300" y="4340820"/>
            <a:ext cx="190982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Loads the caption, and the image when the model can see images (Groq's cannot)</a:t>
            </a:r>
            <a:endParaRPr lang="en-US" sz="1200" dirty="0"/>
          </a:p>
        </p:txBody>
      </p:sp>
      <p:sp>
        <p:nvSpPr>
          <p:cNvPr id="26" name="Shape 24"/>
          <p:cNvSpPr/>
          <p:nvPr/>
        </p:nvSpPr>
        <p:spPr>
          <a:xfrm>
            <a:off x="3616325" y="3921125"/>
            <a:ext cx="2165350" cy="1428750"/>
          </a:xfrm>
          <a:prstGeom prst="roundRect">
            <a:avLst>
              <a:gd name="adj" fmla="val 6444"/>
            </a:avLst>
          </a:prstGeom>
          <a:solidFill>
            <a:srgbClr val="E4E1FA"/>
          </a:solidFill>
          <a:ln w="19050">
            <a:solidFill>
              <a:srgbClr val="4C3FD1"/>
            </a:solidFill>
            <a:prstDash val="solid"/>
          </a:ln>
        </p:spPr>
      </p:sp>
      <p:sp>
        <p:nvSpPr>
          <p:cNvPr id="27" name="Text 25"/>
          <p:cNvSpPr/>
          <p:nvPr/>
        </p:nvSpPr>
        <p:spPr>
          <a:xfrm>
            <a:off x="3778250" y="4083050"/>
            <a:ext cx="1896745" cy="23624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16182B"/>
                </a:solidFill>
                <a:latin typeface="JetBrains Mono" pitchFamily="49" charset="0"/>
                <a:ea typeface="JetBrains Mono" pitchFamily="49" charset="-122"/>
                <a:cs typeface="JetBrains Mono" pitchFamily="49" charset="-120"/>
              </a:rPr>
              <a:t>05 spot_products</a:t>
            </a:r>
            <a:endParaRPr lang="en-US" sz="1196" dirty="0"/>
          </a:p>
        </p:txBody>
      </p:sp>
      <p:sp>
        <p:nvSpPr>
          <p:cNvPr id="28" name="Text 26"/>
          <p:cNvSpPr/>
          <p:nvPr/>
        </p:nvSpPr>
        <p:spPr>
          <a:xfrm>
            <a:off x="3778250" y="4344690"/>
            <a:ext cx="1896745" cy="868660"/>
          </a:xfrm>
          <a:prstGeom prst="rect">
            <a:avLst/>
          </a:prstGeom>
          <a:noFill/>
          <a:ln/>
        </p:spPr>
        <p:txBody>
          <a:bodyPr wrap="square" lIns="0" tIns="0" rIns="0" bIns="0" rtlCol="0" anchor="t">
            <a:normAutofit/>
          </a:bodyPr>
          <a:lstStyle/>
          <a:p>
            <a:pPr algn="l" indent="0" marL="0">
              <a:lnSpc>
                <a:spcPts val="1664"/>
              </a:lnSpc>
              <a:buNone/>
            </a:pPr>
            <a:r>
              <a:rPr lang="en-US" sz="1189" dirty="0">
                <a:solidFill>
                  <a:srgbClr val="16182B"/>
                </a:solidFill>
                <a:latin typeface="IBM Plex Sans" pitchFamily="34" charset="0"/>
                <a:ea typeface="IBM Plex Sans" pitchFamily="34" charset="-122"/>
                <a:cs typeface="IBM Plex Sans" pitchFamily="34" charset="-120"/>
              </a:rPr>
              <a:t>Groq returns the products and pack sizes as JSON; without a key, rules read the caption</a:t>
            </a:r>
            <a:endParaRPr lang="en-US" sz="1189" dirty="0"/>
          </a:p>
        </p:txBody>
      </p:sp>
      <p:sp>
        <p:nvSpPr>
          <p:cNvPr id="29" name="Shape 27"/>
          <p:cNvSpPr/>
          <p:nvPr/>
        </p:nvSpPr>
        <p:spPr>
          <a:xfrm>
            <a:off x="6254750" y="3917950"/>
            <a:ext cx="2171700" cy="1435100"/>
          </a:xfrm>
          <a:prstGeom prst="roundRect">
            <a:avLst>
              <a:gd name="adj" fmla="val 6637"/>
            </a:avLst>
          </a:prstGeom>
          <a:solidFill>
            <a:srgbClr val="FDFCF9"/>
          </a:solidFill>
          <a:ln w="12700">
            <a:solidFill>
              <a:srgbClr val="C5C8D4"/>
            </a:solidFill>
            <a:prstDash val="solid"/>
          </a:ln>
        </p:spPr>
      </p:sp>
      <p:sp>
        <p:nvSpPr>
          <p:cNvPr id="30" name="Text 28"/>
          <p:cNvSpPr/>
          <p:nvPr/>
        </p:nvSpPr>
        <p:spPr>
          <a:xfrm>
            <a:off x="6413500" y="4076700"/>
            <a:ext cx="1909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06 link_catalog</a:t>
            </a:r>
            <a:endParaRPr lang="en-US" sz="1200" dirty="0"/>
          </a:p>
        </p:txBody>
      </p:sp>
      <p:sp>
        <p:nvSpPr>
          <p:cNvPr id="31" name="Text 29"/>
          <p:cNvSpPr/>
          <p:nvPr/>
        </p:nvSpPr>
        <p:spPr>
          <a:xfrm>
            <a:off x="6413500" y="4340820"/>
            <a:ext cx="190982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Each name → hybrid search over the 27 products; kept when confidence ≥ 0.72</a:t>
            </a:r>
            <a:endParaRPr lang="en-US" sz="1200" dirty="0"/>
          </a:p>
        </p:txBody>
      </p:sp>
      <p:sp>
        <p:nvSpPr>
          <p:cNvPr id="32" name="Shape 30"/>
          <p:cNvSpPr/>
          <p:nvPr/>
        </p:nvSpPr>
        <p:spPr>
          <a:xfrm>
            <a:off x="8896350" y="3917950"/>
            <a:ext cx="2171700" cy="1435100"/>
          </a:xfrm>
          <a:prstGeom prst="roundRect">
            <a:avLst>
              <a:gd name="adj" fmla="val 6637"/>
            </a:avLst>
          </a:prstGeom>
          <a:solidFill>
            <a:srgbClr val="FDFCF9"/>
          </a:solidFill>
          <a:ln w="12700">
            <a:solidFill>
              <a:srgbClr val="C5C8D4"/>
            </a:solidFill>
            <a:prstDash val="solid"/>
          </a:ln>
        </p:spPr>
      </p:sp>
      <p:sp>
        <p:nvSpPr>
          <p:cNvPr id="33" name="Text 31"/>
          <p:cNvSpPr/>
          <p:nvPr/>
        </p:nvSpPr>
        <p:spPr>
          <a:xfrm>
            <a:off x="9055100" y="4076700"/>
            <a:ext cx="1909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07 save_context</a:t>
            </a:r>
            <a:endParaRPr lang="en-US" sz="1200" dirty="0"/>
          </a:p>
        </p:txBody>
      </p:sp>
      <p:sp>
        <p:nvSpPr>
          <p:cNvPr id="34" name="Text 32"/>
          <p:cNvSpPr/>
          <p:nvPr/>
        </p:nvSpPr>
        <p:spPr>
          <a:xfrm>
            <a:off x="9055100" y="4340820"/>
            <a:ext cx="19098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Links saved with the post: Tahini 1.00 · Halawa 1.00. The team can edit them</a:t>
            </a:r>
            <a:endParaRPr lang="en-US" sz="1200" dirty="0"/>
          </a:p>
        </p:txBody>
      </p:sp>
      <p:pic>
        <p:nvPicPr>
          <p:cNvPr id="35" name="Image 0" descr="connector">    </p:cNvPr>
          <p:cNvPicPr>
            <a:picLocks noChangeAspect="1"/>
          </p:cNvPicPr>
          <p:nvPr/>
        </p:nvPicPr>
        <p:blipFill>
          <a:blip r:embed="rId2"/>
          <a:srcRect l="0" r="0" t="0" b="0"/>
          <a:stretch/>
        </p:blipFill>
        <p:spPr>
          <a:xfrm>
            <a:off x="3098800" y="2463800"/>
            <a:ext cx="558800" cy="101600"/>
          </a:xfrm>
          <a:prstGeom prst="rect">
            <a:avLst/>
          </a:prstGeom>
        </p:spPr>
      </p:pic>
      <p:pic>
        <p:nvPicPr>
          <p:cNvPr id="36" name="Image 1" descr="connector">    </p:cNvPr>
          <p:cNvPicPr>
            <a:picLocks noChangeAspect="1"/>
          </p:cNvPicPr>
          <p:nvPr/>
        </p:nvPicPr>
        <p:blipFill>
          <a:blip r:embed="rId3"/>
          <a:srcRect l="0" r="0" t="0" b="0"/>
          <a:stretch/>
        </p:blipFill>
        <p:spPr>
          <a:xfrm>
            <a:off x="5740400" y="2463800"/>
            <a:ext cx="558800" cy="101600"/>
          </a:xfrm>
          <a:prstGeom prst="rect">
            <a:avLst/>
          </a:prstGeom>
        </p:spPr>
      </p:pic>
      <p:pic>
        <p:nvPicPr>
          <p:cNvPr id="37" name="Image 2" descr="connector">    </p:cNvPr>
          <p:cNvPicPr>
            <a:picLocks noChangeAspect="1"/>
          </p:cNvPicPr>
          <p:nvPr/>
        </p:nvPicPr>
        <p:blipFill>
          <a:blip r:embed="rId4"/>
          <a:srcRect l="0" r="0" t="0" b="0"/>
          <a:stretch/>
        </p:blipFill>
        <p:spPr>
          <a:xfrm>
            <a:off x="7289800" y="3098800"/>
            <a:ext cx="101600" cy="279400"/>
          </a:xfrm>
          <a:prstGeom prst="rect">
            <a:avLst/>
          </a:prstGeom>
        </p:spPr>
      </p:pic>
      <p:pic>
        <p:nvPicPr>
          <p:cNvPr id="38" name="Image 3" descr="connector">    </p:cNvPr>
          <p:cNvPicPr>
            <a:picLocks noChangeAspect="1"/>
          </p:cNvPicPr>
          <p:nvPr/>
        </p:nvPicPr>
        <p:blipFill>
          <a:blip r:embed="rId5"/>
          <a:srcRect l="0" r="0" t="0" b="0"/>
          <a:stretch/>
        </p:blipFill>
        <p:spPr>
          <a:xfrm>
            <a:off x="2006600" y="3276600"/>
            <a:ext cx="5384800" cy="101600"/>
          </a:xfrm>
          <a:prstGeom prst="rect">
            <a:avLst/>
          </a:prstGeom>
        </p:spPr>
      </p:pic>
      <p:pic>
        <p:nvPicPr>
          <p:cNvPr id="39" name="Image 4" descr="connector">    </p:cNvPr>
          <p:cNvPicPr>
            <a:picLocks noChangeAspect="1"/>
          </p:cNvPicPr>
          <p:nvPr/>
        </p:nvPicPr>
        <p:blipFill>
          <a:blip r:embed="rId6"/>
          <a:srcRect l="0" r="0" t="0" b="0"/>
          <a:stretch/>
        </p:blipFill>
        <p:spPr>
          <a:xfrm>
            <a:off x="2006600" y="3276600"/>
            <a:ext cx="101600" cy="685800"/>
          </a:xfrm>
          <a:prstGeom prst="rect">
            <a:avLst/>
          </a:prstGeom>
        </p:spPr>
      </p:pic>
      <p:pic>
        <p:nvPicPr>
          <p:cNvPr id="40" name="Image 5" descr="connector">    </p:cNvPr>
          <p:cNvPicPr>
            <a:picLocks noChangeAspect="1"/>
          </p:cNvPicPr>
          <p:nvPr/>
        </p:nvPicPr>
        <p:blipFill>
          <a:blip r:embed="rId7"/>
          <a:srcRect l="0" r="0" t="0" b="0"/>
          <a:stretch/>
        </p:blipFill>
        <p:spPr>
          <a:xfrm>
            <a:off x="3098800" y="4584700"/>
            <a:ext cx="558800" cy="101600"/>
          </a:xfrm>
          <a:prstGeom prst="rect">
            <a:avLst/>
          </a:prstGeom>
        </p:spPr>
      </p:pic>
      <p:pic>
        <p:nvPicPr>
          <p:cNvPr id="41" name="Image 6" descr="connector">    </p:cNvPr>
          <p:cNvPicPr>
            <a:picLocks noChangeAspect="1"/>
          </p:cNvPicPr>
          <p:nvPr/>
        </p:nvPicPr>
        <p:blipFill>
          <a:blip r:embed="rId8"/>
          <a:srcRect l="0" r="0" t="0" b="0"/>
          <a:stretch/>
        </p:blipFill>
        <p:spPr>
          <a:xfrm>
            <a:off x="5740400" y="4584700"/>
            <a:ext cx="558800" cy="101600"/>
          </a:xfrm>
          <a:prstGeom prst="rect">
            <a:avLst/>
          </a:prstGeom>
        </p:spPr>
      </p:pic>
      <p:pic>
        <p:nvPicPr>
          <p:cNvPr id="42" name="Image 7" descr="connector">    </p:cNvPr>
          <p:cNvPicPr>
            <a:picLocks noChangeAspect="1"/>
          </p:cNvPicPr>
          <p:nvPr/>
        </p:nvPicPr>
        <p:blipFill>
          <a:blip r:embed="rId9"/>
          <a:srcRect l="0" r="0" t="0" b="0"/>
          <a:stretch/>
        </p:blipFill>
        <p:spPr>
          <a:xfrm>
            <a:off x="8382000" y="4584700"/>
            <a:ext cx="558800" cy="101600"/>
          </a:xfrm>
          <a:prstGeom prst="rect">
            <a:avLst/>
          </a:prstGeom>
        </p:spPr>
      </p:pic>
      <p:pic>
        <p:nvPicPr>
          <p:cNvPr id="43" name="Image 8" descr="connector">    </p:cNvPr>
          <p:cNvPicPr>
            <a:picLocks noChangeAspect="1"/>
          </p:cNvPicPr>
          <p:nvPr/>
        </p:nvPicPr>
        <p:blipFill>
          <a:blip r:embed="rId10"/>
          <a:srcRect l="0" r="0" t="0" b="0"/>
          <a:stretch/>
        </p:blipFill>
        <p:spPr>
          <a:xfrm>
            <a:off x="9931400" y="3098800"/>
            <a:ext cx="101600" cy="863600"/>
          </a:xfrm>
          <a:prstGeom prst="rect">
            <a:avLst/>
          </a:prstGeom>
        </p:spPr>
      </p:pic>
      <p:sp>
        <p:nvSpPr>
          <p:cNvPr id="44" name="Text 33"/>
          <p:cNvSpPr/>
          <p:nvPr/>
        </p:nvSpPr>
        <p:spPr>
          <a:xfrm>
            <a:off x="812800" y="558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The post itself is not added to the index: its products are linked to catalog entries, and the link is stored with the post.</a:t>
            </a:r>
            <a:endParaRPr lang="en-US" sz="1200" dirty="0"/>
          </a:p>
        </p:txBody>
      </p:sp>
      <p:sp>
        <p:nvSpPr>
          <p:cNvPr id="45" name="Text 34"/>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46" name="Text 35"/>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07 / 22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PATH 3 OF 3 · A COMMENT</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From a comment to a reply on the feed</a:t>
            </a:r>
            <a:endParaRPr lang="en-US" sz="3200" dirty="0"/>
          </a:p>
        </p:txBody>
      </p:sp>
      <p:sp>
        <p:nvSpPr>
          <p:cNvPr id="4" name="Text 2"/>
          <p:cNvSpPr/>
          <p:nvPr/>
        </p:nvSpPr>
        <p:spPr>
          <a:xfrm>
            <a:off x="7978140" y="812800"/>
            <a:ext cx="3401060" cy="238720"/>
          </a:xfrm>
          <a:prstGeom prst="rect">
            <a:avLst/>
          </a:prstGeom>
          <a:noFill/>
          <a:ln/>
        </p:spPr>
        <p:txBody>
          <a:bodyPr wrap="square" lIns="0" tIns="0" rIns="0" bIns="0" rtlCol="0" anchor="t">
            <a:normAutofit/>
          </a:bodyPr>
          <a:lstStyle/>
          <a:p>
            <a:pPr algn="r" indent="0" marL="0">
              <a:lnSpc>
                <a:spcPts val="1680"/>
              </a:lnSpc>
              <a:buNone/>
            </a:pPr>
            <a:r>
              <a:rPr lang="en-US" sz="1200" u="sng" dirty="0">
                <a:solidFill>
                  <a:srgbClr val="4C3FD1"/>
                </a:solidFill>
                <a:latin typeface="JetBrains Mono" pitchFamily="49" charset="0"/>
                <a:ea typeface="JetBrains Mono" pitchFamily="49" charset="-122"/>
                <a:cs typeface="JetBrains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Open it in the explorer ↗</a:t>
            </a:r>
            <a:endParaRPr lang="en-US" sz="1200" dirty="0"/>
          </a:p>
        </p:txBody>
      </p:sp>
      <p:sp>
        <p:nvSpPr>
          <p:cNvPr id="5" name="Shape 3"/>
          <p:cNvSpPr/>
          <p:nvPr/>
        </p:nvSpPr>
        <p:spPr>
          <a:xfrm>
            <a:off x="812800" y="1778000"/>
            <a:ext cx="10566400" cy="952500"/>
          </a:xfrm>
          <a:prstGeom prst="roundRect">
            <a:avLst>
              <a:gd name="adj" fmla="val 8000"/>
            </a:avLst>
          </a:prstGeom>
          <a:solidFill>
            <a:srgbClr val="ECEAE3"/>
          </a:solidFill>
          <a:ln/>
        </p:spPr>
      </p:sp>
      <p:sp>
        <p:nvSpPr>
          <p:cNvPr id="6" name="Shape 4"/>
          <p:cNvSpPr/>
          <p:nvPr/>
        </p:nvSpPr>
        <p:spPr>
          <a:xfrm>
            <a:off x="812800" y="2794000"/>
            <a:ext cx="10566400" cy="952500"/>
          </a:xfrm>
          <a:prstGeom prst="roundRect">
            <a:avLst>
              <a:gd name="adj" fmla="val 8000"/>
            </a:avLst>
          </a:prstGeom>
          <a:solidFill>
            <a:srgbClr val="EFEDE6"/>
          </a:solidFill>
          <a:ln/>
        </p:spPr>
      </p:sp>
      <p:sp>
        <p:nvSpPr>
          <p:cNvPr id="7" name="Shape 5"/>
          <p:cNvSpPr/>
          <p:nvPr/>
        </p:nvSpPr>
        <p:spPr>
          <a:xfrm>
            <a:off x="812800" y="3810000"/>
            <a:ext cx="10566400" cy="952500"/>
          </a:xfrm>
          <a:prstGeom prst="roundRect">
            <a:avLst>
              <a:gd name="adj" fmla="val 8000"/>
            </a:avLst>
          </a:prstGeom>
          <a:solidFill>
            <a:srgbClr val="E4E1FA"/>
          </a:solidFill>
          <a:ln/>
        </p:spPr>
      </p:sp>
      <p:sp>
        <p:nvSpPr>
          <p:cNvPr id="8" name="Shape 6"/>
          <p:cNvSpPr/>
          <p:nvPr/>
        </p:nvSpPr>
        <p:spPr>
          <a:xfrm>
            <a:off x="812800" y="4826000"/>
            <a:ext cx="10566400" cy="952500"/>
          </a:xfrm>
          <a:prstGeom prst="roundRect">
            <a:avLst>
              <a:gd name="adj" fmla="val 8000"/>
            </a:avLst>
          </a:prstGeom>
          <a:solidFill>
            <a:srgbClr val="ECEAE3"/>
          </a:solidFill>
          <a:ln/>
        </p:spPr>
      </p:sp>
      <p:sp>
        <p:nvSpPr>
          <p:cNvPr id="9" name="Text 7"/>
          <p:cNvSpPr/>
          <p:nvPr/>
        </p:nvSpPr>
        <p:spPr>
          <a:xfrm>
            <a:off x="965200" y="2146300"/>
            <a:ext cx="1168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2667C"/>
                </a:solidFill>
                <a:latin typeface="JetBrains Mono" pitchFamily="49" charset="0"/>
                <a:ea typeface="JetBrains Mono" pitchFamily="49" charset="-122"/>
                <a:cs typeface="JetBrains Mono" pitchFamily="49" charset="-120"/>
              </a:rPr>
              <a:t>CUSTOMER</a:t>
            </a:r>
            <a:endParaRPr lang="en-US" sz="1200" dirty="0"/>
          </a:p>
        </p:txBody>
      </p:sp>
      <p:sp>
        <p:nvSpPr>
          <p:cNvPr id="10" name="Text 8"/>
          <p:cNvSpPr/>
          <p:nvPr/>
        </p:nvSpPr>
        <p:spPr>
          <a:xfrm>
            <a:off x="965200" y="3162300"/>
            <a:ext cx="1168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2667C"/>
                </a:solidFill>
                <a:latin typeface="JetBrains Mono" pitchFamily="49" charset="0"/>
                <a:ea typeface="JetBrains Mono" pitchFamily="49" charset="-122"/>
                <a:cs typeface="JetBrains Mono" pitchFamily="49" charset="-120"/>
              </a:rPr>
              <a:t>BACKEND</a:t>
            </a:r>
            <a:endParaRPr lang="en-US" sz="1200" dirty="0"/>
          </a:p>
        </p:txBody>
      </p:sp>
      <p:sp>
        <p:nvSpPr>
          <p:cNvPr id="11" name="Text 9"/>
          <p:cNvSpPr/>
          <p:nvPr/>
        </p:nvSpPr>
        <p:spPr>
          <a:xfrm>
            <a:off x="965200" y="4178300"/>
            <a:ext cx="1168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C3FD1"/>
                </a:solidFill>
                <a:latin typeface="JetBrains Mono" pitchFamily="49" charset="0"/>
                <a:ea typeface="JetBrains Mono" pitchFamily="49" charset="-122"/>
                <a:cs typeface="JetBrains Mono" pitchFamily="49" charset="-120"/>
              </a:rPr>
              <a:t>LANGGRAPH</a:t>
            </a:r>
            <a:endParaRPr lang="en-US" sz="1200" dirty="0"/>
          </a:p>
        </p:txBody>
      </p:sp>
      <p:sp>
        <p:nvSpPr>
          <p:cNvPr id="12" name="Text 10"/>
          <p:cNvSpPr/>
          <p:nvPr/>
        </p:nvSpPr>
        <p:spPr>
          <a:xfrm>
            <a:off x="965200" y="5194300"/>
            <a:ext cx="1168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2667C"/>
                </a:solidFill>
                <a:latin typeface="JetBrains Mono" pitchFamily="49" charset="0"/>
                <a:ea typeface="JetBrains Mono" pitchFamily="49" charset="-122"/>
                <a:cs typeface="JetBrains Mono" pitchFamily="49" charset="-120"/>
              </a:rPr>
              <a:t>TEAM</a:t>
            </a:r>
            <a:endParaRPr lang="en-US" sz="1200" dirty="0"/>
          </a:p>
        </p:txBody>
      </p:sp>
      <p:sp>
        <p:nvSpPr>
          <p:cNvPr id="13" name="Shape 11"/>
          <p:cNvSpPr/>
          <p:nvPr/>
        </p:nvSpPr>
        <p:spPr>
          <a:xfrm>
            <a:off x="2241550" y="1835150"/>
            <a:ext cx="1955800" cy="838200"/>
          </a:xfrm>
          <a:prstGeom prst="roundRect">
            <a:avLst>
              <a:gd name="adj" fmla="val 8333"/>
            </a:avLst>
          </a:prstGeom>
          <a:solidFill>
            <a:srgbClr val="FDFCF9"/>
          </a:solidFill>
          <a:ln w="12700">
            <a:solidFill>
              <a:srgbClr val="D9D6CC"/>
            </a:solidFill>
            <a:prstDash val="solid"/>
          </a:ln>
        </p:spPr>
      </p:sp>
      <p:sp>
        <p:nvSpPr>
          <p:cNvPr id="14" name="Text 12"/>
          <p:cNvSpPr/>
          <p:nvPr/>
        </p:nvSpPr>
        <p:spPr>
          <a:xfrm>
            <a:off x="2349500" y="1917700"/>
            <a:ext cx="17920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82B"/>
                </a:solidFill>
                <a:latin typeface="Space Grotesk" pitchFamily="34" charset="0"/>
                <a:ea typeface="Space Grotesk" pitchFamily="34" charset="-122"/>
                <a:cs typeface="Space Grotesk" pitchFamily="34" charset="-120"/>
              </a:rPr>
              <a:t>1 · Comment posted</a:t>
            </a:r>
            <a:endParaRPr lang="en-US" sz="1200" dirty="0"/>
          </a:p>
        </p:txBody>
      </p:sp>
      <p:sp>
        <p:nvSpPr>
          <p:cNvPr id="15" name="Text 13"/>
          <p:cNvSpPr/>
          <p:nvPr/>
        </p:nvSpPr>
        <p:spPr>
          <a:xfrm>
            <a:off x="2349500" y="2143720"/>
            <a:ext cx="17920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زيت زيتوون بالزرقا متوفر؟</a:t>
            </a:r>
            <a:endParaRPr lang="en-US" sz="1200" dirty="0"/>
          </a:p>
        </p:txBody>
      </p:sp>
      <p:sp>
        <p:nvSpPr>
          <p:cNvPr id="16" name="Shape 14"/>
          <p:cNvSpPr/>
          <p:nvPr/>
        </p:nvSpPr>
        <p:spPr>
          <a:xfrm>
            <a:off x="2241550" y="2851150"/>
            <a:ext cx="1955800" cy="838200"/>
          </a:xfrm>
          <a:prstGeom prst="roundRect">
            <a:avLst>
              <a:gd name="adj" fmla="val 8333"/>
            </a:avLst>
          </a:prstGeom>
          <a:solidFill>
            <a:srgbClr val="FDFCF9"/>
          </a:solidFill>
          <a:ln w="12700">
            <a:solidFill>
              <a:srgbClr val="D9D6CC"/>
            </a:solidFill>
            <a:prstDash val="solid"/>
          </a:ln>
        </p:spPr>
      </p:sp>
      <p:sp>
        <p:nvSpPr>
          <p:cNvPr id="17" name="Text 15"/>
          <p:cNvSpPr/>
          <p:nvPr/>
        </p:nvSpPr>
        <p:spPr>
          <a:xfrm>
            <a:off x="2349500" y="2933700"/>
            <a:ext cx="17920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82B"/>
                </a:solidFill>
                <a:latin typeface="Space Grotesk" pitchFamily="34" charset="0"/>
                <a:ea typeface="Space Grotesk" pitchFamily="34" charset="-122"/>
                <a:cs typeface="Space Grotesk" pitchFamily="34" charset="-120"/>
              </a:rPr>
              <a:t>2 · Saved</a:t>
            </a:r>
            <a:endParaRPr lang="en-US" sz="1200" dirty="0"/>
          </a:p>
        </p:txBody>
      </p:sp>
      <p:sp>
        <p:nvSpPr>
          <p:cNvPr id="18" name="Text 16"/>
          <p:cNvSpPr/>
          <p:nvPr/>
        </p:nvSpPr>
        <p:spPr>
          <a:xfrm>
            <a:off x="2349500" y="3159720"/>
            <a:ext cx="179209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the comment and an empty draft</a:t>
            </a:r>
            <a:endParaRPr lang="en-US" sz="1200" dirty="0"/>
          </a:p>
        </p:txBody>
      </p:sp>
      <p:sp>
        <p:nvSpPr>
          <p:cNvPr id="19" name="Shape 17"/>
          <p:cNvSpPr/>
          <p:nvPr/>
        </p:nvSpPr>
        <p:spPr>
          <a:xfrm>
            <a:off x="4527550" y="2851150"/>
            <a:ext cx="1955800" cy="838200"/>
          </a:xfrm>
          <a:prstGeom prst="roundRect">
            <a:avLst>
              <a:gd name="adj" fmla="val 8333"/>
            </a:avLst>
          </a:prstGeom>
          <a:solidFill>
            <a:srgbClr val="FDFCF9"/>
          </a:solidFill>
          <a:ln w="12700">
            <a:solidFill>
              <a:srgbClr val="D9D6CC"/>
            </a:solidFill>
            <a:prstDash val="solid"/>
          </a:ln>
        </p:spPr>
      </p:sp>
      <p:sp>
        <p:nvSpPr>
          <p:cNvPr id="20" name="Text 18"/>
          <p:cNvSpPr/>
          <p:nvPr/>
        </p:nvSpPr>
        <p:spPr>
          <a:xfrm>
            <a:off x="4635500" y="2933700"/>
            <a:ext cx="17920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82B"/>
                </a:solidFill>
                <a:latin typeface="Space Grotesk" pitchFamily="34" charset="0"/>
                <a:ea typeface="Space Grotesk" pitchFamily="34" charset="-122"/>
                <a:cs typeface="Space Grotesk" pitchFamily="34" charset="-120"/>
              </a:rPr>
              <a:t>3 · Job starts</a:t>
            </a:r>
            <a:endParaRPr lang="en-US" sz="1200" dirty="0"/>
          </a:p>
        </p:txBody>
      </p:sp>
      <p:sp>
        <p:nvSpPr>
          <p:cNvPr id="21" name="Text 19"/>
          <p:cNvSpPr/>
          <p:nvPr/>
        </p:nvSpPr>
        <p:spPr>
          <a:xfrm>
            <a:off x="4635500" y="3159720"/>
            <a:ext cx="179209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answers 202 at once, then works</a:t>
            </a:r>
            <a:endParaRPr lang="en-US" sz="1200" dirty="0"/>
          </a:p>
        </p:txBody>
      </p:sp>
      <p:sp>
        <p:nvSpPr>
          <p:cNvPr id="22" name="Shape 20"/>
          <p:cNvSpPr/>
          <p:nvPr/>
        </p:nvSpPr>
        <p:spPr>
          <a:xfrm>
            <a:off x="4530725" y="3870325"/>
            <a:ext cx="1949450" cy="831850"/>
          </a:xfrm>
          <a:prstGeom prst="roundRect">
            <a:avLst>
              <a:gd name="adj" fmla="val 8015"/>
            </a:avLst>
          </a:prstGeom>
          <a:solidFill>
            <a:srgbClr val="FDFCF9"/>
          </a:solidFill>
          <a:ln w="19050">
            <a:solidFill>
              <a:srgbClr val="4C3FD1"/>
            </a:solidFill>
            <a:prstDash val="solid"/>
          </a:ln>
        </p:spPr>
      </p:sp>
      <p:sp>
        <p:nvSpPr>
          <p:cNvPr id="23" name="Text 21"/>
          <p:cNvSpPr/>
          <p:nvPr/>
        </p:nvSpPr>
        <p:spPr>
          <a:xfrm>
            <a:off x="4641850" y="3956050"/>
            <a:ext cx="17790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82B"/>
                </a:solidFill>
                <a:latin typeface="Space Grotesk" pitchFamily="34" charset="0"/>
                <a:ea typeface="Space Grotesk" pitchFamily="34" charset="-122"/>
                <a:cs typeface="Space Grotesk" pitchFamily="34" charset="-120"/>
              </a:rPr>
              <a:t>4 · Ask graph runs</a:t>
            </a:r>
            <a:endParaRPr lang="en-US" sz="1200" dirty="0"/>
          </a:p>
        </p:txBody>
      </p:sp>
      <p:sp>
        <p:nvSpPr>
          <p:cNvPr id="24" name="Text 22"/>
          <p:cNvSpPr/>
          <p:nvPr/>
        </p:nvSpPr>
        <p:spPr>
          <a:xfrm>
            <a:off x="4641850" y="4182070"/>
            <a:ext cx="17790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11 nodes, on the next slide</a:t>
            </a:r>
            <a:endParaRPr lang="en-US" sz="1200" dirty="0"/>
          </a:p>
        </p:txBody>
      </p:sp>
      <p:sp>
        <p:nvSpPr>
          <p:cNvPr id="25" name="Shape 23"/>
          <p:cNvSpPr/>
          <p:nvPr/>
        </p:nvSpPr>
        <p:spPr>
          <a:xfrm>
            <a:off x="6813550" y="3867150"/>
            <a:ext cx="1955800" cy="838200"/>
          </a:xfrm>
          <a:prstGeom prst="roundRect">
            <a:avLst>
              <a:gd name="adj" fmla="val 8333"/>
            </a:avLst>
          </a:prstGeom>
          <a:solidFill>
            <a:srgbClr val="FDFCF9"/>
          </a:solidFill>
          <a:ln w="12700">
            <a:solidFill>
              <a:srgbClr val="D9D6CC"/>
            </a:solidFill>
            <a:prstDash val="solid"/>
          </a:ln>
        </p:spPr>
      </p:sp>
      <p:sp>
        <p:nvSpPr>
          <p:cNvPr id="26" name="Text 24"/>
          <p:cNvSpPr/>
          <p:nvPr/>
        </p:nvSpPr>
        <p:spPr>
          <a:xfrm>
            <a:off x="6921500" y="3949700"/>
            <a:ext cx="17920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82B"/>
                </a:solidFill>
                <a:latin typeface="Space Grotesk" pitchFamily="34" charset="0"/>
                <a:ea typeface="Space Grotesk" pitchFamily="34" charset="-122"/>
                <a:cs typeface="Space Grotesk" pitchFamily="34" charset="-120"/>
              </a:rPr>
              <a:t>5 · Draft saved</a:t>
            </a:r>
            <a:endParaRPr lang="en-US" sz="1200" dirty="0"/>
          </a:p>
        </p:txBody>
      </p:sp>
      <p:sp>
        <p:nvSpPr>
          <p:cNvPr id="27" name="Text 25"/>
          <p:cNvSpPr/>
          <p:nvPr/>
        </p:nvSpPr>
        <p:spPr>
          <a:xfrm>
            <a:off x="6921500" y="4175720"/>
            <a:ext cx="179209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with the shops and dates it used</a:t>
            </a:r>
            <a:endParaRPr lang="en-US" sz="1200" dirty="0"/>
          </a:p>
        </p:txBody>
      </p:sp>
      <p:sp>
        <p:nvSpPr>
          <p:cNvPr id="28" name="Shape 26"/>
          <p:cNvSpPr/>
          <p:nvPr/>
        </p:nvSpPr>
        <p:spPr>
          <a:xfrm>
            <a:off x="6813550" y="4883150"/>
            <a:ext cx="1955800" cy="838200"/>
          </a:xfrm>
          <a:prstGeom prst="roundRect">
            <a:avLst>
              <a:gd name="adj" fmla="val 8333"/>
            </a:avLst>
          </a:prstGeom>
          <a:solidFill>
            <a:srgbClr val="FDFCF9"/>
          </a:solidFill>
          <a:ln w="12700">
            <a:solidFill>
              <a:srgbClr val="D9D6CC"/>
            </a:solidFill>
            <a:prstDash val="solid"/>
          </a:ln>
        </p:spPr>
      </p:sp>
      <p:sp>
        <p:nvSpPr>
          <p:cNvPr id="29" name="Text 27"/>
          <p:cNvSpPr/>
          <p:nvPr/>
        </p:nvSpPr>
        <p:spPr>
          <a:xfrm>
            <a:off x="6921500" y="4965700"/>
            <a:ext cx="17920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82B"/>
                </a:solidFill>
                <a:latin typeface="Space Grotesk" pitchFamily="34" charset="0"/>
                <a:ea typeface="Space Grotesk" pitchFamily="34" charset="-122"/>
                <a:cs typeface="Space Grotesk" pitchFamily="34" charset="-120"/>
              </a:rPr>
              <a:t>6 · Team sees it</a:t>
            </a:r>
            <a:endParaRPr lang="en-US" sz="1200" dirty="0"/>
          </a:p>
        </p:txBody>
      </p:sp>
      <p:sp>
        <p:nvSpPr>
          <p:cNvPr id="30" name="Text 28"/>
          <p:cNvSpPr/>
          <p:nvPr/>
        </p:nvSpPr>
        <p:spPr>
          <a:xfrm>
            <a:off x="6921500" y="5191720"/>
            <a:ext cx="179209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the console checks every 3 s</a:t>
            </a:r>
            <a:endParaRPr lang="en-US" sz="1200" dirty="0"/>
          </a:p>
        </p:txBody>
      </p:sp>
      <p:sp>
        <p:nvSpPr>
          <p:cNvPr id="31" name="Shape 29"/>
          <p:cNvSpPr/>
          <p:nvPr/>
        </p:nvSpPr>
        <p:spPr>
          <a:xfrm>
            <a:off x="9099550" y="4883150"/>
            <a:ext cx="1955800" cy="838200"/>
          </a:xfrm>
          <a:prstGeom prst="roundRect">
            <a:avLst>
              <a:gd name="adj" fmla="val 8333"/>
            </a:avLst>
          </a:prstGeom>
          <a:solidFill>
            <a:srgbClr val="FDFCF9"/>
          </a:solidFill>
          <a:ln w="12700">
            <a:solidFill>
              <a:srgbClr val="D9D6CC"/>
            </a:solidFill>
            <a:prstDash val="solid"/>
          </a:ln>
        </p:spPr>
      </p:sp>
      <p:sp>
        <p:nvSpPr>
          <p:cNvPr id="32" name="Text 30"/>
          <p:cNvSpPr/>
          <p:nvPr/>
        </p:nvSpPr>
        <p:spPr>
          <a:xfrm>
            <a:off x="9207500" y="4965700"/>
            <a:ext cx="17920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82B"/>
                </a:solidFill>
                <a:latin typeface="Space Grotesk" pitchFamily="34" charset="0"/>
                <a:ea typeface="Space Grotesk" pitchFamily="34" charset="-122"/>
                <a:cs typeface="Space Grotesk" pitchFamily="34" charset="-120"/>
              </a:rPr>
              <a:t>7 · Reply now</a:t>
            </a:r>
            <a:endParaRPr lang="en-US" sz="1200" dirty="0"/>
          </a:p>
        </p:txBody>
      </p:sp>
      <p:sp>
        <p:nvSpPr>
          <p:cNvPr id="33" name="Text 31"/>
          <p:cNvSpPr/>
          <p:nvPr/>
        </p:nvSpPr>
        <p:spPr>
          <a:xfrm>
            <a:off x="9207500" y="5191720"/>
            <a:ext cx="17920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or Edit, or pick an option</a:t>
            </a:r>
            <a:endParaRPr lang="en-US" sz="1200" dirty="0"/>
          </a:p>
        </p:txBody>
      </p:sp>
      <p:sp>
        <p:nvSpPr>
          <p:cNvPr id="34" name="Shape 32"/>
          <p:cNvSpPr/>
          <p:nvPr/>
        </p:nvSpPr>
        <p:spPr>
          <a:xfrm>
            <a:off x="9099550" y="2851150"/>
            <a:ext cx="1955800" cy="838200"/>
          </a:xfrm>
          <a:prstGeom prst="roundRect">
            <a:avLst>
              <a:gd name="adj" fmla="val 8333"/>
            </a:avLst>
          </a:prstGeom>
          <a:solidFill>
            <a:srgbClr val="FDFCF9"/>
          </a:solidFill>
          <a:ln w="12700">
            <a:solidFill>
              <a:srgbClr val="D9D6CC"/>
            </a:solidFill>
            <a:prstDash val="solid"/>
          </a:ln>
        </p:spPr>
      </p:sp>
      <p:sp>
        <p:nvSpPr>
          <p:cNvPr id="35" name="Text 33"/>
          <p:cNvSpPr/>
          <p:nvPr/>
        </p:nvSpPr>
        <p:spPr>
          <a:xfrm>
            <a:off x="9207500" y="2933700"/>
            <a:ext cx="17920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82B"/>
                </a:solidFill>
                <a:latin typeface="Space Grotesk" pitchFamily="34" charset="0"/>
                <a:ea typeface="Space Grotesk" pitchFamily="34" charset="-122"/>
                <a:cs typeface="Space Grotesk" pitchFamily="34" charset="-120"/>
              </a:rPr>
              <a:t>8 · Reply saved</a:t>
            </a:r>
            <a:endParaRPr lang="en-US" sz="1200" dirty="0"/>
          </a:p>
        </p:txBody>
      </p:sp>
      <p:sp>
        <p:nvSpPr>
          <p:cNvPr id="36" name="Text 34"/>
          <p:cNvSpPr/>
          <p:nvPr/>
        </p:nvSpPr>
        <p:spPr>
          <a:xfrm>
            <a:off x="9207500" y="3159720"/>
            <a:ext cx="17920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POST /api/reply</a:t>
            </a:r>
            <a:endParaRPr lang="en-US" sz="1200" dirty="0"/>
          </a:p>
        </p:txBody>
      </p:sp>
      <p:sp>
        <p:nvSpPr>
          <p:cNvPr id="37" name="Shape 35"/>
          <p:cNvSpPr/>
          <p:nvPr/>
        </p:nvSpPr>
        <p:spPr>
          <a:xfrm>
            <a:off x="9099550" y="1835150"/>
            <a:ext cx="1955800" cy="838200"/>
          </a:xfrm>
          <a:prstGeom prst="roundRect">
            <a:avLst>
              <a:gd name="adj" fmla="val 8333"/>
            </a:avLst>
          </a:prstGeom>
          <a:solidFill>
            <a:srgbClr val="FDFCF9"/>
          </a:solidFill>
          <a:ln w="12700">
            <a:solidFill>
              <a:srgbClr val="D9D6CC"/>
            </a:solidFill>
            <a:prstDash val="solid"/>
          </a:ln>
        </p:spPr>
      </p:sp>
      <p:sp>
        <p:nvSpPr>
          <p:cNvPr id="38" name="Text 36"/>
          <p:cNvSpPr/>
          <p:nvPr/>
        </p:nvSpPr>
        <p:spPr>
          <a:xfrm>
            <a:off x="9207500" y="1917700"/>
            <a:ext cx="17920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82B"/>
                </a:solidFill>
                <a:latin typeface="Space Grotesk" pitchFamily="34" charset="0"/>
                <a:ea typeface="Space Grotesk" pitchFamily="34" charset="-122"/>
                <a:cs typeface="Space Grotesk" pitchFamily="34" charset="-120"/>
              </a:rPr>
              <a:t>9 · Reply shown</a:t>
            </a:r>
            <a:endParaRPr lang="en-US" sz="1200" dirty="0"/>
          </a:p>
        </p:txBody>
      </p:sp>
      <p:sp>
        <p:nvSpPr>
          <p:cNvPr id="39" name="Text 37"/>
          <p:cNvSpPr/>
          <p:nvPr/>
        </p:nvSpPr>
        <p:spPr>
          <a:xfrm>
            <a:off x="9207500" y="2143720"/>
            <a:ext cx="179209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under the comment, in seconds</a:t>
            </a:r>
            <a:endParaRPr lang="en-US" sz="1200" dirty="0"/>
          </a:p>
        </p:txBody>
      </p:sp>
      <p:pic>
        <p:nvPicPr>
          <p:cNvPr id="40" name="Image 0" descr="connector">    </p:cNvPr>
          <p:cNvPicPr>
            <a:picLocks noChangeAspect="1"/>
          </p:cNvPicPr>
          <p:nvPr/>
        </p:nvPicPr>
        <p:blipFill>
          <a:blip r:embed="rId2"/>
          <a:srcRect l="0" r="0" t="0" b="0"/>
          <a:stretch/>
        </p:blipFill>
        <p:spPr>
          <a:xfrm>
            <a:off x="3168650" y="2628900"/>
            <a:ext cx="101600" cy="266700"/>
          </a:xfrm>
          <a:prstGeom prst="rect">
            <a:avLst/>
          </a:prstGeom>
        </p:spPr>
      </p:pic>
      <p:pic>
        <p:nvPicPr>
          <p:cNvPr id="41" name="Image 1" descr="connector">    </p:cNvPr>
          <p:cNvPicPr>
            <a:picLocks noChangeAspect="1"/>
          </p:cNvPicPr>
          <p:nvPr/>
        </p:nvPicPr>
        <p:blipFill>
          <a:blip r:embed="rId3"/>
          <a:srcRect l="0" r="0" t="0" b="0"/>
          <a:stretch/>
        </p:blipFill>
        <p:spPr>
          <a:xfrm>
            <a:off x="4152900" y="3219450"/>
            <a:ext cx="419100" cy="101600"/>
          </a:xfrm>
          <a:prstGeom prst="rect">
            <a:avLst/>
          </a:prstGeom>
        </p:spPr>
      </p:pic>
      <p:pic>
        <p:nvPicPr>
          <p:cNvPr id="42" name="Image 2" descr="connector">    </p:cNvPr>
          <p:cNvPicPr>
            <a:picLocks noChangeAspect="1"/>
          </p:cNvPicPr>
          <p:nvPr/>
        </p:nvPicPr>
        <p:blipFill>
          <a:blip r:embed="rId4"/>
          <a:srcRect l="0" r="0" t="0" b="0"/>
          <a:stretch/>
        </p:blipFill>
        <p:spPr>
          <a:xfrm>
            <a:off x="5454650" y="3644900"/>
            <a:ext cx="101600" cy="266700"/>
          </a:xfrm>
          <a:prstGeom prst="rect">
            <a:avLst/>
          </a:prstGeom>
        </p:spPr>
      </p:pic>
      <p:pic>
        <p:nvPicPr>
          <p:cNvPr id="43" name="Image 3" descr="connector">    </p:cNvPr>
          <p:cNvPicPr>
            <a:picLocks noChangeAspect="1"/>
          </p:cNvPicPr>
          <p:nvPr/>
        </p:nvPicPr>
        <p:blipFill>
          <a:blip r:embed="rId5"/>
          <a:srcRect l="0" r="0" t="0" b="0"/>
          <a:stretch/>
        </p:blipFill>
        <p:spPr>
          <a:xfrm>
            <a:off x="6438900" y="4235450"/>
            <a:ext cx="419100" cy="101600"/>
          </a:xfrm>
          <a:prstGeom prst="rect">
            <a:avLst/>
          </a:prstGeom>
        </p:spPr>
      </p:pic>
      <p:pic>
        <p:nvPicPr>
          <p:cNvPr id="44" name="Image 4" descr="connector">    </p:cNvPr>
          <p:cNvPicPr>
            <a:picLocks noChangeAspect="1"/>
          </p:cNvPicPr>
          <p:nvPr/>
        </p:nvPicPr>
        <p:blipFill>
          <a:blip r:embed="rId6"/>
          <a:srcRect l="0" r="0" t="0" b="0"/>
          <a:stretch/>
        </p:blipFill>
        <p:spPr>
          <a:xfrm>
            <a:off x="7740650" y="4660900"/>
            <a:ext cx="101600" cy="266700"/>
          </a:xfrm>
          <a:prstGeom prst="rect">
            <a:avLst/>
          </a:prstGeom>
        </p:spPr>
      </p:pic>
      <p:pic>
        <p:nvPicPr>
          <p:cNvPr id="45" name="Image 5" descr="connector">    </p:cNvPr>
          <p:cNvPicPr>
            <a:picLocks noChangeAspect="1"/>
          </p:cNvPicPr>
          <p:nvPr/>
        </p:nvPicPr>
        <p:blipFill>
          <a:blip r:embed="rId7"/>
          <a:srcRect l="0" r="0" t="0" b="0"/>
          <a:stretch/>
        </p:blipFill>
        <p:spPr>
          <a:xfrm>
            <a:off x="8724900" y="5251450"/>
            <a:ext cx="419100" cy="101600"/>
          </a:xfrm>
          <a:prstGeom prst="rect">
            <a:avLst/>
          </a:prstGeom>
        </p:spPr>
      </p:pic>
      <p:pic>
        <p:nvPicPr>
          <p:cNvPr id="46" name="Image 6" descr="connector">    </p:cNvPr>
          <p:cNvPicPr>
            <a:picLocks noChangeAspect="1"/>
          </p:cNvPicPr>
          <p:nvPr/>
        </p:nvPicPr>
        <p:blipFill>
          <a:blip r:embed="rId8"/>
          <a:srcRect l="0" r="0" t="0" b="0"/>
          <a:stretch/>
        </p:blipFill>
        <p:spPr>
          <a:xfrm>
            <a:off x="10026650" y="3644900"/>
            <a:ext cx="101600" cy="1282700"/>
          </a:xfrm>
          <a:prstGeom prst="rect">
            <a:avLst/>
          </a:prstGeom>
        </p:spPr>
      </p:pic>
      <p:pic>
        <p:nvPicPr>
          <p:cNvPr id="47" name="Image 7" descr="connector">    </p:cNvPr>
          <p:cNvPicPr>
            <a:picLocks noChangeAspect="1"/>
          </p:cNvPicPr>
          <p:nvPr/>
        </p:nvPicPr>
        <p:blipFill>
          <a:blip r:embed="rId9"/>
          <a:srcRect l="0" r="0" t="0" b="0"/>
          <a:stretch/>
        </p:blipFill>
        <p:spPr>
          <a:xfrm>
            <a:off x="10026650" y="2628900"/>
            <a:ext cx="101600" cy="266700"/>
          </a:xfrm>
          <a:prstGeom prst="rect">
            <a:avLst/>
          </a:prstGeom>
        </p:spPr>
      </p:pic>
      <p:sp>
        <p:nvSpPr>
          <p:cNvPr id="48" name="Text 38"/>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49" name="Text 39"/>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08 / 22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LANGGRAPH · THE ASK GRAPH · ONE RUN PER COMMENT</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Eleven nodes and three decisions</a:t>
            </a:r>
            <a:endParaRPr lang="en-US" sz="3200" dirty="0"/>
          </a:p>
        </p:txBody>
      </p:sp>
      <p:sp>
        <p:nvSpPr>
          <p:cNvPr id="4" name="Text 2"/>
          <p:cNvSpPr/>
          <p:nvPr/>
        </p:nvSpPr>
        <p:spPr>
          <a:xfrm>
            <a:off x="7978140" y="812800"/>
            <a:ext cx="3401060" cy="238720"/>
          </a:xfrm>
          <a:prstGeom prst="rect">
            <a:avLst/>
          </a:prstGeom>
          <a:noFill/>
          <a:ln/>
        </p:spPr>
        <p:txBody>
          <a:bodyPr wrap="square" lIns="0" tIns="0" rIns="0" bIns="0" rtlCol="0" anchor="t">
            <a:normAutofit/>
          </a:bodyPr>
          <a:lstStyle/>
          <a:p>
            <a:pPr algn="r" indent="0" marL="0">
              <a:lnSpc>
                <a:spcPts val="1680"/>
              </a:lnSpc>
              <a:buNone/>
            </a:pPr>
            <a:r>
              <a:rPr lang="en-US" sz="1200" u="sng" dirty="0">
                <a:solidFill>
                  <a:srgbClr val="4C3FD1"/>
                </a:solidFill>
                <a:latin typeface="JetBrains Mono" pitchFamily="49" charset="0"/>
                <a:ea typeface="JetBrains Mono" pitchFamily="49" charset="-122"/>
                <a:cs typeface="JetBrains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Click through it in the explorer ↗</a:t>
            </a:r>
            <a:endParaRPr lang="en-US" sz="1200" dirty="0"/>
          </a:p>
        </p:txBody>
      </p:sp>
      <p:sp>
        <p:nvSpPr>
          <p:cNvPr id="5" name="Text 3"/>
          <p:cNvSpPr/>
          <p:nvPr/>
        </p:nvSpPr>
        <p:spPr>
          <a:xfrm>
            <a:off x="1117600" y="1854200"/>
            <a:ext cx="889000" cy="254000"/>
          </a:xfrm>
          <a:custGeom>
            <a:avLst/>
            <a:gdLst/>
            <a:ahLst/>
            <a:cxnLst/>
            <a:rect l="l" t="t" r="r" b="b"/>
            <a:pathLst>
              <a:path w="889000" h="254000">
                <a:moveTo>
                  <a:pt x="127000" y="0"/>
                </a:moveTo>
                <a:lnTo>
                  <a:pt x="762000" y="0"/>
                </a:lnTo>
                <a:arcTo hR="127000" wR="127000" stAng="16200000" swAng="5400000"/>
                <a:lnTo>
                  <a:pt x="889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6182B"/>
          </a:solidFill>
          <a:ln/>
        </p:spPr>
        <p:txBody>
          <a:bodyPr wrap="square" lIns="0" tIns="0" rIns="0" bIns="0" rtlCol="0" anchor="ctr">
            <a:normAutofit/>
          </a:bodyPr>
          <a:lstStyle/>
          <a:p>
            <a:pPr algn="ctr" indent="0" marL="0">
              <a:lnSpc>
                <a:spcPts val="1560"/>
              </a:lnSpc>
              <a:buNone/>
            </a:pPr>
            <a:r>
              <a:rPr lang="en-US" sz="1200" dirty="0">
                <a:solidFill>
                  <a:srgbClr val="F6F5F1"/>
                </a:solidFill>
                <a:latin typeface="JetBrains Mono" pitchFamily="49" charset="0"/>
                <a:ea typeface="JetBrains Mono" pitchFamily="49" charset="-122"/>
                <a:cs typeface="JetBrains Mono" pitchFamily="49" charset="-120"/>
              </a:rPr>
              <a:t>START</a:t>
            </a:r>
            <a:endParaRPr lang="en-US" sz="1200" dirty="0"/>
          </a:p>
        </p:txBody>
      </p:sp>
      <p:sp>
        <p:nvSpPr>
          <p:cNvPr id="6" name="Shape 4"/>
          <p:cNvSpPr/>
          <p:nvPr/>
        </p:nvSpPr>
        <p:spPr>
          <a:xfrm>
            <a:off x="819150" y="2292350"/>
            <a:ext cx="1485900" cy="520700"/>
          </a:xfrm>
          <a:prstGeom prst="roundRect">
            <a:avLst>
              <a:gd name="adj" fmla="val 13415"/>
            </a:avLst>
          </a:prstGeom>
          <a:solidFill>
            <a:srgbClr val="FDFCF9"/>
          </a:solidFill>
          <a:ln w="12700">
            <a:solidFill>
              <a:srgbClr val="C5C8D4"/>
            </a:solidFill>
            <a:prstDash val="solid"/>
          </a:ln>
        </p:spPr>
      </p:sp>
      <p:sp>
        <p:nvSpPr>
          <p:cNvPr id="7" name="Text 5"/>
          <p:cNvSpPr/>
          <p:nvPr/>
        </p:nvSpPr>
        <p:spPr>
          <a:xfrm>
            <a:off x="927100" y="2349500"/>
            <a:ext cx="13208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182B"/>
                </a:solidFill>
                <a:latin typeface="JetBrains Mono" pitchFamily="49" charset="0"/>
                <a:ea typeface="JetBrains Mono" pitchFamily="49" charset="-122"/>
                <a:cs typeface="JetBrains Mono" pitchFamily="49" charset="-120"/>
              </a:rPr>
              <a:t>load_context</a:t>
            </a:r>
            <a:endParaRPr lang="en-US" sz="1200" dirty="0"/>
          </a:p>
        </p:txBody>
      </p:sp>
      <p:sp>
        <p:nvSpPr>
          <p:cNvPr id="8" name="Text 6"/>
          <p:cNvSpPr/>
          <p:nvPr/>
        </p:nvSpPr>
        <p:spPr>
          <a:xfrm>
            <a:off x="927100" y="2559050"/>
            <a:ext cx="13208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2667C"/>
                </a:solidFill>
                <a:latin typeface="IBM Plex Sans" pitchFamily="34" charset="0"/>
                <a:ea typeface="IBM Plex Sans" pitchFamily="34" charset="-122"/>
                <a:cs typeface="IBM Plex Sans" pitchFamily="34" charset="-120"/>
              </a:rPr>
              <a:t>comment + post</a:t>
            </a:r>
            <a:endParaRPr lang="en-US" sz="1200" dirty="0"/>
          </a:p>
        </p:txBody>
      </p:sp>
      <p:sp>
        <p:nvSpPr>
          <p:cNvPr id="9" name="Text 7"/>
          <p:cNvSpPr/>
          <p:nvPr/>
        </p:nvSpPr>
        <p:spPr>
          <a:xfrm>
            <a:off x="1117600" y="3149600"/>
            <a:ext cx="889000" cy="304800"/>
          </a:xfrm>
          <a:prstGeom prst="roundRect">
            <a:avLst>
              <a:gd name="adj" fmla="val 50000"/>
            </a:avLst>
          </a:prstGeom>
          <a:solidFill>
            <a:srgbClr val="16182B"/>
          </a:solidFill>
          <a:ln/>
        </p:spPr>
        <p:txBody>
          <a:bodyPr wrap="square" lIns="0" tIns="0" rIns="0" bIns="0" rtlCol="0" anchor="ctr">
            <a:normAutofit/>
          </a:bodyPr>
          <a:lstStyle/>
          <a:p>
            <a:pPr algn="ctr" indent="0" marL="0">
              <a:lnSpc>
                <a:spcPts val="1560"/>
              </a:lnSpc>
              <a:buNone/>
            </a:pPr>
            <a:r>
              <a:rPr lang="en-US" sz="1200" dirty="0">
                <a:solidFill>
                  <a:srgbClr val="F6F5F1"/>
                </a:solidFill>
                <a:latin typeface="JetBrains Mono" pitchFamily="49" charset="0"/>
                <a:ea typeface="JetBrains Mono" pitchFamily="49" charset="-122"/>
                <a:cs typeface="JetBrains Mono" pitchFamily="49" charset="-120"/>
              </a:rPr>
              <a:t>END</a:t>
            </a:r>
            <a:endParaRPr lang="en-US" sz="1200" dirty="0"/>
          </a:p>
        </p:txBody>
      </p:sp>
      <p:sp>
        <p:nvSpPr>
          <p:cNvPr id="10" name="Shape 8"/>
          <p:cNvSpPr/>
          <p:nvPr/>
        </p:nvSpPr>
        <p:spPr>
          <a:xfrm>
            <a:off x="2905125" y="2295525"/>
            <a:ext cx="1885950" cy="514350"/>
          </a:xfrm>
          <a:prstGeom prst="roundRect">
            <a:avLst>
              <a:gd name="adj" fmla="val 12963"/>
            </a:avLst>
          </a:prstGeom>
          <a:solidFill>
            <a:srgbClr val="E4E1FA"/>
          </a:solidFill>
          <a:ln w="19050">
            <a:solidFill>
              <a:srgbClr val="4C3FD1"/>
            </a:solidFill>
            <a:prstDash val="solid"/>
          </a:ln>
        </p:spPr>
      </p:sp>
      <p:sp>
        <p:nvSpPr>
          <p:cNvPr id="11" name="Text 9"/>
          <p:cNvSpPr/>
          <p:nvPr/>
        </p:nvSpPr>
        <p:spPr>
          <a:xfrm>
            <a:off x="3016250" y="2355850"/>
            <a:ext cx="1714500" cy="215900"/>
          </a:xfrm>
          <a:prstGeom prst="rect">
            <a:avLst/>
          </a:prstGeom>
          <a:noFill/>
          <a:ln/>
        </p:spPr>
        <p:txBody>
          <a:bodyPr wrap="square" lIns="0" tIns="0" rIns="0" bIns="0" rtlCol="0" anchor="t">
            <a:normAutofit/>
          </a:bodyPr>
          <a:lstStyle/>
          <a:p>
            <a:pPr algn="l" indent="0" marL="0">
              <a:lnSpc>
                <a:spcPts val="1521"/>
              </a:lnSpc>
              <a:buNone/>
            </a:pPr>
            <a:r>
              <a:rPr lang="en-US" sz="1170" dirty="0">
                <a:solidFill>
                  <a:srgbClr val="16182B"/>
                </a:solidFill>
                <a:latin typeface="JetBrains Mono" pitchFamily="49" charset="0"/>
                <a:ea typeface="JetBrains Mono" pitchFamily="49" charset="-122"/>
                <a:cs typeface="JetBrains Mono" pitchFamily="49" charset="-120"/>
              </a:rPr>
              <a:t>understand_comment</a:t>
            </a:r>
            <a:endParaRPr lang="en-US" sz="1170" dirty="0"/>
          </a:p>
        </p:txBody>
      </p:sp>
      <p:sp>
        <p:nvSpPr>
          <p:cNvPr id="12" name="Text 10"/>
          <p:cNvSpPr/>
          <p:nvPr/>
        </p:nvSpPr>
        <p:spPr>
          <a:xfrm>
            <a:off x="3016250" y="2559050"/>
            <a:ext cx="1714500" cy="215900"/>
          </a:xfrm>
          <a:prstGeom prst="rect">
            <a:avLst/>
          </a:prstGeom>
          <a:noFill/>
          <a:ln/>
        </p:spPr>
        <p:txBody>
          <a:bodyPr wrap="square" lIns="0" tIns="0" rIns="0" bIns="0" rtlCol="0" anchor="t">
            <a:normAutofit/>
          </a:bodyPr>
          <a:lstStyle/>
          <a:p>
            <a:pPr algn="l" indent="0" marL="0">
              <a:lnSpc>
                <a:spcPts val="1521"/>
              </a:lnSpc>
              <a:buNone/>
            </a:pPr>
            <a:r>
              <a:rPr lang="en-US" sz="1170" dirty="0">
                <a:solidFill>
                  <a:srgbClr val="4A4E63"/>
                </a:solidFill>
                <a:latin typeface="IBM Plex Sans" pitchFamily="34" charset="0"/>
                <a:ea typeface="IBM Plex Sans" pitchFamily="34" charset="-122"/>
                <a:cs typeface="IBM Plex Sans" pitchFamily="34" charset="-120"/>
              </a:rPr>
              <a:t>Groq reads it</a:t>
            </a:r>
            <a:endParaRPr lang="en-US" sz="1170" dirty="0"/>
          </a:p>
        </p:txBody>
      </p:sp>
      <p:sp>
        <p:nvSpPr>
          <p:cNvPr id="13" name="Shape 11"/>
          <p:cNvSpPr/>
          <p:nvPr/>
        </p:nvSpPr>
        <p:spPr>
          <a:xfrm>
            <a:off x="5394325" y="2295525"/>
            <a:ext cx="1581150" cy="514350"/>
          </a:xfrm>
          <a:prstGeom prst="roundRect">
            <a:avLst>
              <a:gd name="adj" fmla="val 12963"/>
            </a:avLst>
          </a:prstGeom>
          <a:solidFill>
            <a:srgbClr val="E4E1FA"/>
          </a:solidFill>
          <a:ln w="19050">
            <a:solidFill>
              <a:srgbClr val="4C3FD1"/>
            </a:solidFill>
            <a:prstDash val="solid"/>
          </a:ln>
        </p:spPr>
      </p:sp>
      <p:sp>
        <p:nvSpPr>
          <p:cNvPr id="14" name="Text 12"/>
          <p:cNvSpPr/>
          <p:nvPr/>
        </p:nvSpPr>
        <p:spPr>
          <a:xfrm>
            <a:off x="5505450" y="2355850"/>
            <a:ext cx="1409700" cy="215900"/>
          </a:xfrm>
          <a:prstGeom prst="rect">
            <a:avLst/>
          </a:prstGeom>
          <a:noFill/>
          <a:ln/>
        </p:spPr>
        <p:txBody>
          <a:bodyPr wrap="square" lIns="0" tIns="0" rIns="0" bIns="0" rtlCol="0" anchor="t">
            <a:normAutofit/>
          </a:bodyPr>
          <a:lstStyle/>
          <a:p>
            <a:pPr algn="l" indent="0" marL="0">
              <a:lnSpc>
                <a:spcPts val="1521"/>
              </a:lnSpc>
              <a:buNone/>
            </a:pPr>
            <a:r>
              <a:rPr lang="en-US" sz="1170" dirty="0">
                <a:solidFill>
                  <a:srgbClr val="16182B"/>
                </a:solidFill>
                <a:latin typeface="JetBrains Mono" pitchFamily="49" charset="0"/>
                <a:ea typeface="JetBrains Mono" pitchFamily="49" charset="-122"/>
                <a:cs typeface="JetBrains Mono" pitchFamily="49" charset="-120"/>
              </a:rPr>
              <a:t>find_entities</a:t>
            </a:r>
            <a:endParaRPr lang="en-US" sz="1170" dirty="0"/>
          </a:p>
        </p:txBody>
      </p:sp>
      <p:sp>
        <p:nvSpPr>
          <p:cNvPr id="15" name="Text 13"/>
          <p:cNvSpPr/>
          <p:nvPr/>
        </p:nvSpPr>
        <p:spPr>
          <a:xfrm>
            <a:off x="5505450" y="2559050"/>
            <a:ext cx="1409700" cy="215900"/>
          </a:xfrm>
          <a:prstGeom prst="rect">
            <a:avLst/>
          </a:prstGeom>
          <a:noFill/>
          <a:ln/>
        </p:spPr>
        <p:txBody>
          <a:bodyPr wrap="square" lIns="0" tIns="0" rIns="0" bIns="0" rtlCol="0" anchor="t">
            <a:normAutofit/>
          </a:bodyPr>
          <a:lstStyle/>
          <a:p>
            <a:pPr algn="l" indent="0" marL="0">
              <a:lnSpc>
                <a:spcPts val="1521"/>
              </a:lnSpc>
              <a:buNone/>
            </a:pPr>
            <a:r>
              <a:rPr lang="en-US" sz="1170" dirty="0">
                <a:solidFill>
                  <a:srgbClr val="4A4E63"/>
                </a:solidFill>
                <a:latin typeface="IBM Plex Sans" pitchFamily="34" charset="0"/>
                <a:ea typeface="IBM Plex Sans" pitchFamily="34" charset="-122"/>
                <a:cs typeface="IBM Plex Sans" pitchFamily="34" charset="-120"/>
              </a:rPr>
              <a:t>hybrid search</a:t>
            </a:r>
            <a:endParaRPr lang="en-US" sz="1170" dirty="0"/>
          </a:p>
        </p:txBody>
      </p:sp>
      <p:sp>
        <p:nvSpPr>
          <p:cNvPr id="16" name="Shape 14"/>
          <p:cNvSpPr/>
          <p:nvPr/>
        </p:nvSpPr>
        <p:spPr>
          <a:xfrm>
            <a:off x="3155950" y="3054350"/>
            <a:ext cx="1638300" cy="520700"/>
          </a:xfrm>
          <a:prstGeom prst="roundRect">
            <a:avLst>
              <a:gd name="adj" fmla="val 13415"/>
            </a:avLst>
          </a:prstGeom>
          <a:solidFill>
            <a:srgbClr val="FDFCF9"/>
          </a:solidFill>
          <a:ln w="12700">
            <a:solidFill>
              <a:srgbClr val="C5C8D4"/>
            </a:solidFill>
            <a:prstDash val="solid"/>
          </a:ln>
        </p:spPr>
      </p:sp>
      <p:sp>
        <p:nvSpPr>
          <p:cNvPr id="17" name="Text 15"/>
          <p:cNvSpPr/>
          <p:nvPr/>
        </p:nvSpPr>
        <p:spPr>
          <a:xfrm>
            <a:off x="3263900" y="3111500"/>
            <a:ext cx="14732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182B"/>
                </a:solidFill>
                <a:latin typeface="JetBrains Mono" pitchFamily="49" charset="0"/>
                <a:ea typeface="JetBrains Mono" pitchFamily="49" charset="-122"/>
                <a:cs typeface="JetBrains Mono" pitchFamily="49" charset="-120"/>
              </a:rPr>
              <a:t>write_courtesy</a:t>
            </a:r>
            <a:endParaRPr lang="en-US" sz="1200" dirty="0"/>
          </a:p>
        </p:txBody>
      </p:sp>
      <p:sp>
        <p:nvSpPr>
          <p:cNvPr id="18" name="Text 16"/>
          <p:cNvSpPr/>
          <p:nvPr/>
        </p:nvSpPr>
        <p:spPr>
          <a:xfrm>
            <a:off x="3263900" y="3321050"/>
            <a:ext cx="14732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2667C"/>
                </a:solidFill>
                <a:latin typeface="IBM Plex Sans" pitchFamily="34" charset="0"/>
                <a:ea typeface="IBM Plex Sans" pitchFamily="34" charset="-122"/>
                <a:cs typeface="IBM Plex Sans" pitchFamily="34" charset="-120"/>
              </a:rPr>
              <a:t>short thanks</a:t>
            </a:r>
            <a:endParaRPr lang="en-US" sz="1200" dirty="0"/>
          </a:p>
        </p:txBody>
      </p:sp>
      <p:sp>
        <p:nvSpPr>
          <p:cNvPr id="19" name="Shape 17"/>
          <p:cNvSpPr/>
          <p:nvPr/>
        </p:nvSpPr>
        <p:spPr>
          <a:xfrm>
            <a:off x="3155950" y="3740150"/>
            <a:ext cx="1638300" cy="520700"/>
          </a:xfrm>
          <a:prstGeom prst="roundRect">
            <a:avLst>
              <a:gd name="adj" fmla="val 13415"/>
            </a:avLst>
          </a:prstGeom>
          <a:solidFill>
            <a:srgbClr val="FDFCF9"/>
          </a:solidFill>
          <a:ln w="12700">
            <a:solidFill>
              <a:srgbClr val="C5C8D4"/>
            </a:solidFill>
            <a:prstDash val="solid"/>
          </a:ln>
        </p:spPr>
      </p:sp>
      <p:sp>
        <p:nvSpPr>
          <p:cNvPr id="20" name="Text 18"/>
          <p:cNvSpPr/>
          <p:nvPr/>
        </p:nvSpPr>
        <p:spPr>
          <a:xfrm>
            <a:off x="3263900" y="3797300"/>
            <a:ext cx="14732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182B"/>
                </a:solidFill>
                <a:latin typeface="JetBrains Mono" pitchFamily="49" charset="0"/>
                <a:ea typeface="JetBrains Mono" pitchFamily="49" charset="-122"/>
                <a:cs typeface="JetBrains Mono" pitchFamily="49" charset="-120"/>
              </a:rPr>
              <a:t>hand_off</a:t>
            </a:r>
            <a:endParaRPr lang="en-US" sz="1200" dirty="0"/>
          </a:p>
        </p:txBody>
      </p:sp>
      <p:sp>
        <p:nvSpPr>
          <p:cNvPr id="21" name="Text 19"/>
          <p:cNvSpPr/>
          <p:nvPr/>
        </p:nvSpPr>
        <p:spPr>
          <a:xfrm>
            <a:off x="3263900" y="4006850"/>
            <a:ext cx="14732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2667C"/>
                </a:solidFill>
                <a:latin typeface="IBM Plex Sans" pitchFamily="34" charset="0"/>
                <a:ea typeface="IBM Plex Sans" pitchFamily="34" charset="-122"/>
                <a:cs typeface="IBM Plex Sans" pitchFamily="34" charset="-120"/>
              </a:rPr>
              <a:t>flags a person</a:t>
            </a:r>
            <a:endParaRPr lang="en-US" sz="1200" dirty="0"/>
          </a:p>
        </p:txBody>
      </p:sp>
      <p:sp>
        <p:nvSpPr>
          <p:cNvPr id="22" name="Shape 20"/>
          <p:cNvSpPr/>
          <p:nvPr/>
        </p:nvSpPr>
        <p:spPr>
          <a:xfrm>
            <a:off x="3155950" y="4425950"/>
            <a:ext cx="1638300" cy="520700"/>
          </a:xfrm>
          <a:prstGeom prst="roundRect">
            <a:avLst>
              <a:gd name="adj" fmla="val 13415"/>
            </a:avLst>
          </a:prstGeom>
          <a:solidFill>
            <a:srgbClr val="FDFCF9"/>
          </a:solidFill>
          <a:ln w="12700">
            <a:solidFill>
              <a:srgbClr val="C5C8D4"/>
            </a:solidFill>
            <a:prstDash val="solid"/>
          </a:ln>
        </p:spPr>
      </p:sp>
      <p:sp>
        <p:nvSpPr>
          <p:cNvPr id="23" name="Text 21"/>
          <p:cNvSpPr/>
          <p:nvPr/>
        </p:nvSpPr>
        <p:spPr>
          <a:xfrm>
            <a:off x="3263900" y="4483100"/>
            <a:ext cx="14732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182B"/>
                </a:solidFill>
                <a:latin typeface="JetBrains Mono" pitchFamily="49" charset="0"/>
                <a:ea typeface="JetBrains Mono" pitchFamily="49" charset="-122"/>
                <a:cs typeface="JetBrains Mono" pitchFamily="49" charset="-120"/>
              </a:rPr>
              <a:t>no_reply</a:t>
            </a:r>
            <a:endParaRPr lang="en-US" sz="1200" dirty="0"/>
          </a:p>
        </p:txBody>
      </p:sp>
      <p:sp>
        <p:nvSpPr>
          <p:cNvPr id="24" name="Text 22"/>
          <p:cNvSpPr/>
          <p:nvPr/>
        </p:nvSpPr>
        <p:spPr>
          <a:xfrm>
            <a:off x="3263900" y="4692650"/>
            <a:ext cx="14732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2667C"/>
                </a:solidFill>
                <a:latin typeface="IBM Plex Sans" pitchFamily="34" charset="0"/>
                <a:ea typeface="IBM Plex Sans" pitchFamily="34" charset="-122"/>
                <a:cs typeface="IBM Plex Sans" pitchFamily="34" charset="-120"/>
              </a:rPr>
              <a:t>nothing to send</a:t>
            </a:r>
            <a:endParaRPr lang="en-US" sz="1200" dirty="0"/>
          </a:p>
        </p:txBody>
      </p:sp>
      <p:sp>
        <p:nvSpPr>
          <p:cNvPr id="25" name="Shape 23"/>
          <p:cNvSpPr/>
          <p:nvPr/>
        </p:nvSpPr>
        <p:spPr>
          <a:xfrm>
            <a:off x="5391150" y="3054350"/>
            <a:ext cx="1587500" cy="520700"/>
          </a:xfrm>
          <a:prstGeom prst="roundRect">
            <a:avLst>
              <a:gd name="adj" fmla="val 13415"/>
            </a:avLst>
          </a:prstGeom>
          <a:solidFill>
            <a:srgbClr val="FDFCF9"/>
          </a:solidFill>
          <a:ln w="12700">
            <a:solidFill>
              <a:srgbClr val="C5C8D4"/>
            </a:solidFill>
            <a:prstDash val="solid"/>
          </a:ln>
        </p:spPr>
      </p:sp>
      <p:sp>
        <p:nvSpPr>
          <p:cNvPr id="26" name="Text 24"/>
          <p:cNvSpPr/>
          <p:nvPr/>
        </p:nvSpPr>
        <p:spPr>
          <a:xfrm>
            <a:off x="5499100" y="3111500"/>
            <a:ext cx="14224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182B"/>
                </a:solidFill>
                <a:latin typeface="JetBrains Mono" pitchFamily="49" charset="0"/>
                <a:ea typeface="JetBrains Mono" pitchFamily="49" charset="-122"/>
                <a:cs typeface="JetBrains Mono" pitchFamily="49" charset="-120"/>
              </a:rPr>
              <a:t>ask_clarify</a:t>
            </a:r>
            <a:endParaRPr lang="en-US" sz="1200" dirty="0"/>
          </a:p>
        </p:txBody>
      </p:sp>
      <p:sp>
        <p:nvSpPr>
          <p:cNvPr id="27" name="Text 25"/>
          <p:cNvSpPr/>
          <p:nvPr/>
        </p:nvSpPr>
        <p:spPr>
          <a:xfrm>
            <a:off x="5499100" y="3321050"/>
            <a:ext cx="14224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2667C"/>
                </a:solidFill>
                <a:latin typeface="IBM Plex Sans" pitchFamily="34" charset="0"/>
                <a:ea typeface="IBM Plex Sans" pitchFamily="34" charset="-122"/>
                <a:cs typeface="IBM Plex Sans" pitchFamily="34" charset="-120"/>
              </a:rPr>
              <a:t>asks which one</a:t>
            </a:r>
            <a:endParaRPr lang="en-US" sz="1200" dirty="0"/>
          </a:p>
        </p:txBody>
      </p:sp>
      <p:sp>
        <p:nvSpPr>
          <p:cNvPr id="28" name="Shape 26"/>
          <p:cNvSpPr/>
          <p:nvPr/>
        </p:nvSpPr>
        <p:spPr>
          <a:xfrm>
            <a:off x="7575550" y="2292350"/>
            <a:ext cx="1587500" cy="520700"/>
          </a:xfrm>
          <a:prstGeom prst="roundRect">
            <a:avLst>
              <a:gd name="adj" fmla="val 13415"/>
            </a:avLst>
          </a:prstGeom>
          <a:solidFill>
            <a:srgbClr val="FDFCF9"/>
          </a:solidFill>
          <a:ln w="12700">
            <a:solidFill>
              <a:srgbClr val="C5C8D4"/>
            </a:solidFill>
            <a:prstDash val="solid"/>
          </a:ln>
        </p:spPr>
      </p:sp>
      <p:sp>
        <p:nvSpPr>
          <p:cNvPr id="29" name="Text 27"/>
          <p:cNvSpPr/>
          <p:nvPr/>
        </p:nvSpPr>
        <p:spPr>
          <a:xfrm>
            <a:off x="7683500" y="2349500"/>
            <a:ext cx="14224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182B"/>
                </a:solidFill>
                <a:latin typeface="JetBrains Mono" pitchFamily="49" charset="0"/>
                <a:ea typeface="JetBrains Mono" pitchFamily="49" charset="-122"/>
                <a:cs typeface="JetBrains Mono" pitchFamily="49" charset="-120"/>
              </a:rPr>
              <a:t>check_shelves</a:t>
            </a:r>
            <a:endParaRPr lang="en-US" sz="1200" dirty="0"/>
          </a:p>
        </p:txBody>
      </p:sp>
      <p:sp>
        <p:nvSpPr>
          <p:cNvPr id="30" name="Text 28"/>
          <p:cNvSpPr/>
          <p:nvPr/>
        </p:nvSpPr>
        <p:spPr>
          <a:xfrm>
            <a:off x="7683500" y="2559050"/>
            <a:ext cx="14224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2667C"/>
                </a:solidFill>
                <a:latin typeface="IBM Plex Sans" pitchFamily="34" charset="0"/>
                <a:ea typeface="IBM Plex Sans" pitchFamily="34" charset="-122"/>
                <a:cs typeface="IBM Plex Sans" pitchFamily="34" charset="-120"/>
              </a:rPr>
              <a:t>table query</a:t>
            </a:r>
            <a:endParaRPr lang="en-US" sz="1200" dirty="0"/>
          </a:p>
        </p:txBody>
      </p:sp>
      <p:sp>
        <p:nvSpPr>
          <p:cNvPr id="31" name="Shape 29"/>
          <p:cNvSpPr/>
          <p:nvPr/>
        </p:nvSpPr>
        <p:spPr>
          <a:xfrm>
            <a:off x="9763125" y="2295525"/>
            <a:ext cx="1606550" cy="514350"/>
          </a:xfrm>
          <a:prstGeom prst="roundRect">
            <a:avLst>
              <a:gd name="adj" fmla="val 12963"/>
            </a:avLst>
          </a:prstGeom>
          <a:solidFill>
            <a:srgbClr val="E4E1FA"/>
          </a:solidFill>
          <a:ln w="19050">
            <a:solidFill>
              <a:srgbClr val="4C3FD1"/>
            </a:solidFill>
            <a:prstDash val="solid"/>
          </a:ln>
        </p:spPr>
      </p:sp>
      <p:sp>
        <p:nvSpPr>
          <p:cNvPr id="32" name="Text 30"/>
          <p:cNvSpPr/>
          <p:nvPr/>
        </p:nvSpPr>
        <p:spPr>
          <a:xfrm>
            <a:off x="9874250" y="2355850"/>
            <a:ext cx="1435100" cy="215900"/>
          </a:xfrm>
          <a:prstGeom prst="rect">
            <a:avLst/>
          </a:prstGeom>
          <a:noFill/>
          <a:ln/>
        </p:spPr>
        <p:txBody>
          <a:bodyPr wrap="square" lIns="0" tIns="0" rIns="0" bIns="0" rtlCol="0" anchor="t">
            <a:normAutofit/>
          </a:bodyPr>
          <a:lstStyle/>
          <a:p>
            <a:pPr algn="l" indent="0" marL="0">
              <a:lnSpc>
                <a:spcPts val="1521"/>
              </a:lnSpc>
              <a:buNone/>
            </a:pPr>
            <a:r>
              <a:rPr lang="en-US" sz="1170" dirty="0">
                <a:solidFill>
                  <a:srgbClr val="16182B"/>
                </a:solidFill>
                <a:latin typeface="JetBrains Mono" pitchFamily="49" charset="0"/>
                <a:ea typeface="JetBrains Mono" pitchFamily="49" charset="-122"/>
                <a:cs typeface="JetBrains Mono" pitchFamily="49" charset="-120"/>
              </a:rPr>
              <a:t>write_answer</a:t>
            </a:r>
            <a:endParaRPr lang="en-US" sz="1170" dirty="0"/>
          </a:p>
        </p:txBody>
      </p:sp>
      <p:sp>
        <p:nvSpPr>
          <p:cNvPr id="33" name="Text 31"/>
          <p:cNvSpPr/>
          <p:nvPr/>
        </p:nvSpPr>
        <p:spPr>
          <a:xfrm>
            <a:off x="9874250" y="2559050"/>
            <a:ext cx="1435100" cy="215900"/>
          </a:xfrm>
          <a:prstGeom prst="rect">
            <a:avLst/>
          </a:prstGeom>
          <a:noFill/>
          <a:ln/>
        </p:spPr>
        <p:txBody>
          <a:bodyPr wrap="square" lIns="0" tIns="0" rIns="0" bIns="0" rtlCol="0" anchor="t">
            <a:normAutofit/>
          </a:bodyPr>
          <a:lstStyle/>
          <a:p>
            <a:pPr algn="l" indent="0" marL="0">
              <a:lnSpc>
                <a:spcPts val="1521"/>
              </a:lnSpc>
              <a:buNone/>
            </a:pPr>
            <a:r>
              <a:rPr lang="en-US" sz="1170" dirty="0">
                <a:solidFill>
                  <a:srgbClr val="4A4E63"/>
                </a:solidFill>
                <a:latin typeface="IBM Plex Sans" pitchFamily="34" charset="0"/>
                <a:ea typeface="IBM Plex Sans" pitchFamily="34" charset="-122"/>
                <a:cs typeface="IBM Plex Sans" pitchFamily="34" charset="-120"/>
              </a:rPr>
              <a:t>Groq writes</a:t>
            </a:r>
            <a:endParaRPr lang="en-US" sz="1170" dirty="0"/>
          </a:p>
        </p:txBody>
      </p:sp>
      <p:sp>
        <p:nvSpPr>
          <p:cNvPr id="34" name="Shape 32"/>
          <p:cNvSpPr/>
          <p:nvPr/>
        </p:nvSpPr>
        <p:spPr>
          <a:xfrm>
            <a:off x="9759950" y="3054350"/>
            <a:ext cx="1612900" cy="520700"/>
          </a:xfrm>
          <a:prstGeom prst="roundRect">
            <a:avLst>
              <a:gd name="adj" fmla="val 13415"/>
            </a:avLst>
          </a:prstGeom>
          <a:solidFill>
            <a:srgbClr val="FDFCF9"/>
          </a:solidFill>
          <a:ln w="12700">
            <a:solidFill>
              <a:srgbClr val="C5C8D4"/>
            </a:solidFill>
            <a:prstDash val="solid"/>
          </a:ln>
        </p:spPr>
      </p:sp>
      <p:sp>
        <p:nvSpPr>
          <p:cNvPr id="35" name="Text 33"/>
          <p:cNvSpPr/>
          <p:nvPr/>
        </p:nvSpPr>
        <p:spPr>
          <a:xfrm>
            <a:off x="9867900" y="3111500"/>
            <a:ext cx="14478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182B"/>
                </a:solidFill>
                <a:latin typeface="JetBrains Mono" pitchFamily="49" charset="0"/>
                <a:ea typeface="JetBrains Mono" pitchFamily="49" charset="-122"/>
                <a:cs typeface="JetBrains Mono" pitchFamily="49" charset="-120"/>
              </a:rPr>
              <a:t>fact_check</a:t>
            </a:r>
            <a:endParaRPr lang="en-US" sz="1200" dirty="0"/>
          </a:p>
        </p:txBody>
      </p:sp>
      <p:sp>
        <p:nvSpPr>
          <p:cNvPr id="36" name="Text 34"/>
          <p:cNvSpPr/>
          <p:nvPr/>
        </p:nvSpPr>
        <p:spPr>
          <a:xfrm>
            <a:off x="9867900" y="3321050"/>
            <a:ext cx="14478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2667C"/>
                </a:solidFill>
                <a:latin typeface="IBM Plex Sans" pitchFamily="34" charset="0"/>
                <a:ea typeface="IBM Plex Sans" pitchFamily="34" charset="-122"/>
                <a:cs typeface="IBM Plex Sans" pitchFamily="34" charset="-120"/>
              </a:rPr>
              <a:t>checks the facts</a:t>
            </a:r>
            <a:endParaRPr lang="en-US" sz="1200" dirty="0"/>
          </a:p>
        </p:txBody>
      </p:sp>
      <p:sp>
        <p:nvSpPr>
          <p:cNvPr id="37" name="Shape 35"/>
          <p:cNvSpPr/>
          <p:nvPr/>
        </p:nvSpPr>
        <p:spPr>
          <a:xfrm>
            <a:off x="5391150" y="5289550"/>
            <a:ext cx="1587500" cy="520700"/>
          </a:xfrm>
          <a:prstGeom prst="roundRect">
            <a:avLst>
              <a:gd name="adj" fmla="val 13415"/>
            </a:avLst>
          </a:prstGeom>
          <a:solidFill>
            <a:srgbClr val="FDFCF9"/>
          </a:solidFill>
          <a:ln w="12700">
            <a:solidFill>
              <a:srgbClr val="C5C8D4"/>
            </a:solidFill>
            <a:prstDash val="solid"/>
          </a:ln>
        </p:spPr>
      </p:sp>
      <p:sp>
        <p:nvSpPr>
          <p:cNvPr id="38" name="Text 36"/>
          <p:cNvSpPr/>
          <p:nvPr/>
        </p:nvSpPr>
        <p:spPr>
          <a:xfrm>
            <a:off x="5499100" y="5346700"/>
            <a:ext cx="14224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182B"/>
                </a:solidFill>
                <a:latin typeface="JetBrains Mono" pitchFamily="49" charset="0"/>
                <a:ea typeface="JetBrains Mono" pitchFamily="49" charset="-122"/>
                <a:cs typeface="JetBrains Mono" pitchFamily="49" charset="-120"/>
              </a:rPr>
              <a:t>assemble_draft</a:t>
            </a:r>
            <a:endParaRPr lang="en-US" sz="1200" dirty="0"/>
          </a:p>
        </p:txBody>
      </p:sp>
      <p:sp>
        <p:nvSpPr>
          <p:cNvPr id="39" name="Text 37"/>
          <p:cNvSpPr/>
          <p:nvPr/>
        </p:nvSpPr>
        <p:spPr>
          <a:xfrm>
            <a:off x="5499100" y="5556250"/>
            <a:ext cx="142240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2667C"/>
                </a:solidFill>
                <a:latin typeface="IBM Plex Sans" pitchFamily="34" charset="0"/>
                <a:ea typeface="IBM Plex Sans" pitchFamily="34" charset="-122"/>
                <a:cs typeface="IBM Plex Sans" pitchFamily="34" charset="-120"/>
              </a:rPr>
              <a:t>draft + basis</a:t>
            </a:r>
            <a:endParaRPr lang="en-US" sz="1200" dirty="0"/>
          </a:p>
        </p:txBody>
      </p:sp>
      <p:sp>
        <p:nvSpPr>
          <p:cNvPr id="40" name="Text 38"/>
          <p:cNvSpPr/>
          <p:nvPr/>
        </p:nvSpPr>
        <p:spPr>
          <a:xfrm>
            <a:off x="7569200" y="5397500"/>
            <a:ext cx="889000" cy="304800"/>
          </a:xfrm>
          <a:prstGeom prst="roundRect">
            <a:avLst>
              <a:gd name="adj" fmla="val 50000"/>
            </a:avLst>
          </a:prstGeom>
          <a:solidFill>
            <a:srgbClr val="16182B"/>
          </a:solidFill>
          <a:ln/>
        </p:spPr>
        <p:txBody>
          <a:bodyPr wrap="square" lIns="0" tIns="0" rIns="0" bIns="0" rtlCol="0" anchor="ctr">
            <a:normAutofit/>
          </a:bodyPr>
          <a:lstStyle/>
          <a:p>
            <a:pPr algn="ctr" indent="0" marL="0">
              <a:lnSpc>
                <a:spcPts val="1560"/>
              </a:lnSpc>
              <a:buNone/>
            </a:pPr>
            <a:r>
              <a:rPr lang="en-US" sz="1200" dirty="0">
                <a:solidFill>
                  <a:srgbClr val="F6F5F1"/>
                </a:solidFill>
                <a:latin typeface="JetBrains Mono" pitchFamily="49" charset="0"/>
                <a:ea typeface="JetBrains Mono" pitchFamily="49" charset="-122"/>
                <a:cs typeface="JetBrains Mono" pitchFamily="49" charset="-120"/>
              </a:rPr>
              <a:t>END</a:t>
            </a:r>
            <a:endParaRPr lang="en-US" sz="1200" dirty="0"/>
          </a:p>
        </p:txBody>
      </p:sp>
      <p:pic>
        <p:nvPicPr>
          <p:cNvPr id="41" name="Image 0" descr="connector">    </p:cNvPr>
          <p:cNvPicPr>
            <a:picLocks noChangeAspect="1"/>
          </p:cNvPicPr>
          <p:nvPr/>
        </p:nvPicPr>
        <p:blipFill>
          <a:blip r:embed="rId2"/>
          <a:srcRect l="0" r="0" t="0" b="0"/>
          <a:stretch/>
        </p:blipFill>
        <p:spPr>
          <a:xfrm>
            <a:off x="1511300" y="2057400"/>
            <a:ext cx="101600" cy="279400"/>
          </a:xfrm>
          <a:prstGeom prst="rect">
            <a:avLst/>
          </a:prstGeom>
        </p:spPr>
      </p:pic>
      <p:pic>
        <p:nvPicPr>
          <p:cNvPr id="42" name="Image 1" descr="connector">    </p:cNvPr>
          <p:cNvPicPr>
            <a:picLocks noChangeAspect="1"/>
          </p:cNvPicPr>
          <p:nvPr/>
        </p:nvPicPr>
        <p:blipFill>
          <a:blip r:embed="rId3"/>
          <a:srcRect l="0" r="0" t="0" b="0"/>
          <a:stretch/>
        </p:blipFill>
        <p:spPr>
          <a:xfrm>
            <a:off x="1511300" y="2768600"/>
            <a:ext cx="101600" cy="431800"/>
          </a:xfrm>
          <a:prstGeom prst="rect">
            <a:avLst/>
          </a:prstGeom>
        </p:spPr>
      </p:pic>
      <p:pic>
        <p:nvPicPr>
          <p:cNvPr id="43" name="Image 2" descr="connector">    </p:cNvPr>
          <p:cNvPicPr>
            <a:picLocks noChangeAspect="1"/>
          </p:cNvPicPr>
          <p:nvPr/>
        </p:nvPicPr>
        <p:blipFill>
          <a:blip r:embed="rId4"/>
          <a:srcRect l="0" r="0" t="0" b="0"/>
          <a:stretch/>
        </p:blipFill>
        <p:spPr>
          <a:xfrm>
            <a:off x="2260600" y="2501900"/>
            <a:ext cx="685800" cy="101600"/>
          </a:xfrm>
          <a:prstGeom prst="rect">
            <a:avLst/>
          </a:prstGeom>
        </p:spPr>
      </p:pic>
      <p:pic>
        <p:nvPicPr>
          <p:cNvPr id="44" name="Image 3" descr="connector">    </p:cNvPr>
          <p:cNvPicPr>
            <a:picLocks noChangeAspect="1"/>
          </p:cNvPicPr>
          <p:nvPr/>
        </p:nvPicPr>
        <p:blipFill>
          <a:blip r:embed="rId5"/>
          <a:srcRect l="0" r="0" t="0" b="0"/>
          <a:stretch/>
        </p:blipFill>
        <p:spPr>
          <a:xfrm>
            <a:off x="4749800" y="2501900"/>
            <a:ext cx="685800" cy="101600"/>
          </a:xfrm>
          <a:prstGeom prst="rect">
            <a:avLst/>
          </a:prstGeom>
        </p:spPr>
      </p:pic>
      <p:pic>
        <p:nvPicPr>
          <p:cNvPr id="45" name="Image 4" descr="connector">    </p:cNvPr>
          <p:cNvPicPr>
            <a:picLocks noChangeAspect="1"/>
          </p:cNvPicPr>
          <p:nvPr/>
        </p:nvPicPr>
        <p:blipFill>
          <a:blip r:embed="rId6"/>
          <a:srcRect l="0" r="0" t="0" b="0"/>
          <a:stretch/>
        </p:blipFill>
        <p:spPr>
          <a:xfrm>
            <a:off x="2971800" y="2768600"/>
            <a:ext cx="228600" cy="596900"/>
          </a:xfrm>
          <a:prstGeom prst="rect">
            <a:avLst/>
          </a:prstGeom>
        </p:spPr>
      </p:pic>
      <p:pic>
        <p:nvPicPr>
          <p:cNvPr id="46" name="Image 5" descr="connector">    </p:cNvPr>
          <p:cNvPicPr>
            <a:picLocks noChangeAspect="1"/>
          </p:cNvPicPr>
          <p:nvPr/>
        </p:nvPicPr>
        <p:blipFill>
          <a:blip r:embed="rId7"/>
          <a:srcRect l="0" r="0" t="0" b="0"/>
          <a:stretch/>
        </p:blipFill>
        <p:spPr>
          <a:xfrm>
            <a:off x="2971800" y="2768600"/>
            <a:ext cx="228600" cy="1282700"/>
          </a:xfrm>
          <a:prstGeom prst="rect">
            <a:avLst/>
          </a:prstGeom>
        </p:spPr>
      </p:pic>
      <p:pic>
        <p:nvPicPr>
          <p:cNvPr id="47" name="Image 6" descr="connector">    </p:cNvPr>
          <p:cNvPicPr>
            <a:picLocks noChangeAspect="1"/>
          </p:cNvPicPr>
          <p:nvPr/>
        </p:nvPicPr>
        <p:blipFill>
          <a:blip r:embed="rId8"/>
          <a:srcRect l="0" r="0" t="0" b="0"/>
          <a:stretch/>
        </p:blipFill>
        <p:spPr>
          <a:xfrm>
            <a:off x="2971800" y="2768600"/>
            <a:ext cx="228600" cy="1968500"/>
          </a:xfrm>
          <a:prstGeom prst="rect">
            <a:avLst/>
          </a:prstGeom>
        </p:spPr>
      </p:pic>
      <p:pic>
        <p:nvPicPr>
          <p:cNvPr id="48" name="Image 7" descr="connector">    </p:cNvPr>
          <p:cNvPicPr>
            <a:picLocks noChangeAspect="1"/>
          </p:cNvPicPr>
          <p:nvPr/>
        </p:nvPicPr>
        <p:blipFill>
          <a:blip r:embed="rId9"/>
          <a:srcRect l="0" r="0" t="0" b="0"/>
          <a:stretch/>
        </p:blipFill>
        <p:spPr>
          <a:xfrm>
            <a:off x="6134100" y="2768600"/>
            <a:ext cx="101600" cy="330200"/>
          </a:xfrm>
          <a:prstGeom prst="rect">
            <a:avLst/>
          </a:prstGeom>
        </p:spPr>
      </p:pic>
      <p:pic>
        <p:nvPicPr>
          <p:cNvPr id="49" name="Image 8" descr="connector">    </p:cNvPr>
          <p:cNvPicPr>
            <a:picLocks noChangeAspect="1"/>
          </p:cNvPicPr>
          <p:nvPr/>
        </p:nvPicPr>
        <p:blipFill>
          <a:blip r:embed="rId10"/>
          <a:srcRect l="0" r="0" t="0" b="0"/>
          <a:stretch/>
        </p:blipFill>
        <p:spPr>
          <a:xfrm>
            <a:off x="6934200" y="2501900"/>
            <a:ext cx="685800" cy="101600"/>
          </a:xfrm>
          <a:prstGeom prst="rect">
            <a:avLst/>
          </a:prstGeom>
        </p:spPr>
      </p:pic>
      <p:pic>
        <p:nvPicPr>
          <p:cNvPr id="50" name="Image 9" descr="connector">    </p:cNvPr>
          <p:cNvPicPr>
            <a:picLocks noChangeAspect="1"/>
          </p:cNvPicPr>
          <p:nvPr/>
        </p:nvPicPr>
        <p:blipFill>
          <a:blip r:embed="rId11"/>
          <a:srcRect l="0" r="0" t="0" b="0"/>
          <a:stretch/>
        </p:blipFill>
        <p:spPr>
          <a:xfrm>
            <a:off x="9118600" y="2501900"/>
            <a:ext cx="685800" cy="101600"/>
          </a:xfrm>
          <a:prstGeom prst="rect">
            <a:avLst/>
          </a:prstGeom>
        </p:spPr>
      </p:pic>
      <p:pic>
        <p:nvPicPr>
          <p:cNvPr id="51" name="Image 10" descr="connector">    </p:cNvPr>
          <p:cNvPicPr>
            <a:picLocks noChangeAspect="1"/>
          </p:cNvPicPr>
          <p:nvPr/>
        </p:nvPicPr>
        <p:blipFill>
          <a:blip r:embed="rId12"/>
          <a:srcRect l="0" r="0" t="0" b="0"/>
          <a:stretch/>
        </p:blipFill>
        <p:spPr>
          <a:xfrm>
            <a:off x="10515600" y="2768600"/>
            <a:ext cx="101600" cy="330200"/>
          </a:xfrm>
          <a:prstGeom prst="rect">
            <a:avLst/>
          </a:prstGeom>
        </p:spPr>
      </p:pic>
      <p:pic>
        <p:nvPicPr>
          <p:cNvPr id="52" name="Image 11" descr="connector">    </p:cNvPr>
          <p:cNvPicPr>
            <a:picLocks noChangeAspect="1"/>
          </p:cNvPicPr>
          <p:nvPr/>
        </p:nvPicPr>
        <p:blipFill>
          <a:blip r:embed="rId13"/>
          <a:srcRect l="0" r="0" t="0" b="0"/>
          <a:stretch/>
        </p:blipFill>
        <p:spPr>
          <a:xfrm>
            <a:off x="4749800" y="3263900"/>
            <a:ext cx="393700" cy="101600"/>
          </a:xfrm>
          <a:prstGeom prst="rect">
            <a:avLst/>
          </a:prstGeom>
        </p:spPr>
      </p:pic>
      <p:pic>
        <p:nvPicPr>
          <p:cNvPr id="53" name="Image 12" descr="connector">    </p:cNvPr>
          <p:cNvPicPr>
            <a:picLocks noChangeAspect="1"/>
          </p:cNvPicPr>
          <p:nvPr/>
        </p:nvPicPr>
        <p:blipFill>
          <a:blip r:embed="rId14"/>
          <a:srcRect l="0" r="0" t="0" b="0"/>
          <a:stretch/>
        </p:blipFill>
        <p:spPr>
          <a:xfrm>
            <a:off x="4749800" y="3949700"/>
            <a:ext cx="393700" cy="101600"/>
          </a:xfrm>
          <a:prstGeom prst="rect">
            <a:avLst/>
          </a:prstGeom>
        </p:spPr>
      </p:pic>
      <p:pic>
        <p:nvPicPr>
          <p:cNvPr id="54" name="Image 13" descr="connector">    </p:cNvPr>
          <p:cNvPicPr>
            <a:picLocks noChangeAspect="1"/>
          </p:cNvPicPr>
          <p:nvPr/>
        </p:nvPicPr>
        <p:blipFill>
          <a:blip r:embed="rId15"/>
          <a:srcRect l="0" r="0" t="0" b="0"/>
          <a:stretch/>
        </p:blipFill>
        <p:spPr>
          <a:xfrm>
            <a:off x="4749800" y="4635500"/>
            <a:ext cx="393700" cy="101600"/>
          </a:xfrm>
          <a:prstGeom prst="rect">
            <a:avLst/>
          </a:prstGeom>
        </p:spPr>
      </p:pic>
      <p:pic>
        <p:nvPicPr>
          <p:cNvPr id="55" name="Image 14" descr="connector">    </p:cNvPr>
          <p:cNvPicPr>
            <a:picLocks noChangeAspect="1"/>
          </p:cNvPicPr>
          <p:nvPr/>
        </p:nvPicPr>
        <p:blipFill>
          <a:blip r:embed="rId16"/>
          <a:srcRect l="0" r="0" t="0" b="0"/>
          <a:stretch/>
        </p:blipFill>
        <p:spPr>
          <a:xfrm>
            <a:off x="5041900" y="3263900"/>
            <a:ext cx="101600" cy="2336800"/>
          </a:xfrm>
          <a:prstGeom prst="rect">
            <a:avLst/>
          </a:prstGeom>
        </p:spPr>
      </p:pic>
      <p:pic>
        <p:nvPicPr>
          <p:cNvPr id="56" name="Image 15" descr="connector">    </p:cNvPr>
          <p:cNvPicPr>
            <a:picLocks noChangeAspect="1"/>
          </p:cNvPicPr>
          <p:nvPr/>
        </p:nvPicPr>
        <p:blipFill>
          <a:blip r:embed="rId17"/>
          <a:srcRect l="0" r="0" t="0" b="0"/>
          <a:stretch/>
        </p:blipFill>
        <p:spPr>
          <a:xfrm>
            <a:off x="5041900" y="5499100"/>
            <a:ext cx="393700" cy="101600"/>
          </a:xfrm>
          <a:prstGeom prst="rect">
            <a:avLst/>
          </a:prstGeom>
        </p:spPr>
      </p:pic>
      <p:pic>
        <p:nvPicPr>
          <p:cNvPr id="57" name="Image 16" descr="connector">    </p:cNvPr>
          <p:cNvPicPr>
            <a:picLocks noChangeAspect="1"/>
          </p:cNvPicPr>
          <p:nvPr/>
        </p:nvPicPr>
        <p:blipFill>
          <a:blip r:embed="rId18"/>
          <a:srcRect l="0" r="0" t="0" b="0"/>
          <a:stretch/>
        </p:blipFill>
        <p:spPr>
          <a:xfrm>
            <a:off x="6134100" y="3530600"/>
            <a:ext cx="101600" cy="1803400"/>
          </a:xfrm>
          <a:prstGeom prst="rect">
            <a:avLst/>
          </a:prstGeom>
        </p:spPr>
      </p:pic>
      <p:pic>
        <p:nvPicPr>
          <p:cNvPr id="58" name="Image 17" descr="connector">    </p:cNvPr>
          <p:cNvPicPr>
            <a:picLocks noChangeAspect="1"/>
          </p:cNvPicPr>
          <p:nvPr/>
        </p:nvPicPr>
        <p:blipFill>
          <a:blip r:embed="rId19"/>
          <a:srcRect l="0" r="0" t="0" b="0"/>
          <a:stretch/>
        </p:blipFill>
        <p:spPr>
          <a:xfrm>
            <a:off x="10515600" y="3530600"/>
            <a:ext cx="101600" cy="1625600"/>
          </a:xfrm>
          <a:prstGeom prst="rect">
            <a:avLst/>
          </a:prstGeom>
        </p:spPr>
      </p:pic>
      <p:pic>
        <p:nvPicPr>
          <p:cNvPr id="59" name="Image 18" descr="connector">    </p:cNvPr>
          <p:cNvPicPr>
            <a:picLocks noChangeAspect="1"/>
          </p:cNvPicPr>
          <p:nvPr/>
        </p:nvPicPr>
        <p:blipFill>
          <a:blip r:embed="rId20"/>
          <a:srcRect l="0" r="0" t="0" b="0"/>
          <a:stretch/>
        </p:blipFill>
        <p:spPr>
          <a:xfrm>
            <a:off x="6553200" y="5054600"/>
            <a:ext cx="4064000" cy="101600"/>
          </a:xfrm>
          <a:prstGeom prst="rect">
            <a:avLst/>
          </a:prstGeom>
        </p:spPr>
      </p:pic>
      <p:pic>
        <p:nvPicPr>
          <p:cNvPr id="60" name="Image 19" descr="connector">    </p:cNvPr>
          <p:cNvPicPr>
            <a:picLocks noChangeAspect="1"/>
          </p:cNvPicPr>
          <p:nvPr/>
        </p:nvPicPr>
        <p:blipFill>
          <a:blip r:embed="rId21"/>
          <a:srcRect l="0" r="0" t="0" b="0"/>
          <a:stretch/>
        </p:blipFill>
        <p:spPr>
          <a:xfrm>
            <a:off x="6553200" y="5054600"/>
            <a:ext cx="101600" cy="279400"/>
          </a:xfrm>
          <a:prstGeom prst="rect">
            <a:avLst/>
          </a:prstGeom>
        </p:spPr>
      </p:pic>
      <p:pic>
        <p:nvPicPr>
          <p:cNvPr id="61" name="Image 20" descr="connector">    </p:cNvPr>
          <p:cNvPicPr>
            <a:picLocks noChangeAspect="1"/>
          </p:cNvPicPr>
          <p:nvPr/>
        </p:nvPicPr>
        <p:blipFill>
          <a:blip r:embed="rId22"/>
          <a:srcRect l="0" r="0" t="0" b="0"/>
          <a:stretch/>
        </p:blipFill>
        <p:spPr>
          <a:xfrm>
            <a:off x="6934200" y="5499100"/>
            <a:ext cx="685800" cy="101600"/>
          </a:xfrm>
          <a:prstGeom prst="rect">
            <a:avLst/>
          </a:prstGeom>
        </p:spPr>
      </p:pic>
      <p:sp>
        <p:nvSpPr>
          <p:cNvPr id="62" name="Text 39"/>
          <p:cNvSpPr/>
          <p:nvPr/>
        </p:nvSpPr>
        <p:spPr>
          <a:xfrm>
            <a:off x="1638300" y="2876550"/>
            <a:ext cx="812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missing</a:t>
            </a:r>
            <a:endParaRPr lang="en-US" sz="1200" dirty="0"/>
          </a:p>
        </p:txBody>
      </p:sp>
      <p:sp>
        <p:nvSpPr>
          <p:cNvPr id="63" name="Text 40"/>
          <p:cNvSpPr/>
          <p:nvPr/>
        </p:nvSpPr>
        <p:spPr>
          <a:xfrm>
            <a:off x="4851400" y="2273300"/>
            <a:ext cx="533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IBM Plex Sans" pitchFamily="34" charset="0"/>
                <a:ea typeface="IBM Plex Sans" pitchFamily="34" charset="-122"/>
                <a:cs typeface="IBM Plex Sans" pitchFamily="34" charset="-120"/>
              </a:rPr>
              <a:t>find</a:t>
            </a:r>
            <a:endParaRPr lang="en-US" sz="1200" dirty="0"/>
          </a:p>
        </p:txBody>
      </p:sp>
      <p:sp>
        <p:nvSpPr>
          <p:cNvPr id="64" name="Text 41"/>
          <p:cNvSpPr/>
          <p:nvPr/>
        </p:nvSpPr>
        <p:spPr>
          <a:xfrm>
            <a:off x="2362200" y="3206750"/>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C3FD1"/>
                </a:solidFill>
                <a:latin typeface="IBM Plex Sans" pitchFamily="34" charset="0"/>
                <a:ea typeface="IBM Plex Sans" pitchFamily="34" charset="-122"/>
                <a:cs typeface="IBM Plex Sans" pitchFamily="34" charset="-120"/>
              </a:rPr>
              <a:t>thanks</a:t>
            </a:r>
            <a:endParaRPr lang="en-US" sz="1200" dirty="0"/>
          </a:p>
        </p:txBody>
      </p:sp>
      <p:sp>
        <p:nvSpPr>
          <p:cNvPr id="65" name="Text 42"/>
          <p:cNvSpPr/>
          <p:nvPr/>
        </p:nvSpPr>
        <p:spPr>
          <a:xfrm>
            <a:off x="2362200" y="3892550"/>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C3FD1"/>
                </a:solidFill>
                <a:latin typeface="IBM Plex Sans" pitchFamily="34" charset="0"/>
                <a:ea typeface="IBM Plex Sans" pitchFamily="34" charset="-122"/>
                <a:cs typeface="IBM Plex Sans" pitchFamily="34" charset="-120"/>
              </a:rPr>
              <a:t>person</a:t>
            </a:r>
            <a:endParaRPr lang="en-US" sz="1200" dirty="0"/>
          </a:p>
        </p:txBody>
      </p:sp>
      <p:sp>
        <p:nvSpPr>
          <p:cNvPr id="66" name="Text 43"/>
          <p:cNvSpPr/>
          <p:nvPr/>
        </p:nvSpPr>
        <p:spPr>
          <a:xfrm>
            <a:off x="2362200" y="4578350"/>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C3FD1"/>
                </a:solidFill>
                <a:latin typeface="IBM Plex Sans" pitchFamily="34" charset="0"/>
                <a:ea typeface="IBM Plex Sans" pitchFamily="34" charset="-122"/>
                <a:cs typeface="IBM Plex Sans" pitchFamily="34" charset="-120"/>
              </a:rPr>
              <a:t>skip</a:t>
            </a:r>
            <a:endParaRPr lang="en-US" sz="1200" dirty="0"/>
          </a:p>
        </p:txBody>
      </p:sp>
      <p:sp>
        <p:nvSpPr>
          <p:cNvPr id="67" name="Text 44"/>
          <p:cNvSpPr/>
          <p:nvPr/>
        </p:nvSpPr>
        <p:spPr>
          <a:xfrm>
            <a:off x="6261100" y="2825750"/>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IBM Plex Sans" pitchFamily="34" charset="0"/>
                <a:ea typeface="IBM Plex Sans" pitchFamily="34" charset="-122"/>
                <a:cs typeface="IBM Plex Sans" pitchFamily="34" charset="-120"/>
              </a:rPr>
              <a:t>clarify</a:t>
            </a:r>
            <a:endParaRPr lang="en-US" sz="1200" dirty="0"/>
          </a:p>
        </p:txBody>
      </p:sp>
      <p:sp>
        <p:nvSpPr>
          <p:cNvPr id="68" name="Text 45"/>
          <p:cNvSpPr/>
          <p:nvPr/>
        </p:nvSpPr>
        <p:spPr>
          <a:xfrm>
            <a:off x="7010400" y="2273300"/>
            <a:ext cx="584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IBM Plex Sans" pitchFamily="34" charset="0"/>
                <a:ea typeface="IBM Plex Sans" pitchFamily="34" charset="-122"/>
                <a:cs typeface="IBM Plex Sans" pitchFamily="34" charset="-120"/>
              </a:rPr>
              <a:t>answer</a:t>
            </a:r>
            <a:endParaRPr lang="en-US" sz="1200" dirty="0"/>
          </a:p>
        </p:txBody>
      </p:sp>
      <p:sp>
        <p:nvSpPr>
          <p:cNvPr id="69" name="Text 46"/>
          <p:cNvSpPr/>
          <p:nvPr/>
        </p:nvSpPr>
        <p:spPr>
          <a:xfrm>
            <a:off x="7569200" y="3835400"/>
            <a:ext cx="196215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Purple nodes call a model: Groq reads and writes, Jina embeds the search words.</a:t>
            </a:r>
            <a:endParaRPr lang="en-US" sz="1200" dirty="0"/>
          </a:p>
        </p:txBody>
      </p:sp>
      <p:sp>
        <p:nvSpPr>
          <p:cNvPr id="70" name="Text 47"/>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71" name="Text 48"/>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09 / 22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LANGGRAPH · THE ASK GRAPH</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The main path, node by node</a:t>
            </a:r>
            <a:endParaRPr lang="en-US" sz="3200" dirty="0"/>
          </a:p>
        </p:txBody>
      </p:sp>
      <p:sp>
        <p:nvSpPr>
          <p:cNvPr id="4" name="Shape 2"/>
          <p:cNvSpPr/>
          <p:nvPr/>
        </p:nvSpPr>
        <p:spPr>
          <a:xfrm>
            <a:off x="819150" y="1835051"/>
            <a:ext cx="5194300" cy="1158081"/>
          </a:xfrm>
          <a:prstGeom prst="roundRect">
            <a:avLst>
              <a:gd name="adj" fmla="val 8225"/>
            </a:avLst>
          </a:prstGeom>
          <a:solidFill>
            <a:srgbClr val="FDFCF9"/>
          </a:solidFill>
          <a:ln w="12700">
            <a:solidFill>
              <a:srgbClr val="D9D6CC"/>
            </a:solidFill>
            <a:prstDash val="solid"/>
          </a:ln>
        </p:spPr>
      </p:sp>
      <p:sp>
        <p:nvSpPr>
          <p:cNvPr id="5" name="Text 3"/>
          <p:cNvSpPr/>
          <p:nvPr/>
        </p:nvSpPr>
        <p:spPr>
          <a:xfrm>
            <a:off x="1003300" y="1943001"/>
            <a:ext cx="17559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1 · load_context</a:t>
            </a:r>
            <a:endParaRPr lang="en-US" sz="1200" dirty="0"/>
          </a:p>
        </p:txBody>
      </p:sp>
      <p:sp>
        <p:nvSpPr>
          <p:cNvPr id="6" name="Text 4"/>
          <p:cNvSpPr/>
          <p:nvPr/>
        </p:nvSpPr>
        <p:spPr>
          <a:xfrm>
            <a:off x="4951333" y="1943001"/>
            <a:ext cx="87796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no model</a:t>
            </a:r>
            <a:endParaRPr lang="en-US" sz="1200" dirty="0"/>
          </a:p>
        </p:txBody>
      </p:sp>
      <p:sp>
        <p:nvSpPr>
          <p:cNvPr id="7" name="Text 5"/>
          <p:cNvSpPr/>
          <p:nvPr/>
        </p:nvSpPr>
        <p:spPr>
          <a:xfrm>
            <a:off x="1003300" y="2194421"/>
            <a:ext cx="49707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Loads the comment, its post and the products linked to the post; waits briefly if the post is still being read.</a:t>
            </a:r>
            <a:endParaRPr lang="en-US" sz="1200" dirty="0"/>
          </a:p>
        </p:txBody>
      </p:sp>
      <p:sp>
        <p:nvSpPr>
          <p:cNvPr id="8" name="Text 6"/>
          <p:cNvSpPr/>
          <p:nvPr/>
        </p:nvSpPr>
        <p:spPr>
          <a:xfrm>
            <a:off x="1003300" y="2659162"/>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writes comment · post · post_ctx</a:t>
            </a:r>
            <a:endParaRPr lang="en-US" sz="1200" dirty="0"/>
          </a:p>
        </p:txBody>
      </p:sp>
      <p:sp>
        <p:nvSpPr>
          <p:cNvPr id="9" name="Shape 7"/>
          <p:cNvSpPr/>
          <p:nvPr/>
        </p:nvSpPr>
        <p:spPr>
          <a:xfrm>
            <a:off x="6181725" y="1838226"/>
            <a:ext cx="5187950" cy="1151731"/>
          </a:xfrm>
          <a:prstGeom prst="roundRect">
            <a:avLst>
              <a:gd name="adj" fmla="val 7994"/>
            </a:avLst>
          </a:prstGeom>
          <a:solidFill>
            <a:srgbClr val="E4E1FA"/>
          </a:solidFill>
          <a:ln w="19050">
            <a:solidFill>
              <a:srgbClr val="4C3FD1"/>
            </a:solidFill>
            <a:prstDash val="solid"/>
          </a:ln>
        </p:spPr>
      </p:sp>
      <p:sp>
        <p:nvSpPr>
          <p:cNvPr id="10" name="Text 8"/>
          <p:cNvSpPr/>
          <p:nvPr/>
        </p:nvSpPr>
        <p:spPr>
          <a:xfrm>
            <a:off x="6369050" y="1949351"/>
            <a:ext cx="2414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2 · understand_comment</a:t>
            </a:r>
            <a:endParaRPr lang="en-US" sz="1200" dirty="0"/>
          </a:p>
        </p:txBody>
      </p:sp>
      <p:sp>
        <p:nvSpPr>
          <p:cNvPr id="11" name="Text 9"/>
          <p:cNvSpPr/>
          <p:nvPr/>
        </p:nvSpPr>
        <p:spPr>
          <a:xfrm>
            <a:off x="10743367" y="1949351"/>
            <a:ext cx="4389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E63"/>
                </a:solidFill>
                <a:latin typeface="JetBrains Mono" pitchFamily="49" charset="0"/>
                <a:ea typeface="JetBrains Mono" pitchFamily="49" charset="-122"/>
                <a:cs typeface="JetBrains Mono" pitchFamily="49" charset="-120"/>
              </a:rPr>
              <a:t>Groq</a:t>
            </a:r>
            <a:endParaRPr lang="en-US" sz="1200" dirty="0"/>
          </a:p>
        </p:txBody>
      </p:sp>
      <p:sp>
        <p:nvSpPr>
          <p:cNvPr id="12" name="Text 10"/>
          <p:cNvSpPr/>
          <p:nvPr/>
        </p:nvSpPr>
        <p:spPr>
          <a:xfrm>
            <a:off x="6369050" y="2200771"/>
            <a:ext cx="49576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Reads the comment with a strict JSON schema: intent, products, places, shops, size, price. Rules read it if the call fails.</a:t>
            </a:r>
            <a:endParaRPr lang="en-US" sz="1200" dirty="0"/>
          </a:p>
        </p:txBody>
      </p:sp>
      <p:sp>
        <p:nvSpPr>
          <p:cNvPr id="13" name="Text 11"/>
          <p:cNvSpPr/>
          <p:nvPr/>
        </p:nvSpPr>
        <p:spPr>
          <a:xfrm>
            <a:off x="6369050" y="2665512"/>
            <a:ext cx="49576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writes understanding</a:t>
            </a:r>
            <a:endParaRPr lang="en-US" sz="1200" dirty="0"/>
          </a:p>
        </p:txBody>
      </p:sp>
      <p:sp>
        <p:nvSpPr>
          <p:cNvPr id="14" name="Shape 12"/>
          <p:cNvSpPr/>
          <p:nvPr/>
        </p:nvSpPr>
        <p:spPr>
          <a:xfrm>
            <a:off x="822325" y="3161407"/>
            <a:ext cx="5187950" cy="1151731"/>
          </a:xfrm>
          <a:prstGeom prst="roundRect">
            <a:avLst>
              <a:gd name="adj" fmla="val 7994"/>
            </a:avLst>
          </a:prstGeom>
          <a:solidFill>
            <a:srgbClr val="E4E1FA"/>
          </a:solidFill>
          <a:ln w="19050">
            <a:solidFill>
              <a:srgbClr val="4C3FD1"/>
            </a:solidFill>
            <a:prstDash val="solid"/>
          </a:ln>
        </p:spPr>
      </p:sp>
      <p:sp>
        <p:nvSpPr>
          <p:cNvPr id="15" name="Text 13"/>
          <p:cNvSpPr/>
          <p:nvPr/>
        </p:nvSpPr>
        <p:spPr>
          <a:xfrm>
            <a:off x="1009650" y="3272532"/>
            <a:ext cx="18657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3 · find_entities</a:t>
            </a:r>
            <a:endParaRPr lang="en-US" sz="1200" dirty="0"/>
          </a:p>
        </p:txBody>
      </p:sp>
      <p:sp>
        <p:nvSpPr>
          <p:cNvPr id="16" name="Text 14"/>
          <p:cNvSpPr/>
          <p:nvPr/>
        </p:nvSpPr>
        <p:spPr>
          <a:xfrm>
            <a:off x="4615656" y="3272532"/>
            <a:ext cx="120729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E63"/>
                </a:solidFill>
                <a:latin typeface="JetBrains Mono" pitchFamily="49" charset="0"/>
                <a:ea typeface="JetBrains Mono" pitchFamily="49" charset="-122"/>
                <a:cs typeface="JetBrains Mono" pitchFamily="49" charset="-120"/>
              </a:rPr>
              <a:t>Jina + BM25</a:t>
            </a:r>
            <a:endParaRPr lang="en-US" sz="1200" dirty="0"/>
          </a:p>
        </p:txBody>
      </p:sp>
      <p:sp>
        <p:nvSpPr>
          <p:cNvPr id="17" name="Text 15"/>
          <p:cNvSpPr/>
          <p:nvPr/>
        </p:nvSpPr>
        <p:spPr>
          <a:xfrm>
            <a:off x="1009650" y="3523952"/>
            <a:ext cx="49576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Links every product and place word to the catalog; a category takes the post's product; unsure means options.</a:t>
            </a:r>
            <a:endParaRPr lang="en-US" sz="1200" dirty="0"/>
          </a:p>
        </p:txBody>
      </p:sp>
      <p:sp>
        <p:nvSpPr>
          <p:cNvPr id="18" name="Text 16"/>
          <p:cNvSpPr/>
          <p:nvPr/>
        </p:nvSpPr>
        <p:spPr>
          <a:xfrm>
            <a:off x="1009650" y="3988693"/>
            <a:ext cx="49576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writes products · place · clarify</a:t>
            </a:r>
            <a:endParaRPr lang="en-US" sz="1200" dirty="0"/>
          </a:p>
        </p:txBody>
      </p:sp>
      <p:sp>
        <p:nvSpPr>
          <p:cNvPr id="19" name="Shape 17"/>
          <p:cNvSpPr/>
          <p:nvPr/>
        </p:nvSpPr>
        <p:spPr>
          <a:xfrm>
            <a:off x="6178550" y="3158232"/>
            <a:ext cx="5194300" cy="1158081"/>
          </a:xfrm>
          <a:prstGeom prst="roundRect">
            <a:avLst>
              <a:gd name="adj" fmla="val 8225"/>
            </a:avLst>
          </a:prstGeom>
          <a:solidFill>
            <a:srgbClr val="FDFCF9"/>
          </a:solidFill>
          <a:ln w="12700">
            <a:solidFill>
              <a:srgbClr val="D9D6CC"/>
            </a:solidFill>
            <a:prstDash val="solid"/>
          </a:ln>
        </p:spPr>
      </p:sp>
      <p:sp>
        <p:nvSpPr>
          <p:cNvPr id="20" name="Text 18"/>
          <p:cNvSpPr/>
          <p:nvPr/>
        </p:nvSpPr>
        <p:spPr>
          <a:xfrm>
            <a:off x="6362700" y="3266182"/>
            <a:ext cx="18657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4 · check_shelves</a:t>
            </a:r>
            <a:endParaRPr lang="en-US" sz="1200" dirty="0"/>
          </a:p>
        </p:txBody>
      </p:sp>
      <p:sp>
        <p:nvSpPr>
          <p:cNvPr id="21" name="Text 19"/>
          <p:cNvSpPr/>
          <p:nvPr/>
        </p:nvSpPr>
        <p:spPr>
          <a:xfrm>
            <a:off x="10310733" y="3266182"/>
            <a:ext cx="87796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no model</a:t>
            </a:r>
            <a:endParaRPr lang="en-US" sz="1200" dirty="0"/>
          </a:p>
        </p:txBody>
      </p:sp>
      <p:sp>
        <p:nvSpPr>
          <p:cNvPr id="22" name="Text 20"/>
          <p:cNvSpPr/>
          <p:nvPr/>
        </p:nvSpPr>
        <p:spPr>
          <a:xfrm>
            <a:off x="6362700" y="3517602"/>
            <a:ext cx="49707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Filters the table for each product in the place asked, widening area → city → region → country if none is on the shelf.</a:t>
            </a:r>
            <a:endParaRPr lang="en-US" sz="1200" dirty="0"/>
          </a:p>
        </p:txBody>
      </p:sp>
      <p:sp>
        <p:nvSpPr>
          <p:cNvPr id="23" name="Text 21"/>
          <p:cNvSpPr/>
          <p:nvPr/>
        </p:nvSpPr>
        <p:spPr>
          <a:xfrm>
            <a:off x="6362700" y="3982343"/>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writes answers</a:t>
            </a:r>
            <a:endParaRPr lang="en-US" sz="1200" dirty="0"/>
          </a:p>
        </p:txBody>
      </p:sp>
      <p:sp>
        <p:nvSpPr>
          <p:cNvPr id="24" name="Shape 22"/>
          <p:cNvSpPr/>
          <p:nvPr/>
        </p:nvSpPr>
        <p:spPr>
          <a:xfrm>
            <a:off x="822325" y="4484588"/>
            <a:ext cx="5187950" cy="1151731"/>
          </a:xfrm>
          <a:prstGeom prst="roundRect">
            <a:avLst>
              <a:gd name="adj" fmla="val 7994"/>
            </a:avLst>
          </a:prstGeom>
          <a:solidFill>
            <a:srgbClr val="E4E1FA"/>
          </a:solidFill>
          <a:ln w="19050">
            <a:solidFill>
              <a:srgbClr val="4C3FD1"/>
            </a:solidFill>
            <a:prstDash val="solid"/>
          </a:ln>
        </p:spPr>
      </p:sp>
      <p:sp>
        <p:nvSpPr>
          <p:cNvPr id="25" name="Text 23"/>
          <p:cNvSpPr/>
          <p:nvPr/>
        </p:nvSpPr>
        <p:spPr>
          <a:xfrm>
            <a:off x="1009650" y="4595713"/>
            <a:ext cx="17559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5 · write_answer</a:t>
            </a:r>
            <a:endParaRPr lang="en-US" sz="1200" dirty="0"/>
          </a:p>
        </p:txBody>
      </p:sp>
      <p:sp>
        <p:nvSpPr>
          <p:cNvPr id="26" name="Text 24"/>
          <p:cNvSpPr/>
          <p:nvPr/>
        </p:nvSpPr>
        <p:spPr>
          <a:xfrm>
            <a:off x="5383967" y="4595713"/>
            <a:ext cx="4389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E63"/>
                </a:solidFill>
                <a:latin typeface="JetBrains Mono" pitchFamily="49" charset="0"/>
                <a:ea typeface="JetBrains Mono" pitchFamily="49" charset="-122"/>
                <a:cs typeface="JetBrains Mono" pitchFamily="49" charset="-120"/>
              </a:rPr>
              <a:t>Groq</a:t>
            </a:r>
            <a:endParaRPr lang="en-US" sz="1200" dirty="0"/>
          </a:p>
        </p:txBody>
      </p:sp>
      <p:sp>
        <p:nvSpPr>
          <p:cNvPr id="27" name="Text 25"/>
          <p:cNvSpPr/>
          <p:nvPr/>
        </p:nvSpPr>
        <p:spPr>
          <a:xfrm>
            <a:off x="1009650" y="4847134"/>
            <a:ext cx="49576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Writes the reply from a JSON of facts only: shops, visit dates, prices if asked; in Jordanian Arabic or English.</a:t>
            </a:r>
            <a:endParaRPr lang="en-US" sz="1200" dirty="0"/>
          </a:p>
        </p:txBody>
      </p:sp>
      <p:sp>
        <p:nvSpPr>
          <p:cNvPr id="28" name="Text 26"/>
          <p:cNvSpPr/>
          <p:nvPr/>
        </p:nvSpPr>
        <p:spPr>
          <a:xfrm>
            <a:off x="1009650" y="5311874"/>
            <a:ext cx="49576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writes reply · written_by · model</a:t>
            </a:r>
            <a:endParaRPr lang="en-US" sz="1200" dirty="0"/>
          </a:p>
        </p:txBody>
      </p:sp>
      <p:sp>
        <p:nvSpPr>
          <p:cNvPr id="29" name="Shape 27"/>
          <p:cNvSpPr/>
          <p:nvPr/>
        </p:nvSpPr>
        <p:spPr>
          <a:xfrm>
            <a:off x="6178550" y="4481413"/>
            <a:ext cx="5194300" cy="1158081"/>
          </a:xfrm>
          <a:prstGeom prst="roundRect">
            <a:avLst>
              <a:gd name="adj" fmla="val 8225"/>
            </a:avLst>
          </a:prstGeom>
          <a:solidFill>
            <a:srgbClr val="FDFCF9"/>
          </a:solidFill>
          <a:ln w="12700">
            <a:solidFill>
              <a:srgbClr val="D9D6CC"/>
            </a:solidFill>
            <a:prstDash val="solid"/>
          </a:ln>
        </p:spPr>
      </p:sp>
      <p:sp>
        <p:nvSpPr>
          <p:cNvPr id="30" name="Text 28"/>
          <p:cNvSpPr/>
          <p:nvPr/>
        </p:nvSpPr>
        <p:spPr>
          <a:xfrm>
            <a:off x="6362700" y="4589363"/>
            <a:ext cx="1536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6 · fact_check</a:t>
            </a:r>
            <a:endParaRPr lang="en-US" sz="1200" dirty="0"/>
          </a:p>
        </p:txBody>
      </p:sp>
      <p:sp>
        <p:nvSpPr>
          <p:cNvPr id="31" name="Text 29"/>
          <p:cNvSpPr/>
          <p:nvPr/>
        </p:nvSpPr>
        <p:spPr>
          <a:xfrm>
            <a:off x="10310733" y="4589363"/>
            <a:ext cx="87796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no model</a:t>
            </a:r>
            <a:endParaRPr lang="en-US" sz="1200" dirty="0"/>
          </a:p>
        </p:txBody>
      </p:sp>
      <p:sp>
        <p:nvSpPr>
          <p:cNvPr id="32" name="Text 30"/>
          <p:cNvSpPr/>
          <p:nvPr/>
        </p:nvSpPr>
        <p:spPr>
          <a:xfrm>
            <a:off x="6362700" y="4840784"/>
            <a:ext cx="49707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Every shop, date and price must be in the facts, and a visit date must be given; if not, the template replaces the reply.</a:t>
            </a:r>
            <a:endParaRPr lang="en-US" sz="1200" dirty="0"/>
          </a:p>
        </p:txBody>
      </p:sp>
      <p:sp>
        <p:nvSpPr>
          <p:cNvPr id="33" name="Text 31"/>
          <p:cNvSpPr/>
          <p:nvPr/>
        </p:nvSpPr>
        <p:spPr>
          <a:xfrm>
            <a:off x="6362700" y="5305524"/>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writes checks · reply</a:t>
            </a:r>
            <a:endParaRPr lang="en-US" sz="1200" dirty="0"/>
          </a:p>
        </p:txBody>
      </p:sp>
      <p:sp>
        <p:nvSpPr>
          <p:cNvPr id="34" name="Text 32"/>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35" name="Text 33"/>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10 / 22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LANGGRAPH · THE ASK GRAPH</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The branches, the edges and the shared state</a:t>
            </a:r>
            <a:endParaRPr lang="en-US" sz="3200" dirty="0"/>
          </a:p>
        </p:txBody>
      </p:sp>
      <p:sp>
        <p:nvSpPr>
          <p:cNvPr id="4" name="Text 2"/>
          <p:cNvSpPr/>
          <p:nvPr/>
        </p:nvSpPr>
        <p:spPr>
          <a:xfrm>
            <a:off x="812800" y="1828701"/>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The other five nodes</a:t>
            </a:r>
            <a:endParaRPr lang="en-US" sz="1400" dirty="0"/>
          </a:p>
        </p:txBody>
      </p:sp>
      <p:sp>
        <p:nvSpPr>
          <p:cNvPr id="5" name="Shape 3"/>
          <p:cNvSpPr/>
          <p:nvPr/>
        </p:nvSpPr>
        <p:spPr>
          <a:xfrm>
            <a:off x="812800" y="2099171"/>
            <a:ext cx="5130800" cy="0"/>
          </a:xfrm>
          <a:prstGeom prst="line">
            <a:avLst/>
          </a:prstGeom>
          <a:noFill/>
          <a:ln w="12700">
            <a:solidFill>
              <a:srgbClr val="D9D6CC"/>
            </a:solidFill>
            <a:prstDash val="solid"/>
          </a:ln>
        </p:spPr>
      </p:sp>
      <p:sp>
        <p:nvSpPr>
          <p:cNvPr id="6" name="Text 4"/>
          <p:cNvSpPr/>
          <p:nvPr/>
        </p:nvSpPr>
        <p:spPr>
          <a:xfrm>
            <a:off x="812800" y="214362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ask_clarify</a:t>
            </a:r>
            <a:endParaRPr lang="en-US" sz="1200" dirty="0"/>
          </a:p>
        </p:txBody>
      </p:sp>
      <p:sp>
        <p:nvSpPr>
          <p:cNvPr id="7" name="Text 5"/>
          <p:cNvSpPr/>
          <p:nvPr/>
        </p:nvSpPr>
        <p:spPr>
          <a:xfrm>
            <a:off x="812800" y="236964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Asks which product or place was meant; the team gets the options</a:t>
            </a:r>
            <a:endParaRPr lang="en-US" sz="1200" dirty="0"/>
          </a:p>
        </p:txBody>
      </p:sp>
      <p:sp>
        <p:nvSpPr>
          <p:cNvPr id="8" name="Shape 6"/>
          <p:cNvSpPr/>
          <p:nvPr/>
        </p:nvSpPr>
        <p:spPr>
          <a:xfrm>
            <a:off x="812800" y="2640112"/>
            <a:ext cx="5130800" cy="0"/>
          </a:xfrm>
          <a:prstGeom prst="line">
            <a:avLst/>
          </a:prstGeom>
          <a:noFill/>
          <a:ln w="12700">
            <a:solidFill>
              <a:srgbClr val="D9D6CC"/>
            </a:solidFill>
            <a:prstDash val="solid"/>
          </a:ln>
        </p:spPr>
      </p:sp>
      <p:sp>
        <p:nvSpPr>
          <p:cNvPr id="9" name="Text 7"/>
          <p:cNvSpPr/>
          <p:nvPr/>
        </p:nvSpPr>
        <p:spPr>
          <a:xfrm>
            <a:off x="812800" y="2684562"/>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write_courtesy</a:t>
            </a:r>
            <a:endParaRPr lang="en-US" sz="1200" dirty="0"/>
          </a:p>
        </p:txBody>
      </p:sp>
      <p:sp>
        <p:nvSpPr>
          <p:cNvPr id="10" name="Text 8"/>
          <p:cNvSpPr/>
          <p:nvPr/>
        </p:nvSpPr>
        <p:spPr>
          <a:xfrm>
            <a:off x="812800" y="2910582"/>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A short thanks; the model's own words only if they hold no numbers</a:t>
            </a:r>
            <a:endParaRPr lang="en-US" sz="1200" dirty="0"/>
          </a:p>
        </p:txBody>
      </p:sp>
      <p:sp>
        <p:nvSpPr>
          <p:cNvPr id="11" name="Shape 9"/>
          <p:cNvSpPr/>
          <p:nvPr/>
        </p:nvSpPr>
        <p:spPr>
          <a:xfrm>
            <a:off x="812800" y="3181052"/>
            <a:ext cx="5130800" cy="0"/>
          </a:xfrm>
          <a:prstGeom prst="line">
            <a:avLst/>
          </a:prstGeom>
          <a:noFill/>
          <a:ln w="12700">
            <a:solidFill>
              <a:srgbClr val="D9D6CC"/>
            </a:solidFill>
            <a:prstDash val="solid"/>
          </a:ln>
        </p:spPr>
      </p:sp>
      <p:sp>
        <p:nvSpPr>
          <p:cNvPr id="12" name="Text 10"/>
          <p:cNvSpPr/>
          <p:nvPr/>
        </p:nvSpPr>
        <p:spPr>
          <a:xfrm>
            <a:off x="812800" y="3225502"/>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hand_off</a:t>
            </a:r>
            <a:endParaRPr lang="en-US" sz="1200" dirty="0"/>
          </a:p>
        </p:txBody>
      </p:sp>
      <p:sp>
        <p:nvSpPr>
          <p:cNvPr id="13" name="Text 11"/>
          <p:cNvSpPr/>
          <p:nvPr/>
        </p:nvSpPr>
        <p:spPr>
          <a:xfrm>
            <a:off x="812800" y="3451523"/>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A holding reply; the comment is flagged “Needs a person”</a:t>
            </a:r>
            <a:endParaRPr lang="en-US" sz="1200" dirty="0"/>
          </a:p>
        </p:txBody>
      </p:sp>
      <p:sp>
        <p:nvSpPr>
          <p:cNvPr id="14" name="Shape 12"/>
          <p:cNvSpPr/>
          <p:nvPr/>
        </p:nvSpPr>
        <p:spPr>
          <a:xfrm>
            <a:off x="812800" y="3721993"/>
            <a:ext cx="5130800" cy="0"/>
          </a:xfrm>
          <a:prstGeom prst="line">
            <a:avLst/>
          </a:prstGeom>
          <a:noFill/>
          <a:ln w="12700">
            <a:solidFill>
              <a:srgbClr val="D9D6CC"/>
            </a:solidFill>
            <a:prstDash val="solid"/>
          </a:ln>
        </p:spPr>
      </p:sp>
      <p:sp>
        <p:nvSpPr>
          <p:cNvPr id="15" name="Text 13"/>
          <p:cNvSpPr/>
          <p:nvPr/>
        </p:nvSpPr>
        <p:spPr>
          <a:xfrm>
            <a:off x="812800" y="3766443"/>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no_reply</a:t>
            </a:r>
            <a:endParaRPr lang="en-US" sz="1200" dirty="0"/>
          </a:p>
        </p:txBody>
      </p:sp>
      <p:sp>
        <p:nvSpPr>
          <p:cNvPr id="16" name="Text 14"/>
          <p:cNvSpPr/>
          <p:nvPr/>
        </p:nvSpPr>
        <p:spPr>
          <a:xfrm>
            <a:off x="812800" y="3992463"/>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Tags, emojis and spam: nothing to send</a:t>
            </a:r>
            <a:endParaRPr lang="en-US" sz="1200" dirty="0"/>
          </a:p>
        </p:txBody>
      </p:sp>
      <p:sp>
        <p:nvSpPr>
          <p:cNvPr id="17" name="Shape 15"/>
          <p:cNvSpPr/>
          <p:nvPr/>
        </p:nvSpPr>
        <p:spPr>
          <a:xfrm>
            <a:off x="812800" y="4262934"/>
            <a:ext cx="5130800" cy="0"/>
          </a:xfrm>
          <a:prstGeom prst="line">
            <a:avLst/>
          </a:prstGeom>
          <a:noFill/>
          <a:ln w="12700">
            <a:solidFill>
              <a:srgbClr val="D9D6CC"/>
            </a:solidFill>
            <a:prstDash val="solid"/>
          </a:ln>
        </p:spPr>
      </p:sp>
      <p:sp>
        <p:nvSpPr>
          <p:cNvPr id="18" name="Text 16"/>
          <p:cNvSpPr/>
          <p:nvPr/>
        </p:nvSpPr>
        <p:spPr>
          <a:xfrm>
            <a:off x="812800" y="4307384"/>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assemble_draft</a:t>
            </a:r>
            <a:endParaRPr lang="en-US" sz="1200" dirty="0"/>
          </a:p>
        </p:txBody>
      </p:sp>
      <p:sp>
        <p:nvSpPr>
          <p:cNvPr id="19" name="Text 17"/>
          <p:cNvSpPr/>
          <p:nvPr/>
        </p:nvSpPr>
        <p:spPr>
          <a:xfrm>
            <a:off x="812800" y="4533404"/>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One draft: text, status, products, place, shops and dates used, trace</a:t>
            </a:r>
            <a:endParaRPr lang="en-US" sz="1200" dirty="0"/>
          </a:p>
        </p:txBody>
      </p:sp>
      <p:sp>
        <p:nvSpPr>
          <p:cNvPr id="20" name="Text 18"/>
          <p:cNvSpPr/>
          <p:nvPr/>
        </p:nvSpPr>
        <p:spPr>
          <a:xfrm>
            <a:off x="6248400" y="1828701"/>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The three decisions</a:t>
            </a:r>
            <a:endParaRPr lang="en-US" sz="1400" dirty="0"/>
          </a:p>
        </p:txBody>
      </p:sp>
      <p:sp>
        <p:nvSpPr>
          <p:cNvPr id="21" name="Shape 19"/>
          <p:cNvSpPr/>
          <p:nvPr/>
        </p:nvSpPr>
        <p:spPr>
          <a:xfrm>
            <a:off x="6248400" y="2099171"/>
            <a:ext cx="5130800" cy="0"/>
          </a:xfrm>
          <a:prstGeom prst="line">
            <a:avLst/>
          </a:prstGeom>
          <a:noFill/>
          <a:ln w="12700">
            <a:solidFill>
              <a:srgbClr val="D9D6CC"/>
            </a:solidFill>
            <a:prstDash val="solid"/>
          </a:ln>
        </p:spPr>
      </p:sp>
      <p:sp>
        <p:nvSpPr>
          <p:cNvPr id="22" name="Text 20"/>
          <p:cNvSpPr/>
          <p:nvPr/>
        </p:nvSpPr>
        <p:spPr>
          <a:xfrm>
            <a:off x="6248400" y="214362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after load_context</a:t>
            </a:r>
            <a:endParaRPr lang="en-US" sz="1200" dirty="0"/>
          </a:p>
        </p:txBody>
      </p:sp>
      <p:sp>
        <p:nvSpPr>
          <p:cNvPr id="23" name="Text 21"/>
          <p:cNvSpPr/>
          <p:nvPr/>
        </p:nvSpPr>
        <p:spPr>
          <a:xfrm>
            <a:off x="6248400" y="236964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Comment found → understand_comment; missing → END</a:t>
            </a:r>
            <a:endParaRPr lang="en-US" sz="1200" dirty="0"/>
          </a:p>
        </p:txBody>
      </p:sp>
      <p:sp>
        <p:nvSpPr>
          <p:cNvPr id="24" name="Shape 22"/>
          <p:cNvSpPr/>
          <p:nvPr/>
        </p:nvSpPr>
        <p:spPr>
          <a:xfrm>
            <a:off x="6248400" y="2640112"/>
            <a:ext cx="5130800" cy="0"/>
          </a:xfrm>
          <a:prstGeom prst="line">
            <a:avLst/>
          </a:prstGeom>
          <a:noFill/>
          <a:ln w="12700">
            <a:solidFill>
              <a:srgbClr val="D9D6CC"/>
            </a:solidFill>
            <a:prstDash val="solid"/>
          </a:ln>
        </p:spPr>
      </p:sp>
      <p:sp>
        <p:nvSpPr>
          <p:cNvPr id="25" name="Text 23"/>
          <p:cNvSpPr/>
          <p:nvPr/>
        </p:nvSpPr>
        <p:spPr>
          <a:xfrm>
            <a:off x="6248400" y="2684562"/>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after understand_comment</a:t>
            </a:r>
            <a:endParaRPr lang="en-US" sz="1200" dirty="0"/>
          </a:p>
        </p:txBody>
      </p:sp>
      <p:sp>
        <p:nvSpPr>
          <p:cNvPr id="26" name="Text 24"/>
          <p:cNvSpPr/>
          <p:nvPr/>
        </p:nvSpPr>
        <p:spPr>
          <a:xfrm>
            <a:off x="6248400" y="2910582"/>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Where to buy or price → find_entities · praise → write_courtesy · complaint or other question → hand_off · tag, chat or spam → no_reply</a:t>
            </a:r>
            <a:endParaRPr lang="en-US" sz="1200" dirty="0"/>
          </a:p>
        </p:txBody>
      </p:sp>
      <p:sp>
        <p:nvSpPr>
          <p:cNvPr id="27" name="Shape 25"/>
          <p:cNvSpPr/>
          <p:nvPr/>
        </p:nvSpPr>
        <p:spPr>
          <a:xfrm>
            <a:off x="6248400" y="3394373"/>
            <a:ext cx="5130800" cy="0"/>
          </a:xfrm>
          <a:prstGeom prst="line">
            <a:avLst/>
          </a:prstGeom>
          <a:noFill/>
          <a:ln w="12700">
            <a:solidFill>
              <a:srgbClr val="D9D6CC"/>
            </a:solidFill>
            <a:prstDash val="solid"/>
          </a:ln>
        </p:spPr>
      </p:sp>
      <p:sp>
        <p:nvSpPr>
          <p:cNvPr id="28" name="Text 26"/>
          <p:cNvSpPr/>
          <p:nvPr/>
        </p:nvSpPr>
        <p:spPr>
          <a:xfrm>
            <a:off x="6248400" y="3438823"/>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after find_entities</a:t>
            </a:r>
            <a:endParaRPr lang="en-US" sz="1200" dirty="0"/>
          </a:p>
        </p:txBody>
      </p:sp>
      <p:sp>
        <p:nvSpPr>
          <p:cNvPr id="29" name="Text 27"/>
          <p:cNvSpPr/>
          <p:nvPr/>
        </p:nvSpPr>
        <p:spPr>
          <a:xfrm>
            <a:off x="6248400" y="3664843"/>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A choice is needed → ask_clarify; otherwise → check_shelves</a:t>
            </a:r>
            <a:endParaRPr lang="en-US" sz="1200" dirty="0"/>
          </a:p>
        </p:txBody>
      </p:sp>
      <p:sp>
        <p:nvSpPr>
          <p:cNvPr id="30" name="Shape 28"/>
          <p:cNvSpPr/>
          <p:nvPr/>
        </p:nvSpPr>
        <p:spPr>
          <a:xfrm>
            <a:off x="6248400" y="3935313"/>
            <a:ext cx="5130800" cy="0"/>
          </a:xfrm>
          <a:prstGeom prst="line">
            <a:avLst/>
          </a:prstGeom>
          <a:noFill/>
          <a:ln w="12700">
            <a:solidFill>
              <a:srgbClr val="D9D6CC"/>
            </a:solidFill>
            <a:prstDash val="solid"/>
          </a:ln>
        </p:spPr>
      </p:sp>
      <p:sp>
        <p:nvSpPr>
          <p:cNvPr id="31" name="Text 29"/>
          <p:cNvSpPr/>
          <p:nvPr/>
        </p:nvSpPr>
        <p:spPr>
          <a:xfrm>
            <a:off x="6248400" y="3979763"/>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nine fixed edges</a:t>
            </a:r>
            <a:endParaRPr lang="en-US" sz="1200" dirty="0"/>
          </a:p>
        </p:txBody>
      </p:sp>
      <p:sp>
        <p:nvSpPr>
          <p:cNvPr id="32" name="Text 30"/>
          <p:cNvSpPr/>
          <p:nvPr/>
        </p:nvSpPr>
        <p:spPr>
          <a:xfrm>
            <a:off x="6248400" y="4205784"/>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START → load_context; the answer chain; every branch → assemble_draft → END</a:t>
            </a:r>
            <a:endParaRPr lang="en-US" sz="1200" dirty="0"/>
          </a:p>
        </p:txBody>
      </p:sp>
      <p:sp>
        <p:nvSpPr>
          <p:cNvPr id="33" name="Shape 31"/>
          <p:cNvSpPr/>
          <p:nvPr/>
        </p:nvSpPr>
        <p:spPr>
          <a:xfrm>
            <a:off x="812800" y="5000724"/>
            <a:ext cx="10566400" cy="706041"/>
          </a:xfrm>
          <a:prstGeom prst="roundRect">
            <a:avLst>
              <a:gd name="adj" fmla="val 14390"/>
            </a:avLst>
          </a:prstGeom>
          <a:solidFill>
            <a:srgbClr val="16182B"/>
          </a:solidFill>
          <a:ln/>
        </p:spPr>
      </p:sp>
      <p:sp>
        <p:nvSpPr>
          <p:cNvPr id="34" name="Text 32"/>
          <p:cNvSpPr/>
          <p:nvPr/>
        </p:nvSpPr>
        <p:spPr>
          <a:xfrm>
            <a:off x="1016000" y="5127724"/>
            <a:ext cx="104648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9FF5"/>
                </a:solidFill>
                <a:latin typeface="JetBrains Mono" pitchFamily="49" charset="0"/>
                <a:ea typeface="JetBrains Mono" pitchFamily="49" charset="-122"/>
                <a:cs typeface="JetBrains Mono" pitchFamily="49" charset="-120"/>
              </a:rPr>
              <a:t>THE SHARED STATE</a:t>
            </a:r>
            <a:endParaRPr lang="en-US" sz="1200" dirty="0"/>
          </a:p>
        </p:txBody>
      </p:sp>
      <p:sp>
        <p:nvSpPr>
          <p:cNvPr id="35" name="Text 33"/>
          <p:cNvSpPr/>
          <p:nvPr/>
        </p:nvSpPr>
        <p:spPr>
          <a:xfrm>
            <a:off x="1016000" y="5366445"/>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E0"/>
                </a:solidFill>
                <a:latin typeface="IBM Plex Sans" pitchFamily="34" charset="0"/>
                <a:ea typeface="IBM Plex Sans" pitchFamily="34" charset="-122"/>
                <a:cs typeface="IBM Plex Sans" pitchFamily="34" charset="-120"/>
              </a:rPr>
              <a:t>20 channels in one state; each node returns only what it changes; notes and trace append, the rest keep the last value.</a:t>
            </a:r>
            <a:endParaRPr lang="en-US" sz="1200" dirty="0"/>
          </a:p>
        </p:txBody>
      </p:sp>
      <p:sp>
        <p:nvSpPr>
          <p:cNvPr id="36" name="Text 34"/>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37" name="Text 35"/>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11 / 22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SEARCH · INSIDE FIND_ENTITIES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Hybrid search: three rankings fused into one</a:t>
            </a:r>
            <a:endParaRPr lang="en-US" sz="3200" dirty="0"/>
          </a:p>
        </p:txBody>
      </p:sp>
      <p:sp>
        <p:nvSpPr>
          <p:cNvPr id="4" name="Shape 2"/>
          <p:cNvSpPr/>
          <p:nvPr/>
        </p:nvSpPr>
        <p:spPr>
          <a:xfrm>
            <a:off x="819150" y="1733451"/>
            <a:ext cx="3403600" cy="1864122"/>
          </a:xfrm>
          <a:prstGeom prst="roundRect">
            <a:avLst>
              <a:gd name="adj" fmla="val 5110"/>
            </a:avLst>
          </a:prstGeom>
          <a:solidFill>
            <a:srgbClr val="FDFCF9"/>
          </a:solidFill>
          <a:ln w="12700">
            <a:solidFill>
              <a:srgbClr val="D9D6CC"/>
            </a:solidFill>
            <a:prstDash val="solid"/>
          </a:ln>
        </p:spPr>
      </p:sp>
      <p:sp>
        <p:nvSpPr>
          <p:cNvPr id="5" name="Text 3"/>
          <p:cNvSpPr/>
          <p:nvPr/>
        </p:nvSpPr>
        <p:spPr>
          <a:xfrm>
            <a:off x="1003300" y="1892201"/>
            <a:ext cx="31263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1 · BM25 on words</a:t>
            </a:r>
            <a:endParaRPr lang="en-US" sz="1400" dirty="0"/>
          </a:p>
        </p:txBody>
      </p:sp>
      <p:sp>
        <p:nvSpPr>
          <p:cNvPr id="6" name="Text 4"/>
          <p:cNvSpPr/>
          <p:nvPr/>
        </p:nvSpPr>
        <p:spPr>
          <a:xfrm>
            <a:off x="1003300" y="2156321"/>
            <a:ext cx="31263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Catches exact names, rare words and Arabic prefixes: بالزرقا‎ → ‎الزرقا</a:t>
            </a:r>
            <a:endParaRPr lang="en-US" sz="1200" dirty="0"/>
          </a:p>
        </p:txBody>
      </p:sp>
      <p:sp>
        <p:nvSpPr>
          <p:cNvPr id="7" name="Text 5"/>
          <p:cNvSpPr/>
          <p:nvPr/>
        </p:nvSpPr>
        <p:spPr>
          <a:xfrm>
            <a:off x="1003300" y="2633762"/>
            <a:ext cx="3035300" cy="528241"/>
          </a:xfrm>
          <a:prstGeom prst="roundRect">
            <a:avLst>
              <a:gd name="adj" fmla="val 9617"/>
            </a:avLst>
          </a:prstGeom>
          <a:solidFill>
            <a:srgbClr val="ECEAE3"/>
          </a:solidFill>
          <a:ln/>
        </p:spPr>
        <p:txBody>
          <a:bodyPr wrap="square" lIns="61321" tIns="35921" rIns="0" bIns="10521"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Σ idf · 2.2 / (1 + 1.2 · (0.25 + 0.75 · len/avg))</a:t>
            </a:r>
            <a:endParaRPr lang="en-US" sz="1200" dirty="0"/>
          </a:p>
        </p:txBody>
      </p:sp>
      <p:sp>
        <p:nvSpPr>
          <p:cNvPr id="8" name="Text 6"/>
          <p:cNvSpPr/>
          <p:nvPr/>
        </p:nvSpPr>
        <p:spPr>
          <a:xfrm>
            <a:off x="1003300" y="3212802"/>
            <a:ext cx="3126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بالزرقا‎ → ‎الزرقاء‎: 10.30, rank 1</a:t>
            </a:r>
            <a:endParaRPr lang="en-US" sz="1200" dirty="0"/>
          </a:p>
        </p:txBody>
      </p:sp>
      <p:sp>
        <p:nvSpPr>
          <p:cNvPr id="9" name="Shape 7"/>
          <p:cNvSpPr/>
          <p:nvPr/>
        </p:nvSpPr>
        <p:spPr>
          <a:xfrm>
            <a:off x="4387850" y="1733451"/>
            <a:ext cx="3403600" cy="1864122"/>
          </a:xfrm>
          <a:prstGeom prst="roundRect">
            <a:avLst>
              <a:gd name="adj" fmla="val 5110"/>
            </a:avLst>
          </a:prstGeom>
          <a:solidFill>
            <a:srgbClr val="FDFCF9"/>
          </a:solidFill>
          <a:ln w="12700">
            <a:solidFill>
              <a:srgbClr val="D9D6CC"/>
            </a:solidFill>
            <a:prstDash val="solid"/>
          </a:ln>
        </p:spPr>
      </p:sp>
      <p:sp>
        <p:nvSpPr>
          <p:cNvPr id="10" name="Text 8"/>
          <p:cNvSpPr/>
          <p:nvPr/>
        </p:nvSpPr>
        <p:spPr>
          <a:xfrm>
            <a:off x="4572000" y="1892201"/>
            <a:ext cx="31263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2 · Character vectors</a:t>
            </a:r>
            <a:endParaRPr lang="en-US" sz="1400" dirty="0"/>
          </a:p>
        </p:txBody>
      </p:sp>
      <p:sp>
        <p:nvSpPr>
          <p:cNvPr id="11" name="Text 9"/>
          <p:cNvSpPr/>
          <p:nvPr/>
        </p:nvSpPr>
        <p:spPr>
          <a:xfrm>
            <a:off x="4572000" y="2156321"/>
            <a:ext cx="31263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Catches typos and spellings: زيتوون is close to زيتون</a:t>
            </a:r>
            <a:endParaRPr lang="en-US" sz="1200" dirty="0"/>
          </a:p>
        </p:txBody>
      </p:sp>
      <p:sp>
        <p:nvSpPr>
          <p:cNvPr id="12" name="Text 10"/>
          <p:cNvSpPr/>
          <p:nvPr/>
        </p:nvSpPr>
        <p:spPr>
          <a:xfrm>
            <a:off x="4572000" y="2633762"/>
            <a:ext cx="3035300" cy="528241"/>
          </a:xfrm>
          <a:prstGeom prst="roundRect">
            <a:avLst>
              <a:gd name="adj" fmla="val 9617"/>
            </a:avLst>
          </a:prstGeom>
          <a:solidFill>
            <a:srgbClr val="ECEAE3"/>
          </a:solidFill>
          <a:ln/>
        </p:spPr>
        <p:txBody>
          <a:bodyPr wrap="square" lIns="61321" tIns="35921" rIns="0" bIns="10521"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cos(q, d) = q · d over 512 slots</a:t>
            </a:r>
            <a:endParaRPr lang="en-US" sz="1200" dirty="0"/>
          </a:p>
        </p:txBody>
      </p:sp>
      <p:sp>
        <p:nvSpPr>
          <p:cNvPr id="13" name="Text 11"/>
          <p:cNvSpPr/>
          <p:nvPr/>
        </p:nvSpPr>
        <p:spPr>
          <a:xfrm>
            <a:off x="4572000" y="3212802"/>
            <a:ext cx="3126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زيت زيتوون vs زيت زيتون‎: 0.81, rank 1</a:t>
            </a:r>
            <a:endParaRPr lang="en-US" sz="1200" dirty="0"/>
          </a:p>
        </p:txBody>
      </p:sp>
      <p:sp>
        <p:nvSpPr>
          <p:cNvPr id="14" name="Shape 12"/>
          <p:cNvSpPr/>
          <p:nvPr/>
        </p:nvSpPr>
        <p:spPr>
          <a:xfrm>
            <a:off x="7959725" y="1736626"/>
            <a:ext cx="3409950" cy="1857772"/>
          </a:xfrm>
          <a:prstGeom prst="roundRect">
            <a:avLst>
              <a:gd name="adj" fmla="val 4956"/>
            </a:avLst>
          </a:prstGeom>
          <a:solidFill>
            <a:srgbClr val="E4E1FA"/>
          </a:solidFill>
          <a:ln w="19050">
            <a:solidFill>
              <a:srgbClr val="4C3FD1"/>
            </a:solidFill>
            <a:prstDash val="solid"/>
          </a:ln>
        </p:spPr>
      </p:sp>
      <p:sp>
        <p:nvSpPr>
          <p:cNvPr id="15" name="Text 13"/>
          <p:cNvSpPr/>
          <p:nvPr/>
        </p:nvSpPr>
        <p:spPr>
          <a:xfrm>
            <a:off x="8147050" y="1898551"/>
            <a:ext cx="31263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3 · Jina vectors</a:t>
            </a:r>
            <a:endParaRPr lang="en-US" sz="1400" dirty="0"/>
          </a:p>
        </p:txBody>
      </p:sp>
      <p:sp>
        <p:nvSpPr>
          <p:cNvPr id="16" name="Text 14"/>
          <p:cNvSpPr/>
          <p:nvPr/>
        </p:nvSpPr>
        <p:spPr>
          <a:xfrm>
            <a:off x="8147050" y="2162671"/>
            <a:ext cx="31263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Catches meaning, across languages: olive oil is close to زيت زيتون</a:t>
            </a:r>
            <a:endParaRPr lang="en-US" sz="1200" dirty="0"/>
          </a:p>
        </p:txBody>
      </p:sp>
      <p:sp>
        <p:nvSpPr>
          <p:cNvPr id="17" name="Text 15"/>
          <p:cNvSpPr/>
          <p:nvPr/>
        </p:nvSpPr>
        <p:spPr>
          <a:xfrm>
            <a:off x="8147050" y="2640112"/>
            <a:ext cx="3035300" cy="528241"/>
          </a:xfrm>
          <a:prstGeom prst="roundRect">
            <a:avLst>
              <a:gd name="adj" fmla="val 9617"/>
            </a:avLst>
          </a:prstGeom>
          <a:solidFill>
            <a:srgbClr val="F6F5F1"/>
          </a:solidFill>
          <a:ln/>
        </p:spPr>
        <p:txBody>
          <a:bodyPr wrap="square" lIns="61321" tIns="35921" rIns="0" bIns="10521" rtlCol="0" anchor="t">
            <a:normAutofit/>
          </a:bodyPr>
          <a:lstStyle/>
          <a:p>
            <a:pPr algn="l"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cos(q, d) = q · d over 256 numbers</a:t>
            </a:r>
            <a:endParaRPr lang="en-US" sz="1200" dirty="0"/>
          </a:p>
        </p:txBody>
      </p:sp>
      <p:sp>
        <p:nvSpPr>
          <p:cNvPr id="18" name="Text 16"/>
          <p:cNvSpPr/>
          <p:nvPr/>
        </p:nvSpPr>
        <p:spPr>
          <a:xfrm>
            <a:off x="8147050" y="3219152"/>
            <a:ext cx="3126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The question is embedded once per search</a:t>
            </a:r>
            <a:endParaRPr lang="en-US" sz="1200" dirty="0"/>
          </a:p>
        </p:txBody>
      </p:sp>
      <p:sp>
        <p:nvSpPr>
          <p:cNvPr id="19" name="Shape 17"/>
          <p:cNvSpPr/>
          <p:nvPr/>
        </p:nvSpPr>
        <p:spPr>
          <a:xfrm>
            <a:off x="812800" y="3756323"/>
            <a:ext cx="10566400" cy="1046361"/>
          </a:xfrm>
          <a:prstGeom prst="roundRect">
            <a:avLst>
              <a:gd name="adj" fmla="val 9710"/>
            </a:avLst>
          </a:prstGeom>
          <a:solidFill>
            <a:srgbClr val="16182B"/>
          </a:solidFill>
          <a:ln/>
        </p:spPr>
      </p:sp>
      <p:sp>
        <p:nvSpPr>
          <p:cNvPr id="20" name="Text 18"/>
          <p:cNvSpPr/>
          <p:nvPr/>
        </p:nvSpPr>
        <p:spPr>
          <a:xfrm>
            <a:off x="1016000" y="3908723"/>
            <a:ext cx="104648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9FF5"/>
                </a:solidFill>
                <a:latin typeface="JetBrains Mono" pitchFamily="49" charset="0"/>
                <a:ea typeface="JetBrains Mono" pitchFamily="49" charset="-122"/>
                <a:cs typeface="JetBrains Mono" pitchFamily="49" charset="-120"/>
              </a:rPr>
              <a:t>FUSION · RECIPROCAL RANK FUSION</a:t>
            </a:r>
            <a:endParaRPr lang="en-US" sz="1200" dirty="0"/>
          </a:p>
        </p:txBody>
      </p:sp>
      <p:sp>
        <p:nvSpPr>
          <p:cNvPr id="21" name="Text 19"/>
          <p:cNvSpPr/>
          <p:nvPr/>
        </p:nvSpPr>
        <p:spPr>
          <a:xfrm>
            <a:off x="1016000" y="4172843"/>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score = 1/(60 + BM25 rank) + 1/(60 + character rank) + 1/(60 + Jina rank)</a:t>
            </a:r>
            <a:endParaRPr lang="en-US" sz="1200" dirty="0"/>
          </a:p>
        </p:txBody>
      </p:sp>
      <p:sp>
        <p:nvSpPr>
          <p:cNvPr id="22" name="Text 20"/>
          <p:cNvSpPr/>
          <p:nvPr/>
        </p:nvSpPr>
        <p:spPr>
          <a:xfrm>
            <a:off x="1016000" y="4436963"/>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E0"/>
                </a:solidFill>
                <a:latin typeface="IBM Plex Sans" pitchFamily="34" charset="0"/>
                <a:ea typeface="IBM Plex Sans" pitchFamily="34" charset="-122"/>
                <a:cs typeface="IBM Plex Sans" pitchFamily="34" charset="-120"/>
              </a:rPr>
              <a:t>Ranks, not raw scores, so BM25 points and cosines never need a common scale. An exact name adds 0.05.</a:t>
            </a:r>
            <a:endParaRPr lang="en-US" sz="1200" dirty="0"/>
          </a:p>
        </p:txBody>
      </p:sp>
      <p:sp>
        <p:nvSpPr>
          <p:cNvPr id="23" name="Shape 21"/>
          <p:cNvSpPr/>
          <p:nvPr/>
        </p:nvSpPr>
        <p:spPr>
          <a:xfrm>
            <a:off x="819150" y="4961434"/>
            <a:ext cx="3407866" cy="505420"/>
          </a:xfrm>
          <a:prstGeom prst="roundRect">
            <a:avLst>
              <a:gd name="adj" fmla="val 18846"/>
            </a:avLst>
          </a:prstGeom>
          <a:solidFill>
            <a:srgbClr val="FDFCF9"/>
          </a:solidFill>
          <a:ln w="12700">
            <a:solidFill>
              <a:srgbClr val="D9D6CC"/>
            </a:solidFill>
            <a:prstDash val="solid"/>
          </a:ln>
        </p:spPr>
      </p:sp>
      <p:sp>
        <p:nvSpPr>
          <p:cNvPr id="24" name="Text 22"/>
          <p:cNvSpPr/>
          <p:nvPr/>
        </p:nvSpPr>
        <p:spPr>
          <a:xfrm>
            <a:off x="977900" y="5069384"/>
            <a:ext cx="660499" cy="289520"/>
          </a:xfrm>
          <a:custGeom>
            <a:avLst/>
            <a:gdLst/>
            <a:ahLst/>
            <a:cxnLst/>
            <a:rect l="l" t="t" r="r" b="b"/>
            <a:pathLst>
              <a:path w="660499" h="289520">
                <a:moveTo>
                  <a:pt x="144760" y="0"/>
                </a:moveTo>
                <a:lnTo>
                  <a:pt x="515739" y="0"/>
                </a:lnTo>
                <a:arcTo hR="144760" wR="144760" stAng="16200000" swAng="5400000"/>
                <a:lnTo>
                  <a:pt x="660499" y="144760"/>
                </a:lnTo>
                <a:arcTo hR="144760" wR="144760" stAng="0" swAng="5400000"/>
                <a:lnTo>
                  <a:pt x="144760" y="289520"/>
                </a:lnTo>
                <a:arcTo hR="144760" wR="144760" stAng="5400000" swAng="5400000"/>
                <a:lnTo>
                  <a:pt x="0" y="144760"/>
                </a:lnTo>
                <a:arcTo hR="144760" wR="144760" stAng="10800000" swAng="5400000"/>
                <a:close/>
              </a:path>
            </a:pathLst>
          </a:custGeom>
          <a:solidFill>
            <a:srgbClr val="16182B"/>
          </a:solidFill>
          <a:ln/>
        </p:spPr>
        <p:txBody>
          <a:bodyPr wrap="none" lIns="0" tIns="0" rIns="0" bIns="0" rtlCol="0" anchor="ctr">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match</a:t>
            </a:r>
            <a:endParaRPr lang="en-US" sz="1200" dirty="0"/>
          </a:p>
        </p:txBody>
      </p:sp>
      <p:sp>
        <p:nvSpPr>
          <p:cNvPr id="25" name="Text 23"/>
          <p:cNvSpPr/>
          <p:nvPr/>
        </p:nvSpPr>
        <p:spPr>
          <a:xfrm>
            <a:off x="1739999" y="5107484"/>
            <a:ext cx="24806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confidence ≥ 0.72, no close rival</a:t>
            </a:r>
            <a:endParaRPr lang="en-US" sz="1200" dirty="0"/>
          </a:p>
        </p:txBody>
      </p:sp>
      <p:sp>
        <p:nvSpPr>
          <p:cNvPr id="26" name="Shape 24"/>
          <p:cNvSpPr/>
          <p:nvPr/>
        </p:nvSpPr>
        <p:spPr>
          <a:xfrm>
            <a:off x="4392116" y="4961434"/>
            <a:ext cx="3407866" cy="505420"/>
          </a:xfrm>
          <a:prstGeom prst="roundRect">
            <a:avLst>
              <a:gd name="adj" fmla="val 18846"/>
            </a:avLst>
          </a:prstGeom>
          <a:solidFill>
            <a:srgbClr val="FDFCF9"/>
          </a:solidFill>
          <a:ln w="12700">
            <a:solidFill>
              <a:srgbClr val="D9D6CC"/>
            </a:solidFill>
            <a:prstDash val="solid"/>
          </a:ln>
        </p:spPr>
      </p:sp>
      <p:sp>
        <p:nvSpPr>
          <p:cNvPr id="27" name="Text 25"/>
          <p:cNvSpPr/>
          <p:nvPr/>
        </p:nvSpPr>
        <p:spPr>
          <a:xfrm>
            <a:off x="4550866" y="5069384"/>
            <a:ext cx="477639" cy="289520"/>
          </a:xfrm>
          <a:custGeom>
            <a:avLst/>
            <a:gdLst/>
            <a:ahLst/>
            <a:cxnLst/>
            <a:rect l="l" t="t" r="r" b="b"/>
            <a:pathLst>
              <a:path w="477639" h="289520">
                <a:moveTo>
                  <a:pt x="144760" y="0"/>
                </a:moveTo>
                <a:lnTo>
                  <a:pt x="332879" y="0"/>
                </a:lnTo>
                <a:arcTo hR="144760" wR="144760" stAng="16200000" swAng="5400000"/>
                <a:lnTo>
                  <a:pt x="477639" y="144760"/>
                </a:lnTo>
                <a:arcTo hR="144760" wR="144760" stAng="0" swAng="5400000"/>
                <a:lnTo>
                  <a:pt x="144760" y="289520"/>
                </a:lnTo>
                <a:arcTo hR="144760" wR="144760" stAng="5400000" swAng="5400000"/>
                <a:lnTo>
                  <a:pt x="0" y="144760"/>
                </a:lnTo>
                <a:arcTo hR="144760" wR="144760" stAng="10800000" swAng="5400000"/>
                <a:close/>
              </a:path>
            </a:pathLst>
          </a:custGeom>
          <a:solidFill>
            <a:srgbClr val="E4E1FA"/>
          </a:solidFill>
          <a:ln/>
        </p:spPr>
        <p:txBody>
          <a:bodyPr wrap="none" lIns="0" tIns="0" rIns="0" bIns="0" rtlCol="0" anchor="ctr">
            <a:normAutofit/>
          </a:bodyPr>
          <a:lstStyle/>
          <a:p>
            <a:pPr algn="ctr"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ask</a:t>
            </a:r>
            <a:endParaRPr lang="en-US" sz="1200" dirty="0"/>
          </a:p>
        </p:txBody>
      </p:sp>
      <p:sp>
        <p:nvSpPr>
          <p:cNvPr id="28" name="Text 26"/>
          <p:cNvSpPr/>
          <p:nvPr/>
        </p:nvSpPr>
        <p:spPr>
          <a:xfrm>
            <a:off x="5130105" y="5107484"/>
            <a:ext cx="22467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0.55 to 0.72, or a close rival</a:t>
            </a:r>
            <a:endParaRPr lang="en-US" sz="1200" dirty="0"/>
          </a:p>
        </p:txBody>
      </p:sp>
      <p:sp>
        <p:nvSpPr>
          <p:cNvPr id="29" name="Shape 27"/>
          <p:cNvSpPr/>
          <p:nvPr/>
        </p:nvSpPr>
        <p:spPr>
          <a:xfrm>
            <a:off x="7965083" y="4961434"/>
            <a:ext cx="3407866" cy="505420"/>
          </a:xfrm>
          <a:prstGeom prst="roundRect">
            <a:avLst>
              <a:gd name="adj" fmla="val 18846"/>
            </a:avLst>
          </a:prstGeom>
          <a:solidFill>
            <a:srgbClr val="FDFCF9"/>
          </a:solidFill>
          <a:ln w="12700">
            <a:solidFill>
              <a:srgbClr val="D9D6CC"/>
            </a:solidFill>
            <a:prstDash val="solid"/>
          </a:ln>
        </p:spPr>
      </p:sp>
      <p:sp>
        <p:nvSpPr>
          <p:cNvPr id="30" name="Text 28"/>
          <p:cNvSpPr/>
          <p:nvPr/>
        </p:nvSpPr>
        <p:spPr>
          <a:xfrm>
            <a:off x="8123833" y="5069384"/>
            <a:ext cx="569020" cy="289520"/>
          </a:xfrm>
          <a:custGeom>
            <a:avLst/>
            <a:gdLst/>
            <a:ahLst/>
            <a:cxnLst/>
            <a:rect l="l" t="t" r="r" b="b"/>
            <a:pathLst>
              <a:path w="569020" h="289520">
                <a:moveTo>
                  <a:pt x="144760" y="0"/>
                </a:moveTo>
                <a:lnTo>
                  <a:pt x="424259" y="0"/>
                </a:lnTo>
                <a:arcTo hR="144760" wR="144760" stAng="16200000" swAng="5400000"/>
                <a:lnTo>
                  <a:pt x="569020" y="144760"/>
                </a:lnTo>
                <a:arcTo hR="144760" wR="144760" stAng="0" swAng="5400000"/>
                <a:lnTo>
                  <a:pt x="144760" y="289520"/>
                </a:lnTo>
                <a:arcTo hR="144760" wR="144760" stAng="5400000" swAng="5400000"/>
                <a:lnTo>
                  <a:pt x="0" y="144760"/>
                </a:lnTo>
                <a:arcTo hR="144760" wR="144760" stAng="10800000" swAng="5400000"/>
                <a:close/>
              </a:path>
            </a:pathLst>
          </a:custGeom>
          <a:solidFill>
            <a:srgbClr val="ECEAE3"/>
          </a:solidFill>
          <a:ln/>
        </p:spPr>
        <p:txBody>
          <a:bodyPr wrap="none" lIns="0" tIns="0" rIns="0" bIns="0" rtlCol="0" anchor="ctr">
            <a:normAutofit/>
          </a:bodyPr>
          <a:lstStyle/>
          <a:p>
            <a:pPr algn="ctr"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none</a:t>
            </a:r>
            <a:endParaRPr lang="en-US" sz="1200" dirty="0"/>
          </a:p>
        </p:txBody>
      </p:sp>
      <p:sp>
        <p:nvSpPr>
          <p:cNvPr id="31" name="Text 29"/>
          <p:cNvSpPr/>
          <p:nvPr/>
        </p:nvSpPr>
        <p:spPr>
          <a:xfrm>
            <a:off x="8794452" y="5107484"/>
            <a:ext cx="17384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below 0.55: no match</a:t>
            </a:r>
            <a:endParaRPr lang="en-US" sz="1200" dirty="0"/>
          </a:p>
        </p:txBody>
      </p:sp>
      <p:sp>
        <p:nvSpPr>
          <p:cNvPr id="32" name="Text 30"/>
          <p:cNvSpPr/>
          <p:nvPr/>
        </p:nvSpPr>
        <p:spPr>
          <a:xfrm>
            <a:off x="7978140" y="812800"/>
            <a:ext cx="3401060" cy="238720"/>
          </a:xfrm>
          <a:prstGeom prst="rect">
            <a:avLst/>
          </a:prstGeom>
          <a:noFill/>
          <a:ln/>
        </p:spPr>
        <p:txBody>
          <a:bodyPr wrap="square" lIns="0" tIns="0" rIns="0" bIns="0" rtlCol="0" anchor="t">
            <a:normAutofit/>
          </a:bodyPr>
          <a:lstStyle/>
          <a:p>
            <a:pPr algn="r" indent="0" marL="0">
              <a:lnSpc>
                <a:spcPts val="1680"/>
              </a:lnSpc>
              <a:buNone/>
            </a:pPr>
            <a:r>
              <a:rPr lang="en-US" sz="1200" u="sng" dirty="0">
                <a:solidFill>
                  <a:srgbClr val="4C3FD1"/>
                </a:solidFill>
                <a:latin typeface="JetBrains Mono" pitchFamily="49" charset="0"/>
                <a:ea typeface="JetBrains Mono" pitchFamily="49" charset="-122"/>
                <a:cs typeface="JetBrains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Try any words in the explorer ↗</a:t>
            </a:r>
            <a:endParaRPr lang="en-US" sz="1200" dirty="0"/>
          </a:p>
        </p:txBody>
      </p:sp>
      <p:sp>
        <p:nvSpPr>
          <p:cNvPr id="33" name="Text 31"/>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34" name="Text 32"/>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12 / 22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SEARCH · THE VECTORS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How a vector is computed and compared</a:t>
            </a:r>
            <a:endParaRPr lang="en-US" sz="3200" dirty="0"/>
          </a:p>
        </p:txBody>
      </p:sp>
      <p:sp>
        <p:nvSpPr>
          <p:cNvPr id="4" name="Text 2"/>
          <p:cNvSpPr/>
          <p:nvPr/>
        </p:nvSpPr>
        <p:spPr>
          <a:xfrm>
            <a:off x="812800" y="1828701"/>
            <a:ext cx="51277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Character vector · computed in code</a:t>
            </a:r>
            <a:endParaRPr lang="en-US" sz="1400" dirty="0"/>
          </a:p>
        </p:txBody>
      </p:sp>
      <p:sp>
        <p:nvSpPr>
          <p:cNvPr id="5" name="Text 3"/>
          <p:cNvSpPr/>
          <p:nvPr/>
        </p:nvSpPr>
        <p:spPr>
          <a:xfrm>
            <a:off x="812800" y="2105521"/>
            <a:ext cx="254000" cy="213320"/>
          </a:xfrm>
          <a:custGeom>
            <a:avLst/>
            <a:gdLst/>
            <a:ahLst/>
            <a:cxnLst/>
            <a:rect l="l" t="t" r="r" b="b"/>
            <a:pathLst>
              <a:path w="254000" h="213320">
                <a:moveTo>
                  <a:pt x="106660" y="0"/>
                </a:moveTo>
                <a:lnTo>
                  <a:pt x="147340" y="0"/>
                </a:lnTo>
                <a:arcTo hR="106660" wR="106660" stAng="16200000" swAng="5400000"/>
                <a:lnTo>
                  <a:pt x="2540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1</a:t>
            </a:r>
            <a:endParaRPr lang="en-US" sz="1200" dirty="0"/>
          </a:p>
        </p:txBody>
      </p:sp>
      <p:sp>
        <p:nvSpPr>
          <p:cNvPr id="6" name="Text 4"/>
          <p:cNvSpPr/>
          <p:nvPr/>
        </p:nvSpPr>
        <p:spPr>
          <a:xfrm>
            <a:off x="1168400" y="2105521"/>
            <a:ext cx="30433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Words, with ال removed: زيت · زيتوون</a:t>
            </a:r>
            <a:endParaRPr lang="en-US" sz="1200" dirty="0"/>
          </a:p>
        </p:txBody>
      </p:sp>
      <p:sp>
        <p:nvSpPr>
          <p:cNvPr id="7" name="Text 5"/>
          <p:cNvSpPr/>
          <p:nvPr/>
        </p:nvSpPr>
        <p:spPr>
          <a:xfrm>
            <a:off x="812800" y="2382341"/>
            <a:ext cx="254000" cy="213320"/>
          </a:xfrm>
          <a:custGeom>
            <a:avLst/>
            <a:gdLst/>
            <a:ahLst/>
            <a:cxnLst/>
            <a:rect l="l" t="t" r="r" b="b"/>
            <a:pathLst>
              <a:path w="254000" h="213320">
                <a:moveTo>
                  <a:pt x="106660" y="0"/>
                </a:moveTo>
                <a:lnTo>
                  <a:pt x="147340" y="0"/>
                </a:lnTo>
                <a:arcTo hR="106660" wR="106660" stAng="16200000" swAng="5400000"/>
                <a:lnTo>
                  <a:pt x="2540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2</a:t>
            </a:r>
            <a:endParaRPr lang="en-US" sz="1200" dirty="0"/>
          </a:p>
        </p:txBody>
      </p:sp>
      <p:sp>
        <p:nvSpPr>
          <p:cNvPr id="8" name="Text 6"/>
          <p:cNvSpPr/>
          <p:nvPr/>
        </p:nvSpPr>
        <p:spPr>
          <a:xfrm>
            <a:off x="1168400" y="2382341"/>
            <a:ext cx="4409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Pieces of 2, 3 and 4 letters: #ز · زي · يت · ت# · #زي …</a:t>
            </a:r>
            <a:endParaRPr lang="en-US" sz="1200" dirty="0"/>
          </a:p>
        </p:txBody>
      </p:sp>
      <p:sp>
        <p:nvSpPr>
          <p:cNvPr id="9" name="Text 7"/>
          <p:cNvSpPr/>
          <p:nvPr/>
        </p:nvSpPr>
        <p:spPr>
          <a:xfrm>
            <a:off x="812800" y="2659162"/>
            <a:ext cx="254000" cy="213320"/>
          </a:xfrm>
          <a:custGeom>
            <a:avLst/>
            <a:gdLst/>
            <a:ahLst/>
            <a:cxnLst/>
            <a:rect l="l" t="t" r="r" b="b"/>
            <a:pathLst>
              <a:path w="254000" h="213320">
                <a:moveTo>
                  <a:pt x="106660" y="0"/>
                </a:moveTo>
                <a:lnTo>
                  <a:pt x="147340" y="0"/>
                </a:lnTo>
                <a:arcTo hR="106660" wR="106660" stAng="16200000" swAng="5400000"/>
                <a:lnTo>
                  <a:pt x="2540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3</a:t>
            </a:r>
            <a:endParaRPr lang="en-US" sz="1200" dirty="0"/>
          </a:p>
        </p:txBody>
      </p:sp>
      <p:sp>
        <p:nvSpPr>
          <p:cNvPr id="10" name="Text 8"/>
          <p:cNvSpPr/>
          <p:nvPr/>
        </p:nvSpPr>
        <p:spPr>
          <a:xfrm>
            <a:off x="1168400" y="2659162"/>
            <a:ext cx="38326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Each piece hashed (FNV-1a) into 1 of 512 slots</a:t>
            </a:r>
            <a:endParaRPr lang="en-US" sz="1200" dirty="0"/>
          </a:p>
        </p:txBody>
      </p:sp>
      <p:sp>
        <p:nvSpPr>
          <p:cNvPr id="11" name="Text 9"/>
          <p:cNvSpPr/>
          <p:nvPr/>
        </p:nvSpPr>
        <p:spPr>
          <a:xfrm>
            <a:off x="812800" y="2935982"/>
            <a:ext cx="254000" cy="213320"/>
          </a:xfrm>
          <a:custGeom>
            <a:avLst/>
            <a:gdLst/>
            <a:ahLst/>
            <a:cxnLst/>
            <a:rect l="l" t="t" r="r" b="b"/>
            <a:pathLst>
              <a:path w="254000" h="213320">
                <a:moveTo>
                  <a:pt x="106660" y="0"/>
                </a:moveTo>
                <a:lnTo>
                  <a:pt x="147340" y="0"/>
                </a:lnTo>
                <a:arcTo hR="106660" wR="106660" stAng="16200000" swAng="5400000"/>
                <a:lnTo>
                  <a:pt x="2540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4</a:t>
            </a:r>
            <a:endParaRPr lang="en-US" sz="1200" dirty="0"/>
          </a:p>
        </p:txBody>
      </p:sp>
      <p:sp>
        <p:nvSpPr>
          <p:cNvPr id="12" name="Text 10"/>
          <p:cNvSpPr/>
          <p:nvPr/>
        </p:nvSpPr>
        <p:spPr>
          <a:xfrm>
            <a:off x="1168400" y="2935982"/>
            <a:ext cx="38326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Divided by its length, so the vector has length 1</a:t>
            </a:r>
            <a:endParaRPr lang="en-US" sz="1200" dirty="0"/>
          </a:p>
        </p:txBody>
      </p:sp>
      <p:sp>
        <p:nvSpPr>
          <p:cNvPr id="13" name="Text 11"/>
          <p:cNvSpPr/>
          <p:nvPr/>
        </p:nvSpPr>
        <p:spPr>
          <a:xfrm>
            <a:off x="812800" y="3327102"/>
            <a:ext cx="51277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Jina vector · computed by the model</a:t>
            </a:r>
            <a:endParaRPr lang="en-US" sz="1400" dirty="0"/>
          </a:p>
        </p:txBody>
      </p:sp>
      <p:sp>
        <p:nvSpPr>
          <p:cNvPr id="14" name="Text 12"/>
          <p:cNvSpPr/>
          <p:nvPr/>
        </p:nvSpPr>
        <p:spPr>
          <a:xfrm>
            <a:off x="812800" y="3603923"/>
            <a:ext cx="254000" cy="213320"/>
          </a:xfrm>
          <a:custGeom>
            <a:avLst/>
            <a:gdLst/>
            <a:ahLst/>
            <a:cxnLst/>
            <a:rect l="l" t="t" r="r" b="b"/>
            <a:pathLst>
              <a:path w="254000" h="213320">
                <a:moveTo>
                  <a:pt x="106660" y="0"/>
                </a:moveTo>
                <a:lnTo>
                  <a:pt x="147340" y="0"/>
                </a:lnTo>
                <a:arcTo hR="106660" wR="106660" stAng="16200000" swAng="5400000"/>
                <a:lnTo>
                  <a:pt x="254000" y="106660"/>
                </a:lnTo>
                <a:arcTo hR="106660" wR="106660" stAng="0" swAng="5400000"/>
                <a:lnTo>
                  <a:pt x="106660" y="213320"/>
                </a:lnTo>
                <a:arcTo hR="106660" wR="106660" stAng="5400000" swAng="5400000"/>
                <a:lnTo>
                  <a:pt x="0" y="106660"/>
                </a:lnTo>
                <a:arcTo hR="106660" wR="106660" stAng="10800000" swAng="5400000"/>
                <a:close/>
              </a:path>
            </a:pathLst>
          </a:custGeom>
          <a:solidFill>
            <a:srgbClr val="E4E1FA"/>
          </a:solidFill>
          <a:ln/>
        </p:spPr>
        <p:txBody>
          <a:bodyPr wrap="square" lIns="0" tIns="0" rIns="0" bIns="0" rtlCol="0" anchor="t">
            <a:normAutofit/>
          </a:bodyPr>
          <a:lstStyle/>
          <a:p>
            <a:pPr algn="ctr"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1</a:t>
            </a:r>
            <a:endParaRPr lang="en-US" sz="1200" dirty="0"/>
          </a:p>
        </p:txBody>
      </p:sp>
      <p:sp>
        <p:nvSpPr>
          <p:cNvPr id="15" name="Text 13"/>
          <p:cNvSpPr/>
          <p:nvPr/>
        </p:nvSpPr>
        <p:spPr>
          <a:xfrm>
            <a:off x="1168400" y="3603923"/>
            <a:ext cx="38015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The words go to jina-embeddings-v5-text-small</a:t>
            </a:r>
            <a:endParaRPr lang="en-US" sz="1200" dirty="0"/>
          </a:p>
        </p:txBody>
      </p:sp>
      <p:sp>
        <p:nvSpPr>
          <p:cNvPr id="16" name="Text 14"/>
          <p:cNvSpPr/>
          <p:nvPr/>
        </p:nvSpPr>
        <p:spPr>
          <a:xfrm>
            <a:off x="812800" y="3880743"/>
            <a:ext cx="254000" cy="213320"/>
          </a:xfrm>
          <a:custGeom>
            <a:avLst/>
            <a:gdLst/>
            <a:ahLst/>
            <a:cxnLst/>
            <a:rect l="l" t="t" r="r" b="b"/>
            <a:pathLst>
              <a:path w="254000" h="213320">
                <a:moveTo>
                  <a:pt x="106660" y="0"/>
                </a:moveTo>
                <a:lnTo>
                  <a:pt x="147340" y="0"/>
                </a:lnTo>
                <a:arcTo hR="106660" wR="106660" stAng="16200000" swAng="5400000"/>
                <a:lnTo>
                  <a:pt x="254000" y="106660"/>
                </a:lnTo>
                <a:arcTo hR="106660" wR="106660" stAng="0" swAng="5400000"/>
                <a:lnTo>
                  <a:pt x="106660" y="213320"/>
                </a:lnTo>
                <a:arcTo hR="106660" wR="106660" stAng="5400000" swAng="5400000"/>
                <a:lnTo>
                  <a:pt x="0" y="106660"/>
                </a:lnTo>
                <a:arcTo hR="106660" wR="106660" stAng="10800000" swAng="5400000"/>
                <a:close/>
              </a:path>
            </a:pathLst>
          </a:custGeom>
          <a:solidFill>
            <a:srgbClr val="E4E1FA"/>
          </a:solidFill>
          <a:ln/>
        </p:spPr>
        <p:txBody>
          <a:bodyPr wrap="square" lIns="0" tIns="0" rIns="0" bIns="0" rtlCol="0" anchor="t">
            <a:normAutofit/>
          </a:bodyPr>
          <a:lstStyle/>
          <a:p>
            <a:pPr algn="ctr"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2</a:t>
            </a:r>
            <a:endParaRPr lang="en-US" sz="1200" dirty="0"/>
          </a:p>
        </p:txBody>
      </p:sp>
      <p:sp>
        <p:nvSpPr>
          <p:cNvPr id="17" name="Text 15"/>
          <p:cNvSpPr/>
          <p:nvPr/>
        </p:nvSpPr>
        <p:spPr>
          <a:xfrm>
            <a:off x="1168400" y="3880743"/>
            <a:ext cx="39239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1,024 numbers come back; the first 256 are kept</a:t>
            </a:r>
            <a:endParaRPr lang="en-US" sz="1200" dirty="0"/>
          </a:p>
        </p:txBody>
      </p:sp>
      <p:sp>
        <p:nvSpPr>
          <p:cNvPr id="18" name="Text 16"/>
          <p:cNvSpPr/>
          <p:nvPr/>
        </p:nvSpPr>
        <p:spPr>
          <a:xfrm>
            <a:off x="812800" y="4157563"/>
            <a:ext cx="254000" cy="213320"/>
          </a:xfrm>
          <a:custGeom>
            <a:avLst/>
            <a:gdLst/>
            <a:ahLst/>
            <a:cxnLst/>
            <a:rect l="l" t="t" r="r" b="b"/>
            <a:pathLst>
              <a:path w="254000" h="213320">
                <a:moveTo>
                  <a:pt x="106660" y="0"/>
                </a:moveTo>
                <a:lnTo>
                  <a:pt x="147340" y="0"/>
                </a:lnTo>
                <a:arcTo hR="106660" wR="106660" stAng="16200000" swAng="5400000"/>
                <a:lnTo>
                  <a:pt x="254000" y="106660"/>
                </a:lnTo>
                <a:arcTo hR="106660" wR="106660" stAng="0" swAng="5400000"/>
                <a:lnTo>
                  <a:pt x="106660" y="213320"/>
                </a:lnTo>
                <a:arcTo hR="106660" wR="106660" stAng="5400000" swAng="5400000"/>
                <a:lnTo>
                  <a:pt x="0" y="106660"/>
                </a:lnTo>
                <a:arcTo hR="106660" wR="106660" stAng="10800000" swAng="5400000"/>
                <a:close/>
              </a:path>
            </a:pathLst>
          </a:custGeom>
          <a:solidFill>
            <a:srgbClr val="E4E1FA"/>
          </a:solidFill>
          <a:ln/>
        </p:spPr>
        <p:txBody>
          <a:bodyPr wrap="square" lIns="0" tIns="0" rIns="0" bIns="0" rtlCol="0" anchor="t">
            <a:normAutofit/>
          </a:bodyPr>
          <a:lstStyle/>
          <a:p>
            <a:pPr algn="ctr"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3</a:t>
            </a:r>
            <a:endParaRPr lang="en-US" sz="1200" dirty="0"/>
          </a:p>
        </p:txBody>
      </p:sp>
      <p:sp>
        <p:nvSpPr>
          <p:cNvPr id="19" name="Text 17"/>
          <p:cNvSpPr/>
          <p:nvPr/>
        </p:nvSpPr>
        <p:spPr>
          <a:xfrm>
            <a:off x="1168400" y="4157563"/>
            <a:ext cx="4533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Divided by its length; names once, questions per search</a:t>
            </a:r>
            <a:endParaRPr lang="en-US" sz="1200" dirty="0"/>
          </a:p>
        </p:txBody>
      </p:sp>
      <p:sp>
        <p:nvSpPr>
          <p:cNvPr id="20" name="Shape 18"/>
          <p:cNvSpPr/>
          <p:nvPr/>
        </p:nvSpPr>
        <p:spPr>
          <a:xfrm>
            <a:off x="812800" y="4548684"/>
            <a:ext cx="4978400" cy="919361"/>
          </a:xfrm>
          <a:prstGeom prst="roundRect">
            <a:avLst>
              <a:gd name="adj" fmla="val 11051"/>
            </a:avLst>
          </a:prstGeom>
          <a:solidFill>
            <a:srgbClr val="16182B"/>
          </a:solidFill>
          <a:ln/>
        </p:spPr>
      </p:sp>
      <p:sp>
        <p:nvSpPr>
          <p:cNvPr id="21" name="Text 19"/>
          <p:cNvSpPr/>
          <p:nvPr/>
        </p:nvSpPr>
        <p:spPr>
          <a:xfrm>
            <a:off x="990600" y="4675684"/>
            <a:ext cx="47614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nearest = highest cos(q, d) = Σ qᵢ · dᵢ</a:t>
            </a:r>
            <a:endParaRPr lang="en-US" sz="1200" dirty="0"/>
          </a:p>
        </p:txBody>
      </p:sp>
      <p:sp>
        <p:nvSpPr>
          <p:cNvPr id="22" name="Text 20"/>
          <p:cNvSpPr/>
          <p:nvPr/>
        </p:nvSpPr>
        <p:spPr>
          <a:xfrm>
            <a:off x="990600" y="4914404"/>
            <a:ext cx="47614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E0"/>
                </a:solidFill>
                <a:latin typeface="IBM Plex Sans" pitchFamily="34" charset="0"/>
                <a:ea typeface="IBM Plex Sans" pitchFamily="34" charset="-122"/>
                <a:cs typeface="IBM Plex Sans" pitchFamily="34" charset="-120"/>
              </a:rPr>
              <a:t>Across all 436 names, in a few milliseconds: no separate vector database is needed at this size.</a:t>
            </a:r>
            <a:endParaRPr lang="en-US" sz="1200" dirty="0"/>
          </a:p>
        </p:txBody>
      </p:sp>
      <p:sp>
        <p:nvSpPr>
          <p:cNvPr id="23" name="Text 21"/>
          <p:cNvSpPr/>
          <p:nvPr/>
        </p:nvSpPr>
        <p:spPr>
          <a:xfrm>
            <a:off x="7978140" y="812800"/>
            <a:ext cx="3401060" cy="238720"/>
          </a:xfrm>
          <a:prstGeom prst="rect">
            <a:avLst/>
          </a:prstGeom>
          <a:noFill/>
          <a:ln/>
        </p:spPr>
        <p:txBody>
          <a:bodyPr wrap="square" lIns="0" tIns="0" rIns="0" bIns="0" rtlCol="0" anchor="t">
            <a:normAutofit/>
          </a:bodyPr>
          <a:lstStyle/>
          <a:p>
            <a:pPr algn="r" indent="0" marL="0">
              <a:lnSpc>
                <a:spcPts val="1680"/>
              </a:lnSpc>
              <a:buNone/>
            </a:pPr>
            <a:r>
              <a:rPr lang="en-US" sz="1200" u="sng" dirty="0">
                <a:solidFill>
                  <a:srgbClr val="4C3FD1"/>
                </a:solidFill>
                <a:latin typeface="JetBrains Mono" pitchFamily="49" charset="0"/>
                <a:ea typeface="JetBrains Mono" pitchFamily="49" charset="-122"/>
                <a:cs typeface="JetBrains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Try any words in the explorer ↗</a:t>
            </a:r>
            <a:endParaRPr lang="en-US" sz="1200" dirty="0"/>
          </a:p>
        </p:txBody>
      </p:sp>
      <p:pic>
        <p:nvPicPr>
          <p:cNvPr id="24" name="Image 0" descr="web embed">    </p:cNvPr>
          <p:cNvPicPr>
            <a:picLocks noChangeAspect="1"/>
          </p:cNvPicPr>
          <p:nvPr/>
        </p:nvPicPr>
        <p:blipFill>
          <a:blip r:embed="rId2"/>
          <a:srcRect l="0" r="0" t="0" b="0"/>
          <a:stretch/>
        </p:blipFill>
        <p:spPr>
          <a:xfrm>
            <a:off x="6045200" y="1828800"/>
            <a:ext cx="5334000" cy="3911600"/>
          </a:xfrm>
          <a:prstGeom prst="rect">
            <a:avLst/>
          </a:prstGeom>
        </p:spPr>
      </p:pic>
      <p:sp>
        <p:nvSpPr>
          <p:cNvPr id="25" name="Text 22"/>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26" name="Text 23"/>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13 / 22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SEARCH · A WORKED EXAMPLE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One comment, with the real numbers</a:t>
            </a:r>
            <a:endParaRPr lang="en-US" sz="3200" dirty="0"/>
          </a:p>
        </p:txBody>
      </p:sp>
      <p:sp>
        <p:nvSpPr>
          <p:cNvPr id="4" name="Shape 2"/>
          <p:cNvSpPr/>
          <p:nvPr/>
        </p:nvSpPr>
        <p:spPr>
          <a:xfrm>
            <a:off x="819150" y="1733451"/>
            <a:ext cx="10553700" cy="474960"/>
          </a:xfrm>
          <a:prstGeom prst="roundRect">
            <a:avLst>
              <a:gd name="adj" fmla="val 20054"/>
            </a:avLst>
          </a:prstGeom>
          <a:solidFill>
            <a:srgbClr val="FDFCF9"/>
          </a:solidFill>
          <a:ln w="12700">
            <a:solidFill>
              <a:srgbClr val="D9D6CC"/>
            </a:solidFill>
            <a:prstDash val="solid"/>
          </a:ln>
        </p:spPr>
      </p:sp>
      <p:sp>
        <p:nvSpPr>
          <p:cNvPr id="5" name="Text 3"/>
          <p:cNvSpPr/>
          <p:nvPr/>
        </p:nvSpPr>
        <p:spPr>
          <a:xfrm>
            <a:off x="1003300" y="1828701"/>
            <a:ext cx="238621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182B"/>
                </a:solidFill>
                <a:latin typeface="IBM Plex Sans" pitchFamily="34" charset="0"/>
                <a:ea typeface="IBM Plex Sans" pitchFamily="34" charset="-122"/>
                <a:cs typeface="IBM Plex Sans" pitchFamily="34" charset="-120"/>
              </a:rPr>
              <a:t>زيت زيتوون بالزرقا متوفر؟</a:t>
            </a:r>
            <a:endParaRPr lang="en-US" sz="1600" dirty="0"/>
          </a:p>
        </p:txBody>
      </p:sp>
      <p:sp>
        <p:nvSpPr>
          <p:cNvPr id="6" name="Text 4"/>
          <p:cNvSpPr/>
          <p:nvPr/>
        </p:nvSpPr>
        <p:spPr>
          <a:xfrm>
            <a:off x="3389511" y="1864221"/>
            <a:ext cx="41914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Ahmad, under the olive oil post. “زيتوون” has a typo.</a:t>
            </a:r>
            <a:endParaRPr lang="en-US" sz="1200" dirty="0"/>
          </a:p>
        </p:txBody>
      </p:sp>
      <p:sp>
        <p:nvSpPr>
          <p:cNvPr id="7" name="Text 5"/>
          <p:cNvSpPr/>
          <p:nvPr/>
        </p:nvSpPr>
        <p:spPr>
          <a:xfrm>
            <a:off x="812800" y="2367161"/>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Product words: زيت زيتوون</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669381"/>
          <a:ext cx="5118100" cy="1330325"/>
        </p:xfrm>
        <a:graphic>
          <a:graphicData uri="http://schemas.openxmlformats.org/drawingml/2006/table">
            <a:tbl>
              <a:tblPr/>
              <a:tblGrid>
                <a:gridCol w="2047240"/>
                <a:gridCol w="716534"/>
                <a:gridCol w="818896"/>
                <a:gridCol w="767715"/>
                <a:gridCol w="767715"/>
              </a:tblGrid>
              <a:tr h="332581">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Name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BM25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Letters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RRF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Conf.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زيت · Cooking Oil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0.0323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0.78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زيت زيتون · Olive Oil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0.0315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0.64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زيت قلي · Sunflower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0.0313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0.52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9" name="Text 6"/>
          <p:cNvSpPr/>
          <p:nvPr/>
        </p:nvSpPr>
        <p:spPr>
          <a:xfrm>
            <a:off x="812800" y="4075906"/>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The category wins, so the post's oil is used: </a:t>
            </a:r>
            <a:r>
              <a:rPr lang="en-US" sz="1200" b="1" dirty="0">
                <a:solidFill>
                  <a:srgbClr val="4A4E63"/>
                </a:solidFill>
                <a:latin typeface="IBM Plex Sans" pitchFamily="34" charset="0"/>
                <a:ea typeface="IBM Plex Sans" pitchFamily="34" charset="-122"/>
                <a:cs typeface="IBM Plex Sans" pitchFamily="34" charset="-120"/>
              </a:rPr>
              <a:t>Olive Oil</a:t>
            </a:r>
            <a:r>
              <a:rPr lang="en-US" sz="1200" dirty="0">
                <a:solidFill>
                  <a:srgbClr val="4A4E63"/>
                </a:solidFill>
                <a:latin typeface="IBM Plex Sans" pitchFamily="34" charset="0"/>
                <a:ea typeface="IBM Plex Sans" pitchFamily="34" charset="-122"/>
                <a:cs typeface="IBM Plex Sans" pitchFamily="34" charset="-120"/>
              </a:rPr>
              <a:t>. With Groq, the typo is fixed first and “زيت زيتون” is an exact name: 1.00.</a:t>
            </a:r>
            <a:endParaRPr lang="en-US" sz="1200" dirty="0"/>
          </a:p>
        </p:txBody>
      </p:sp>
      <p:sp>
        <p:nvSpPr>
          <p:cNvPr id="10" name="Text 7"/>
          <p:cNvSpPr/>
          <p:nvPr/>
        </p:nvSpPr>
        <p:spPr>
          <a:xfrm>
            <a:off x="6248400" y="2367161"/>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Place word: بالزرقا‎ → ‎الزرقا‎ · ‎زرقا</a:t>
            </a:r>
            <a:endParaRPr lang="en-US" sz="14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61100" y="2669381"/>
          <a:ext cx="5118100" cy="1330325"/>
        </p:xfrm>
        <a:graphic>
          <a:graphicData uri="http://schemas.openxmlformats.org/drawingml/2006/table">
            <a:tbl>
              <a:tblPr/>
              <a:tblGrid>
                <a:gridCol w="2047240"/>
                <a:gridCol w="716534"/>
                <a:gridCol w="818896"/>
                <a:gridCol w="767715"/>
                <a:gridCol w="767715"/>
              </a:tblGrid>
              <a:tr h="332581">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Name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BM25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Letters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RRF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Conf.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الزرقاء · Zarqa city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0.0828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وسط الزرقاء · area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0.0317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0.71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الزرقاء الجديدة · area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0.0318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0.67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12" name="Text 8"/>
          <p:cNvSpPr/>
          <p:nvPr/>
        </p:nvSpPr>
        <p:spPr>
          <a:xfrm>
            <a:off x="6248400" y="4075906"/>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An exact name after normalizing, plus 0.05: a clear </a:t>
            </a:r>
            <a:r>
              <a:rPr lang="en-US" sz="1200" b="1" dirty="0">
                <a:solidFill>
                  <a:srgbClr val="4A4E63"/>
                </a:solidFill>
                <a:latin typeface="IBM Plex Sans" pitchFamily="34" charset="0"/>
                <a:ea typeface="IBM Plex Sans" pitchFamily="34" charset="-122"/>
                <a:cs typeface="IBM Plex Sans" pitchFamily="34" charset="-120"/>
              </a:rPr>
              <a:t>match on Zarqa</a:t>
            </a:r>
            <a:r>
              <a:rPr lang="en-US" sz="1200" dirty="0">
                <a:solidFill>
                  <a:srgbClr val="4A4E63"/>
                </a:solidFill>
                <a:latin typeface="IBM Plex Sans" pitchFamily="34" charset="0"/>
                <a:ea typeface="IBM Plex Sans" pitchFamily="34" charset="-122"/>
                <a:cs typeface="IBM Plex Sans" pitchFamily="34" charset="-120"/>
              </a:rPr>
              <a:t>, the city.</a:t>
            </a:r>
            <a:endParaRPr lang="en-US" sz="1200" dirty="0"/>
          </a:p>
        </p:txBody>
      </p:sp>
      <p:sp>
        <p:nvSpPr>
          <p:cNvPr id="13" name="Text 9"/>
          <p:cNvSpPr/>
          <p:nvPr/>
        </p:nvSpPr>
        <p:spPr>
          <a:xfrm>
            <a:off x="812800" y="4654947"/>
            <a:ext cx="10566400" cy="655241"/>
          </a:xfrm>
          <a:prstGeom prst="roundRect">
            <a:avLst>
              <a:gd name="adj" fmla="val 15506"/>
            </a:avLst>
          </a:prstGeom>
          <a:solidFill>
            <a:srgbClr val="E4E1FA"/>
          </a:solidFill>
          <a:ln/>
        </p:spPr>
        <p:txBody>
          <a:bodyPr wrap="square" lIns="148042" tIns="84542" rIns="0" bIns="59142" rtlCol="0" anchor="t">
            <a:normAutofit/>
          </a:bodyPr>
          <a:lstStyle/>
          <a:p>
            <a:pPr algn="l"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check_shelves:</a:t>
            </a:r>
            <a:r>
              <a:rPr lang="en-US" sz="1200" dirty="0">
                <a:solidFill>
                  <a:srgbClr val="16182B"/>
                </a:solidFill>
                <a:latin typeface="IBM Plex Sans" pitchFamily="34" charset="0"/>
                <a:ea typeface="IBM Plex Sans" pitchFamily="34" charset="-122"/>
                <a:cs typeface="IBM Plex Sans" pitchFamily="34" charset="-120"/>
              </a:rPr>
              <a:t> olive oil in Zarqa, 4 of 5 shops have it on the shelf. The reply names Nour Market Russeifa (24 Aug), Al Amana Grocery Hashemiya (19 Aug) and City Center Zarqa (19 Aug).</a:t>
            </a:r>
            <a:endParaRPr lang="en-US" sz="1200" dirty="0"/>
          </a:p>
        </p:txBody>
      </p:sp>
      <p:sp>
        <p:nvSpPr>
          <p:cNvPr id="14" name="Text 10"/>
          <p:cNvSpPr/>
          <p:nvPr/>
        </p:nvSpPr>
        <p:spPr>
          <a:xfrm>
            <a:off x="812800" y="546258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Shown: the two rankings that need no API. In production the Jina ranking adds a third term to the same sum.</a:t>
            </a:r>
            <a:endParaRPr lang="en-US" sz="1200" dirty="0"/>
          </a:p>
        </p:txBody>
      </p:sp>
      <p:sp>
        <p:nvSpPr>
          <p:cNvPr id="15" name="Text 11"/>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16" name="Text 12"/>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14 / 22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THE EXACT PART · CHECK_SHELVES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The table gives the answer, not the model</a:t>
            </a:r>
            <a:endParaRPr lang="en-US" sz="3200" dirty="0"/>
          </a:p>
        </p:txBody>
      </p:sp>
      <p:sp>
        <p:nvSpPr>
          <p:cNvPr id="4" name="Text 2"/>
          <p:cNvSpPr/>
          <p:nvPr/>
        </p:nvSpPr>
        <p:spPr>
          <a:xfrm>
            <a:off x="812800" y="1828701"/>
            <a:ext cx="279400" cy="213320"/>
          </a:xfrm>
          <a:custGeom>
            <a:avLst/>
            <a:gdLst/>
            <a:ahLst/>
            <a:cxnLst/>
            <a:rect l="l" t="t" r="r" b="b"/>
            <a:pathLst>
              <a:path w="279400" h="213320">
                <a:moveTo>
                  <a:pt x="106660" y="0"/>
                </a:moveTo>
                <a:lnTo>
                  <a:pt x="172740" y="0"/>
                </a:lnTo>
                <a:arcTo hR="106660" wR="106660" stAng="16200000" swAng="5400000"/>
                <a:lnTo>
                  <a:pt x="2794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1</a:t>
            </a:r>
            <a:endParaRPr lang="en-US" sz="1200" dirty="0"/>
          </a:p>
        </p:txBody>
      </p:sp>
      <p:sp>
        <p:nvSpPr>
          <p:cNvPr id="5" name="Text 3"/>
          <p:cNvSpPr/>
          <p:nvPr/>
        </p:nvSpPr>
        <p:spPr>
          <a:xfrm>
            <a:off x="1219200" y="1828701"/>
            <a:ext cx="473532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Rows for the product, and the pack if one was asked (“2 كيلو”, “the big one”)</a:t>
            </a:r>
            <a:endParaRPr lang="en-US" sz="1400" dirty="0"/>
          </a:p>
        </p:txBody>
      </p:sp>
      <p:sp>
        <p:nvSpPr>
          <p:cNvPr id="6" name="Text 4"/>
          <p:cNvSpPr/>
          <p:nvPr/>
        </p:nvSpPr>
        <p:spPr>
          <a:xfrm>
            <a:off x="812800" y="2453382"/>
            <a:ext cx="279400" cy="213320"/>
          </a:xfrm>
          <a:custGeom>
            <a:avLst/>
            <a:gdLst/>
            <a:ahLst/>
            <a:cxnLst/>
            <a:rect l="l" t="t" r="r" b="b"/>
            <a:pathLst>
              <a:path w="279400" h="213320">
                <a:moveTo>
                  <a:pt x="106660" y="0"/>
                </a:moveTo>
                <a:lnTo>
                  <a:pt x="172740" y="0"/>
                </a:lnTo>
                <a:arcTo hR="106660" wR="106660" stAng="16200000" swAng="5400000"/>
                <a:lnTo>
                  <a:pt x="2794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2</a:t>
            </a:r>
            <a:endParaRPr lang="en-US" sz="1200" dirty="0"/>
          </a:p>
        </p:txBody>
      </p:sp>
      <p:sp>
        <p:nvSpPr>
          <p:cNvPr id="7" name="Text 5"/>
          <p:cNvSpPr/>
          <p:nvPr/>
        </p:nvSpPr>
        <p:spPr>
          <a:xfrm>
            <a:off x="1219200" y="2453382"/>
            <a:ext cx="49530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In the place asked: a shop, an area, a city or a region</a:t>
            </a:r>
            <a:endParaRPr lang="en-US" sz="1400" dirty="0"/>
          </a:p>
        </p:txBody>
      </p:sp>
      <p:sp>
        <p:nvSpPr>
          <p:cNvPr id="8" name="Text 6"/>
          <p:cNvSpPr/>
          <p:nvPr/>
        </p:nvSpPr>
        <p:spPr>
          <a:xfrm>
            <a:off x="812800" y="2829223"/>
            <a:ext cx="279400" cy="213320"/>
          </a:xfrm>
          <a:custGeom>
            <a:avLst/>
            <a:gdLst/>
            <a:ahLst/>
            <a:cxnLst/>
            <a:rect l="l" t="t" r="r" b="b"/>
            <a:pathLst>
              <a:path w="279400" h="213320">
                <a:moveTo>
                  <a:pt x="106660" y="0"/>
                </a:moveTo>
                <a:lnTo>
                  <a:pt x="172740" y="0"/>
                </a:lnTo>
                <a:arcTo hR="106660" wR="106660" stAng="16200000" swAng="5400000"/>
                <a:lnTo>
                  <a:pt x="2794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3</a:t>
            </a:r>
            <a:endParaRPr lang="en-US" sz="1200" dirty="0"/>
          </a:p>
        </p:txBody>
      </p:sp>
      <p:sp>
        <p:nvSpPr>
          <p:cNvPr id="9" name="Text 7"/>
          <p:cNvSpPr/>
          <p:nvPr/>
        </p:nvSpPr>
        <p:spPr>
          <a:xfrm>
            <a:off x="1219200" y="2829223"/>
            <a:ext cx="473532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None on the shelf there? Widen: shop → area → city → region → Jordan</a:t>
            </a:r>
            <a:endParaRPr lang="en-US" sz="1400" dirty="0"/>
          </a:p>
        </p:txBody>
      </p:sp>
      <p:sp>
        <p:nvSpPr>
          <p:cNvPr id="10" name="Text 8"/>
          <p:cNvSpPr/>
          <p:nvPr/>
        </p:nvSpPr>
        <p:spPr>
          <a:xfrm>
            <a:off x="812800" y="3453904"/>
            <a:ext cx="279400" cy="213320"/>
          </a:xfrm>
          <a:custGeom>
            <a:avLst/>
            <a:gdLst/>
            <a:ahLst/>
            <a:cxnLst/>
            <a:rect l="l" t="t" r="r" b="b"/>
            <a:pathLst>
              <a:path w="279400" h="213320">
                <a:moveTo>
                  <a:pt x="106660" y="0"/>
                </a:moveTo>
                <a:lnTo>
                  <a:pt x="172740" y="0"/>
                </a:lnTo>
                <a:arcTo hR="106660" wR="106660" stAng="16200000" swAng="5400000"/>
                <a:lnTo>
                  <a:pt x="2794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4</a:t>
            </a:r>
            <a:endParaRPr lang="en-US" sz="1200" dirty="0"/>
          </a:p>
        </p:txBody>
      </p:sp>
      <p:sp>
        <p:nvSpPr>
          <p:cNvPr id="11" name="Text 9"/>
          <p:cNvSpPr/>
          <p:nvPr/>
        </p:nvSpPr>
        <p:spPr>
          <a:xfrm>
            <a:off x="1219200" y="3453904"/>
            <a:ext cx="473532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Sort: nearest, in stock before low stock, newest visit, more units</a:t>
            </a:r>
            <a:endParaRPr lang="en-US" sz="1400" dirty="0"/>
          </a:p>
        </p:txBody>
      </p:sp>
      <p:sp>
        <p:nvSpPr>
          <p:cNvPr id="12" name="Text 10"/>
          <p:cNvSpPr/>
          <p:nvPr/>
        </p:nvSpPr>
        <p:spPr>
          <a:xfrm>
            <a:off x="812800" y="4078585"/>
            <a:ext cx="279400" cy="213320"/>
          </a:xfrm>
          <a:custGeom>
            <a:avLst/>
            <a:gdLst/>
            <a:ahLst/>
            <a:cxnLst/>
            <a:rect l="l" t="t" r="r" b="b"/>
            <a:pathLst>
              <a:path w="279400" h="213320">
                <a:moveTo>
                  <a:pt x="106660" y="0"/>
                </a:moveTo>
                <a:lnTo>
                  <a:pt x="172740" y="0"/>
                </a:lnTo>
                <a:arcTo hR="106660" wR="106660" stAng="16200000" swAng="5400000"/>
                <a:lnTo>
                  <a:pt x="2794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5</a:t>
            </a:r>
            <a:endParaRPr lang="en-US" sz="1200" dirty="0"/>
          </a:p>
        </p:txBody>
      </p:sp>
      <p:sp>
        <p:nvSpPr>
          <p:cNvPr id="13" name="Text 11"/>
          <p:cNvSpPr/>
          <p:nvPr/>
        </p:nvSpPr>
        <p:spPr>
          <a:xfrm>
            <a:off x="1219200" y="4078585"/>
            <a:ext cx="473532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Up to 3 shops with their visit dates; prices only when asked</a:t>
            </a:r>
            <a:endParaRPr lang="en-US" sz="1400" dirty="0"/>
          </a:p>
        </p:txBody>
      </p:sp>
      <p:sp>
        <p:nvSpPr>
          <p:cNvPr id="14" name="Text 12"/>
          <p:cNvSpPr/>
          <p:nvPr/>
        </p:nvSpPr>
        <p:spPr>
          <a:xfrm>
            <a:off x="812800" y="4703266"/>
            <a:ext cx="5003800" cy="726281"/>
          </a:xfrm>
          <a:prstGeom prst="roundRect">
            <a:avLst>
              <a:gd name="adj" fmla="val 10492"/>
            </a:avLst>
          </a:prstGeom>
          <a:solidFill>
            <a:srgbClr val="E4E1FA"/>
          </a:solidFill>
          <a:ln/>
        </p:spPr>
        <p:txBody>
          <a:bodyPr wrap="square" lIns="155482" tIns="91982" rIns="16036" bIns="66582"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No model is involved here, so every shop, status, price and date comes from the data.</a:t>
            </a:r>
            <a:endParaRPr lang="en-US" sz="1400" dirty="0"/>
          </a:p>
        </p:txBody>
      </p:sp>
      <p:sp>
        <p:nvSpPr>
          <p:cNvPr id="15" name="Shape 13"/>
          <p:cNvSpPr/>
          <p:nvPr/>
        </p:nvSpPr>
        <p:spPr>
          <a:xfrm>
            <a:off x="6172200" y="1828701"/>
            <a:ext cx="5207000" cy="3600847"/>
          </a:xfrm>
          <a:prstGeom prst="roundRect">
            <a:avLst>
              <a:gd name="adj" fmla="val 2822"/>
            </a:avLst>
          </a:prstGeom>
          <a:solidFill>
            <a:srgbClr val="16182B"/>
          </a:solidFill>
          <a:ln/>
        </p:spPr>
      </p:sp>
      <p:sp>
        <p:nvSpPr>
          <p:cNvPr id="16" name="Text 14"/>
          <p:cNvSpPr/>
          <p:nvPr/>
        </p:nvSpPr>
        <p:spPr>
          <a:xfrm>
            <a:off x="6400800" y="203190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9FF5"/>
                </a:solidFill>
                <a:latin typeface="JetBrains Mono" pitchFamily="49" charset="0"/>
                <a:ea typeface="JetBrains Mono" pitchFamily="49" charset="-122"/>
                <a:cs typeface="JetBrains Mono" pitchFamily="49" charset="-120"/>
              </a:rPr>
              <a:t>EXAMPLE · OLIVE OIL IN ABDOUN</a:t>
            </a:r>
            <a:endParaRPr lang="en-US" sz="1200" dirty="0"/>
          </a:p>
        </p:txBody>
      </p:sp>
      <p:sp>
        <p:nvSpPr>
          <p:cNvPr id="17" name="Text 15"/>
          <p:cNvSpPr/>
          <p:nvPr/>
        </p:nvSpPr>
        <p:spPr>
          <a:xfrm>
            <a:off x="6400800" y="2346821"/>
            <a:ext cx="1366738" cy="264120"/>
          </a:xfrm>
          <a:custGeom>
            <a:avLst/>
            <a:gdLst/>
            <a:ahLst/>
            <a:cxnLst/>
            <a:rect l="l" t="t" r="r" b="b"/>
            <a:pathLst>
              <a:path w="1366738" h="264120">
                <a:moveTo>
                  <a:pt x="132060" y="0"/>
                </a:moveTo>
                <a:lnTo>
                  <a:pt x="1234678" y="0"/>
                </a:lnTo>
                <a:arcTo hR="132060" wR="132060" stAng="16200000" swAng="5400000"/>
                <a:lnTo>
                  <a:pt x="1366738" y="132060"/>
                </a:lnTo>
                <a:arcTo hR="132060" wR="132060" stAng="0" swAng="5400000"/>
                <a:lnTo>
                  <a:pt x="132060" y="264120"/>
                </a:lnTo>
                <a:arcTo hR="132060" wR="132060" stAng="5400000" swAng="5400000"/>
                <a:lnTo>
                  <a:pt x="0" y="132060"/>
                </a:lnTo>
                <a:arcTo hR="132060" wR="132060" stAng="10800000" swAng="5400000"/>
                <a:close/>
              </a:path>
            </a:pathLst>
          </a:custGeom>
          <a:solidFill>
            <a:srgbClr val="C9CCE0"/>
          </a:solidFill>
          <a:ln/>
        </p:spPr>
        <p:txBody>
          <a:bodyPr wrap="none" lIns="0" tIns="0" rIns="0" bIns="0" rtlCol="0" anchor="ctr">
            <a:normAutofit/>
          </a:bodyPr>
          <a:lstStyle/>
          <a:p>
            <a:pPr algn="ctr"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Abdoun 0 of 1</a:t>
            </a:r>
            <a:endParaRPr lang="en-US" sz="1200" dirty="0"/>
          </a:p>
        </p:txBody>
      </p:sp>
      <p:sp>
        <p:nvSpPr>
          <p:cNvPr id="18" name="Text 16"/>
          <p:cNvSpPr/>
          <p:nvPr/>
        </p:nvSpPr>
        <p:spPr>
          <a:xfrm>
            <a:off x="7869138" y="2372221"/>
            <a:ext cx="35100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E0"/>
                </a:solidFill>
                <a:latin typeface="IBM Plex Sans" pitchFamily="34" charset="0"/>
                <a:ea typeface="IBM Plex Sans" pitchFamily="34" charset="-122"/>
                <a:cs typeface="IBM Plex Sans" pitchFamily="34" charset="-120"/>
              </a:rPr>
              <a:t>Sameh Mall Abdoun: out of stock on 24 Aug</a:t>
            </a:r>
            <a:endParaRPr lang="en-US" sz="1200" dirty="0"/>
          </a:p>
        </p:txBody>
      </p:sp>
      <p:sp>
        <p:nvSpPr>
          <p:cNvPr id="19" name="Text 17"/>
          <p:cNvSpPr/>
          <p:nvPr/>
        </p:nvSpPr>
        <p:spPr>
          <a:xfrm>
            <a:off x="6400800" y="2712541"/>
            <a:ext cx="1458218" cy="264120"/>
          </a:xfrm>
          <a:custGeom>
            <a:avLst/>
            <a:gdLst/>
            <a:ahLst/>
            <a:cxnLst/>
            <a:rect l="l" t="t" r="r" b="b"/>
            <a:pathLst>
              <a:path w="1458218" h="264120">
                <a:moveTo>
                  <a:pt x="132060" y="0"/>
                </a:moveTo>
                <a:lnTo>
                  <a:pt x="1326158" y="0"/>
                </a:lnTo>
                <a:arcTo hR="132060" wR="132060" stAng="16200000" swAng="5400000"/>
                <a:lnTo>
                  <a:pt x="1458218" y="132060"/>
                </a:lnTo>
                <a:arcTo hR="132060" wR="132060" stAng="0" swAng="5400000"/>
                <a:lnTo>
                  <a:pt x="132060" y="264120"/>
                </a:lnTo>
                <a:arcTo hR="132060" wR="132060" stAng="5400000" swAng="5400000"/>
                <a:lnTo>
                  <a:pt x="0" y="132060"/>
                </a:lnTo>
                <a:arcTo hR="132060" wR="132060" stAng="10800000" swAng="5400000"/>
                <a:close/>
              </a:path>
            </a:pathLst>
          </a:custGeom>
          <a:solidFill>
            <a:srgbClr val="A99FF5"/>
          </a:solidFill>
          <a:ln/>
        </p:spPr>
        <p:txBody>
          <a:bodyPr wrap="none" lIns="0" tIns="0" rIns="0" bIns="0" rtlCol="0" anchor="ctr">
            <a:normAutofit/>
          </a:bodyPr>
          <a:lstStyle/>
          <a:p>
            <a:pPr algn="ctr"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Amman 11 of 14</a:t>
            </a:r>
            <a:endParaRPr lang="en-US" sz="1200" dirty="0"/>
          </a:p>
        </p:txBody>
      </p:sp>
      <p:sp>
        <p:nvSpPr>
          <p:cNvPr id="20" name="Text 18"/>
          <p:cNvSpPr/>
          <p:nvPr/>
        </p:nvSpPr>
        <p:spPr>
          <a:xfrm>
            <a:off x="7960618" y="2737941"/>
            <a:ext cx="26027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E0"/>
                </a:solidFill>
                <a:latin typeface="IBM Plex Sans" pitchFamily="34" charset="0"/>
                <a:ea typeface="IBM Plex Sans" pitchFamily="34" charset="-122"/>
                <a:cs typeface="IBM Plex Sans" pitchFamily="34" charset="-120"/>
              </a:rPr>
              <a:t>widened one level up, to the city</a:t>
            </a:r>
            <a:endParaRPr lang="en-US" sz="1200" dirty="0"/>
          </a:p>
        </p:txBody>
      </p:sp>
      <p:sp>
        <p:nvSpPr>
          <p:cNvPr id="21" name="Shape 19"/>
          <p:cNvSpPr/>
          <p:nvPr/>
        </p:nvSpPr>
        <p:spPr>
          <a:xfrm>
            <a:off x="6407150" y="3084612"/>
            <a:ext cx="4737100" cy="1810742"/>
          </a:xfrm>
          <a:prstGeom prst="roundRect">
            <a:avLst>
              <a:gd name="adj" fmla="val 3858"/>
            </a:avLst>
          </a:prstGeom>
          <a:solidFill>
            <a:srgbClr val="22253D"/>
          </a:solidFill>
          <a:ln w="12700">
            <a:solidFill>
              <a:srgbClr val="363A5C"/>
            </a:solidFill>
            <a:prstDash val="solid"/>
          </a:ln>
        </p:spPr>
      </p:sp>
      <p:sp>
        <p:nvSpPr>
          <p:cNvPr id="22" name="Text 20"/>
          <p:cNvSpPr/>
          <p:nvPr/>
        </p:nvSpPr>
        <p:spPr>
          <a:xfrm>
            <a:off x="6565900" y="3217962"/>
            <a:ext cx="45521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Hi Emily! Our reps' last visit (24 Aug) didn't find extra virgin olive oil on the shelf in Abdoun, but you can find it in Amman at:</a:t>
            </a:r>
            <a:endParaRPr lang="en-US" sz="1200" dirty="0"/>
          </a:p>
        </p:txBody>
      </p:sp>
      <p:sp>
        <p:nvSpPr>
          <p:cNvPr id="23" name="Text 21"/>
          <p:cNvSpPr/>
          <p:nvPr/>
        </p:nvSpPr>
        <p:spPr>
          <a:xfrm>
            <a:off x="6565900" y="3670002"/>
            <a:ext cx="455218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 Safeway Shmeisani (last visit 22 Aug)</a:t>
            </a:r>
            <a:endParaRPr lang="en-US" sz="1200" dirty="0"/>
          </a:p>
          <a:p>
            <a:pPr algn="l"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 Al Rawnaq Grocery Jabal Nasr – Jabal Al Nasr (last visit 20 Aug)</a:t>
            </a:r>
            <a:endParaRPr lang="en-US" sz="1200" dirty="0"/>
          </a:p>
          <a:p>
            <a:pPr algn="l"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 Baraka Mini Market Nazzal (last visit 20 Aug)</a:t>
            </a:r>
            <a:endParaRPr lang="en-US" sz="1200" dirty="0"/>
          </a:p>
        </p:txBody>
      </p:sp>
      <p:sp>
        <p:nvSpPr>
          <p:cNvPr id="24" name="Text 22"/>
          <p:cNvSpPr/>
          <p:nvPr/>
        </p:nvSpPr>
        <p:spPr>
          <a:xfrm>
            <a:off x="6565900" y="4548684"/>
            <a:ext cx="45521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Worth checking with the shop before you go</a:t>
            </a:r>
            <a:endParaRPr lang="en-US" sz="1200" dirty="0"/>
          </a:p>
        </p:txBody>
      </p:sp>
      <p:sp>
        <p:nvSpPr>
          <p:cNvPr id="25" name="Text 23"/>
          <p:cNvSpPr/>
          <p:nvPr/>
        </p:nvSpPr>
        <p:spPr>
          <a:xfrm>
            <a:off x="6400800" y="5003304"/>
            <a:ext cx="48922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EA2BD"/>
                </a:solidFill>
                <a:latin typeface="IBM Plex Sans" pitchFamily="34" charset="0"/>
                <a:ea typeface="IBM Plex Sans" pitchFamily="34" charset="-122"/>
                <a:cs typeface="IBM Plex Sans" pitchFamily="34" charset="-120"/>
              </a:rPr>
              <a:t>The template reply for this answer (emoji removed)</a:t>
            </a:r>
            <a:endParaRPr lang="en-US" sz="1200" dirty="0"/>
          </a:p>
        </p:txBody>
      </p:sp>
      <p:sp>
        <p:nvSpPr>
          <p:cNvPr id="26" name="Text 24"/>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27" name="Text 25"/>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15 / 22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GUARDRAILS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Five checks before anything is public</a:t>
            </a:r>
            <a:endParaRPr lang="en-US" sz="3200" dirty="0"/>
          </a:p>
        </p:txBody>
      </p:sp>
      <p:sp>
        <p:nvSpPr>
          <p:cNvPr id="4" name="Shape 2"/>
          <p:cNvSpPr/>
          <p:nvPr/>
        </p:nvSpPr>
        <p:spPr>
          <a:xfrm>
            <a:off x="819150" y="1885851"/>
            <a:ext cx="3407767" cy="1536502"/>
          </a:xfrm>
          <a:prstGeom prst="roundRect">
            <a:avLst>
              <a:gd name="adj" fmla="val 6199"/>
            </a:avLst>
          </a:prstGeom>
          <a:solidFill>
            <a:srgbClr val="FDFCF9"/>
          </a:solidFill>
          <a:ln w="12700">
            <a:solidFill>
              <a:srgbClr val="D9D6CC"/>
            </a:solidFill>
            <a:prstDash val="solid"/>
          </a:ln>
        </p:spPr>
      </p:sp>
      <p:sp>
        <p:nvSpPr>
          <p:cNvPr id="5" name="Text 3"/>
          <p:cNvSpPr/>
          <p:nvPr/>
        </p:nvSpPr>
        <p:spPr>
          <a:xfrm>
            <a:off x="1028700" y="2070001"/>
            <a:ext cx="30783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28700" y="2334121"/>
            <a:ext cx="30783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Facts only</a:t>
            </a:r>
            <a:endParaRPr lang="en-US" sz="1400" dirty="0"/>
          </a:p>
        </p:txBody>
      </p:sp>
      <p:sp>
        <p:nvSpPr>
          <p:cNvPr id="7" name="Text 5"/>
          <p:cNvSpPr/>
          <p:nvPr/>
        </p:nvSpPr>
        <p:spPr>
          <a:xfrm>
            <a:off x="1028700" y="2598241"/>
            <a:ext cx="30783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The model writes from a small JSON of facts. It never sees the sheet.</a:t>
            </a:r>
            <a:endParaRPr lang="en-US" sz="1200" dirty="0"/>
          </a:p>
        </p:txBody>
      </p:sp>
      <p:sp>
        <p:nvSpPr>
          <p:cNvPr id="8" name="Shape 6"/>
          <p:cNvSpPr/>
          <p:nvPr/>
        </p:nvSpPr>
        <p:spPr>
          <a:xfrm>
            <a:off x="4392017" y="1885851"/>
            <a:ext cx="3407866" cy="1536502"/>
          </a:xfrm>
          <a:prstGeom prst="roundRect">
            <a:avLst>
              <a:gd name="adj" fmla="val 6199"/>
            </a:avLst>
          </a:prstGeom>
          <a:solidFill>
            <a:srgbClr val="FDFCF9"/>
          </a:solidFill>
          <a:ln w="12700">
            <a:solidFill>
              <a:srgbClr val="D9D6CC"/>
            </a:solidFill>
            <a:prstDash val="solid"/>
          </a:ln>
        </p:spPr>
      </p:sp>
      <p:sp>
        <p:nvSpPr>
          <p:cNvPr id="9" name="Text 7"/>
          <p:cNvSpPr/>
          <p:nvPr/>
        </p:nvSpPr>
        <p:spPr>
          <a:xfrm>
            <a:off x="4601567" y="2070001"/>
            <a:ext cx="30784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4601567" y="2334121"/>
            <a:ext cx="307842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Fact check</a:t>
            </a:r>
            <a:endParaRPr lang="en-US" sz="1400" dirty="0"/>
          </a:p>
        </p:txBody>
      </p:sp>
      <p:sp>
        <p:nvSpPr>
          <p:cNvPr id="11" name="Text 9"/>
          <p:cNvSpPr/>
          <p:nvPr/>
        </p:nvSpPr>
        <p:spPr>
          <a:xfrm>
            <a:off x="4601567" y="2598241"/>
            <a:ext cx="307842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Every shop, date and price in an AI reply must be in those facts, or the template is used.</a:t>
            </a:r>
            <a:endParaRPr lang="en-US" sz="1200" dirty="0"/>
          </a:p>
        </p:txBody>
      </p:sp>
      <p:sp>
        <p:nvSpPr>
          <p:cNvPr id="12" name="Shape 10"/>
          <p:cNvSpPr/>
          <p:nvPr/>
        </p:nvSpPr>
        <p:spPr>
          <a:xfrm>
            <a:off x="7964984" y="1885851"/>
            <a:ext cx="3407866" cy="1536502"/>
          </a:xfrm>
          <a:prstGeom prst="roundRect">
            <a:avLst>
              <a:gd name="adj" fmla="val 6199"/>
            </a:avLst>
          </a:prstGeom>
          <a:solidFill>
            <a:srgbClr val="FDFCF9"/>
          </a:solidFill>
          <a:ln w="12700">
            <a:solidFill>
              <a:srgbClr val="D9D6CC"/>
            </a:solidFill>
            <a:prstDash val="solid"/>
          </a:ln>
        </p:spPr>
      </p:sp>
      <p:sp>
        <p:nvSpPr>
          <p:cNvPr id="13" name="Text 11"/>
          <p:cNvSpPr/>
          <p:nvPr/>
        </p:nvSpPr>
        <p:spPr>
          <a:xfrm>
            <a:off x="8174534" y="2070001"/>
            <a:ext cx="30784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8174534" y="2334121"/>
            <a:ext cx="307842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Unsure? Ask</a:t>
            </a:r>
            <a:endParaRPr lang="en-US" sz="1400" dirty="0"/>
          </a:p>
        </p:txBody>
      </p:sp>
      <p:sp>
        <p:nvSpPr>
          <p:cNvPr id="15" name="Text 13"/>
          <p:cNvSpPr/>
          <p:nvPr/>
        </p:nvSpPr>
        <p:spPr>
          <a:xfrm>
            <a:off x="8174534" y="2598241"/>
            <a:ext cx="307842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Below 0.72, or two close names, the draft asks; the team picks with one click.</a:t>
            </a:r>
            <a:endParaRPr lang="en-US" sz="1200" dirty="0"/>
          </a:p>
        </p:txBody>
      </p:sp>
      <p:sp>
        <p:nvSpPr>
          <p:cNvPr id="16" name="Shape 14"/>
          <p:cNvSpPr/>
          <p:nvPr/>
        </p:nvSpPr>
        <p:spPr>
          <a:xfrm>
            <a:off x="819150" y="3587452"/>
            <a:ext cx="3407767" cy="1549202"/>
          </a:xfrm>
          <a:prstGeom prst="roundRect">
            <a:avLst>
              <a:gd name="adj" fmla="val 6148"/>
            </a:avLst>
          </a:prstGeom>
          <a:solidFill>
            <a:srgbClr val="FDFCF9"/>
          </a:solidFill>
          <a:ln w="12700">
            <a:solidFill>
              <a:srgbClr val="D9D6CC"/>
            </a:solidFill>
            <a:prstDash val="solid"/>
          </a:ln>
        </p:spPr>
      </p:sp>
      <p:sp>
        <p:nvSpPr>
          <p:cNvPr id="17" name="Text 15"/>
          <p:cNvSpPr/>
          <p:nvPr/>
        </p:nvSpPr>
        <p:spPr>
          <a:xfrm>
            <a:off x="1028700" y="3771602"/>
            <a:ext cx="30783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1028700" y="4035723"/>
            <a:ext cx="30783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People for people</a:t>
            </a:r>
            <a:endParaRPr lang="en-US" sz="1400" dirty="0"/>
          </a:p>
        </p:txBody>
      </p:sp>
      <p:sp>
        <p:nvSpPr>
          <p:cNvPr id="19" name="Text 17"/>
          <p:cNvSpPr/>
          <p:nvPr/>
        </p:nvSpPr>
        <p:spPr>
          <a:xfrm>
            <a:off x="1028700" y="4299843"/>
            <a:ext cx="30783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Complaints and other questions get a holding reply and “Needs a person”.</a:t>
            </a:r>
            <a:endParaRPr lang="en-US" sz="1200" dirty="0"/>
          </a:p>
        </p:txBody>
      </p:sp>
      <p:sp>
        <p:nvSpPr>
          <p:cNvPr id="20" name="Shape 18"/>
          <p:cNvSpPr/>
          <p:nvPr/>
        </p:nvSpPr>
        <p:spPr>
          <a:xfrm>
            <a:off x="4395192" y="3590627"/>
            <a:ext cx="3401516" cy="1542852"/>
          </a:xfrm>
          <a:prstGeom prst="roundRect">
            <a:avLst>
              <a:gd name="adj" fmla="val 5968"/>
            </a:avLst>
          </a:prstGeom>
          <a:solidFill>
            <a:srgbClr val="E4E1FA"/>
          </a:solidFill>
          <a:ln w="19050">
            <a:solidFill>
              <a:srgbClr val="4C3FD1"/>
            </a:solidFill>
            <a:prstDash val="solid"/>
          </a:ln>
        </p:spPr>
      </p:sp>
      <p:sp>
        <p:nvSpPr>
          <p:cNvPr id="21" name="Text 19"/>
          <p:cNvSpPr/>
          <p:nvPr/>
        </p:nvSpPr>
        <p:spPr>
          <a:xfrm>
            <a:off x="4607917" y="3777952"/>
            <a:ext cx="30653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05</a:t>
            </a:r>
            <a:endParaRPr lang="en-US" sz="1200" dirty="0"/>
          </a:p>
        </p:txBody>
      </p:sp>
      <p:sp>
        <p:nvSpPr>
          <p:cNvPr id="22" name="Text 20"/>
          <p:cNvSpPr/>
          <p:nvPr/>
        </p:nvSpPr>
        <p:spPr>
          <a:xfrm>
            <a:off x="4607917" y="4042073"/>
            <a:ext cx="306534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A person sends it</a:t>
            </a:r>
            <a:endParaRPr lang="en-US" sz="1400" dirty="0"/>
          </a:p>
        </p:txBody>
      </p:sp>
      <p:sp>
        <p:nvSpPr>
          <p:cNvPr id="23" name="Text 21"/>
          <p:cNvSpPr/>
          <p:nvPr/>
        </p:nvSpPr>
        <p:spPr>
          <a:xfrm>
            <a:off x="4607917" y="4306193"/>
            <a:ext cx="306534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Nothing is posted until someone clicks Reply now. Edit and Dismiss are always there.</a:t>
            </a:r>
            <a:endParaRPr lang="en-US" sz="1200" dirty="0"/>
          </a:p>
        </p:txBody>
      </p:sp>
      <p:sp>
        <p:nvSpPr>
          <p:cNvPr id="24" name="Shape 22"/>
          <p:cNvSpPr/>
          <p:nvPr/>
        </p:nvSpPr>
        <p:spPr>
          <a:xfrm>
            <a:off x="7958634" y="3581102"/>
            <a:ext cx="3420566" cy="1561902"/>
          </a:xfrm>
          <a:prstGeom prst="roundRect">
            <a:avLst>
              <a:gd name="adj" fmla="val 6505"/>
            </a:avLst>
          </a:prstGeom>
          <a:solidFill>
            <a:srgbClr val="16182B"/>
          </a:solidFill>
          <a:ln/>
        </p:spPr>
      </p:sp>
      <p:sp>
        <p:nvSpPr>
          <p:cNvPr id="25" name="Text 23"/>
          <p:cNvSpPr/>
          <p:nvPr/>
        </p:nvSpPr>
        <p:spPr>
          <a:xfrm>
            <a:off x="8161834" y="3758902"/>
            <a:ext cx="31045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9FF5"/>
                </a:solidFill>
                <a:latin typeface="JetBrains Mono" pitchFamily="49" charset="0"/>
                <a:ea typeface="JetBrains Mono" pitchFamily="49" charset="-122"/>
                <a:cs typeface="JetBrains Mono" pitchFamily="49" charset="-120"/>
              </a:rPr>
              <a:t>If something fails</a:t>
            </a:r>
            <a:endParaRPr lang="en-US" sz="1200" dirty="0"/>
          </a:p>
        </p:txBody>
      </p:sp>
      <p:sp>
        <p:nvSpPr>
          <p:cNvPr id="26" name="Text 24"/>
          <p:cNvSpPr/>
          <p:nvPr/>
        </p:nvSpPr>
        <p:spPr>
          <a:xfrm>
            <a:off x="8161834" y="4023023"/>
            <a:ext cx="310459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5F1"/>
                </a:solidFill>
                <a:latin typeface="Space Grotesk" pitchFamily="34" charset="0"/>
                <a:ea typeface="Space Grotesk" pitchFamily="34" charset="-122"/>
                <a:cs typeface="Space Grotesk" pitchFamily="34" charset="-120"/>
              </a:rPr>
              <a:t>It still works</a:t>
            </a:r>
            <a:endParaRPr lang="en-US" sz="1400" dirty="0"/>
          </a:p>
        </p:txBody>
      </p:sp>
      <p:sp>
        <p:nvSpPr>
          <p:cNvPr id="27" name="Text 25"/>
          <p:cNvSpPr/>
          <p:nvPr/>
        </p:nvSpPr>
        <p:spPr>
          <a:xfrm>
            <a:off x="8161834" y="4287143"/>
            <a:ext cx="310459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E0"/>
                </a:solidFill>
                <a:latin typeface="IBM Plex Sans" pitchFamily="34" charset="0"/>
                <a:ea typeface="IBM Plex Sans" pitchFamily="34" charset="-122"/>
                <a:cs typeface="IBM Plex Sans" pitchFamily="34" charset="-120"/>
              </a:rPr>
              <a:t>No key, an AI error or a daily limit: rules read, templates write. No LangGraph: a built-in runner.</a:t>
            </a:r>
            <a:endParaRPr lang="en-US" sz="1200" dirty="0"/>
          </a:p>
        </p:txBody>
      </p:sp>
      <p:sp>
        <p:nvSpPr>
          <p:cNvPr id="28" name="Shape 26"/>
          <p:cNvSpPr/>
          <p:nvPr/>
        </p:nvSpPr>
        <p:spPr>
          <a:xfrm>
            <a:off x="812800" y="5454154"/>
            <a:ext cx="10566400" cy="0"/>
          </a:xfrm>
          <a:prstGeom prst="line">
            <a:avLst/>
          </a:prstGeom>
          <a:noFill/>
          <a:ln w="12700">
            <a:solidFill>
              <a:srgbClr val="D9D6CC"/>
            </a:solidFill>
            <a:prstDash val="solid"/>
          </a:ln>
        </p:spPr>
      </p:sp>
      <p:sp>
        <p:nvSpPr>
          <p:cNvPr id="29" name="Text 27"/>
          <p:cNvSpPr/>
          <p:nvPr/>
        </p:nvSpPr>
        <p:spPr>
          <a:xfrm>
            <a:off x="812800" y="558750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Every draft also shows how it was made: each node, its note and its time, plus the shops and visit dates it used.</a:t>
            </a:r>
            <a:endParaRPr lang="en-US" sz="1400" dirty="0"/>
          </a:p>
        </p:txBody>
      </p:sp>
      <p:sp>
        <p:nvSpPr>
          <p:cNvPr id="30" name="Text 28"/>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31" name="Text 29"/>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16 / 22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THE MODELS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Two AI models, three plain methods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53700" cy="2541389"/>
        </p:xfrm>
        <a:graphic>
          <a:graphicData uri="http://schemas.openxmlformats.org/drawingml/2006/table">
            <a:tbl>
              <a:tblPr/>
              <a:tblGrid>
                <a:gridCol w="1794129"/>
                <a:gridCol w="3060573"/>
                <a:gridCol w="3166110"/>
                <a:gridCol w="2532888"/>
              </a:tblGrid>
              <a:tr h="332581">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Job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Model or method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Settings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Why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545902">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Read comments, write replies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4C7"/>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B6B4C7"/>
                      </a:solidFill>
                      <a:prstDash val="solid"/>
                      <a:round/>
                      <a:headEnd type="none" w="med" len="med"/>
                      <a:tailEnd type="none" w="med" len="med"/>
                    </a:lnB>
                    <a:solidFill>
                      <a:srgbClr val="E4E1FA"/>
                    </a:solidFill>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Groq · openai/gpt-oss-120b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4C7"/>
                      </a:solidFill>
                      <a:prstDash val="solid"/>
                      <a:round/>
                      <a:headEnd type="none" w="med" len="med"/>
                      <a:tailEnd type="none" w="med" len="med"/>
                    </a:lnL>
                    <a:lnR w="12700" cap="flat" cmpd="sng" algn="ctr">
                      <a:solidFill>
                        <a:srgbClr val="B6B4C7"/>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B6B4C7"/>
                      </a:solidFill>
                      <a:prstDash val="solid"/>
                      <a:round/>
                      <a:headEnd type="none" w="med" len="med"/>
                      <a:tailEnd type="none" w="med" len="med"/>
                    </a:lnB>
                    <a:solidFill>
                      <a:srgbClr val="E4E1FA"/>
                    </a:solidFill>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Strict JSON schema, low reasoning, up to 1,000 output tokens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4C7"/>
                      </a:solidFill>
                      <a:prstDash val="solid"/>
                      <a:round/>
                      <a:headEnd type="none" w="med" len="med"/>
                      <a:tailEnd type="none" w="med" len="med"/>
                    </a:lnL>
                    <a:lnR w="12700" cap="flat" cmpd="sng" algn="ctr">
                      <a:solidFill>
                        <a:srgbClr val="B6B4C7"/>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B6B4C7"/>
                      </a:solidFill>
                      <a:prstDash val="solid"/>
                      <a:round/>
                      <a:headEnd type="none" w="med" len="med"/>
                      <a:tailEnd type="none" w="med" len="med"/>
                    </a:lnB>
                    <a:solidFill>
                      <a:srgbClr val="E4E1FA"/>
                    </a:solidFill>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Fast, free tier, follows a schema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4C7"/>
                      </a:solidFill>
                      <a:prstDash val="solid"/>
                      <a:round/>
                      <a:headEnd type="none" w="med" len="med"/>
                      <a:tailEnd type="none" w="med" len="med"/>
                    </a:lnL>
                    <a:lnR w="12700" cap="flat" cmpd="sng" algn="ctr">
                      <a:solidFill>
                        <a:srgbClr val="B6B4C7"/>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B6B4C7"/>
                      </a:solidFill>
                      <a:prstDash val="solid"/>
                      <a:round/>
                      <a:headEnd type="none" w="med" len="med"/>
                      <a:tailEnd type="none" w="med" len="med"/>
                    </a:lnB>
                    <a:solidFill>
                      <a:srgbClr val="E4E1FA"/>
                    </a:solidFill>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Search by meaning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4C7"/>
                      </a:solidFill>
                      <a:prstDash val="solid"/>
                      <a:round/>
                      <a:headEnd type="none" w="med" len="med"/>
                      <a:tailEnd type="none" w="med" len="med"/>
                    </a:lnR>
                    <a:lnT w="12700" cap="flat" cmpd="sng" algn="ctr">
                      <a:solidFill>
                        <a:srgbClr val="B6B4C7"/>
                      </a:solidFill>
                      <a:prstDash val="solid"/>
                      <a:round/>
                      <a:headEnd type="none" w="med" len="med"/>
                      <a:tailEnd type="none" w="med" len="med"/>
                    </a:lnT>
                    <a:lnB w="12700" cap="flat" cmpd="sng" algn="ctr">
                      <a:solidFill>
                        <a:srgbClr val="B6B4C7"/>
                      </a:solidFill>
                      <a:prstDash val="solid"/>
                      <a:round/>
                      <a:headEnd type="none" w="med" len="med"/>
                      <a:tailEnd type="none" w="med" len="med"/>
                    </a:lnB>
                    <a:solidFill>
                      <a:srgbClr val="E4E1FA"/>
                    </a:solidFill>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Jina · jina-embeddings-v5-text-small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4C7"/>
                      </a:solidFill>
                      <a:prstDash val="solid"/>
                      <a:round/>
                      <a:headEnd type="none" w="med" len="med"/>
                      <a:tailEnd type="none" w="med" len="med"/>
                    </a:lnL>
                    <a:lnR w="12700" cap="flat" cmpd="sng" algn="ctr">
                      <a:solidFill>
                        <a:srgbClr val="B6B4C7"/>
                      </a:solidFill>
                      <a:prstDash val="solid"/>
                      <a:round/>
                      <a:headEnd type="none" w="med" len="med"/>
                      <a:tailEnd type="none" w="med" len="med"/>
                    </a:lnR>
                    <a:lnT w="12700" cap="flat" cmpd="sng" algn="ctr">
                      <a:solidFill>
                        <a:srgbClr val="B6B4C7"/>
                      </a:solidFill>
                      <a:prstDash val="solid"/>
                      <a:round/>
                      <a:headEnd type="none" w="med" len="med"/>
                      <a:tailEnd type="none" w="med" len="med"/>
                    </a:lnT>
                    <a:lnB w="12700" cap="flat" cmpd="sng" algn="ctr">
                      <a:solidFill>
                        <a:srgbClr val="B6B4C7"/>
                      </a:solidFill>
                      <a:prstDash val="solid"/>
                      <a:round/>
                      <a:headEnd type="none" w="med" len="med"/>
                      <a:tailEnd type="none" w="med" len="med"/>
                    </a:lnB>
                    <a:solidFill>
                      <a:srgbClr val="E4E1FA"/>
                    </a:solidFill>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256 numbers, text-matching task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4C7"/>
                      </a:solidFill>
                      <a:prstDash val="solid"/>
                      <a:round/>
                      <a:headEnd type="none" w="med" len="med"/>
                      <a:tailEnd type="none" w="med" len="med"/>
                    </a:lnL>
                    <a:lnR w="12700" cap="flat" cmpd="sng" algn="ctr">
                      <a:solidFill>
                        <a:srgbClr val="B6B4C7"/>
                      </a:solidFill>
                      <a:prstDash val="solid"/>
                      <a:round/>
                      <a:headEnd type="none" w="med" len="med"/>
                      <a:tailEnd type="none" w="med" len="med"/>
                    </a:lnR>
                    <a:lnT w="12700" cap="flat" cmpd="sng" algn="ctr">
                      <a:solidFill>
                        <a:srgbClr val="B6B4C7"/>
                      </a:solidFill>
                      <a:prstDash val="solid"/>
                      <a:round/>
                      <a:headEnd type="none" w="med" len="med"/>
                      <a:tailEnd type="none" w="med" len="med"/>
                    </a:lnT>
                    <a:lnB w="12700" cap="flat" cmpd="sng" algn="ctr">
                      <a:solidFill>
                        <a:srgbClr val="B6B4C7"/>
                      </a:solidFill>
                      <a:prstDash val="solid"/>
                      <a:round/>
                      <a:headEnd type="none" w="med" len="med"/>
                      <a:tailEnd type="none" w="med" len="med"/>
                    </a:lnB>
                    <a:solidFill>
                      <a:srgbClr val="E4E1FA"/>
                    </a:solidFill>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Arabic and English, free key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4C7"/>
                      </a:solidFill>
                      <a:prstDash val="solid"/>
                      <a:round/>
                      <a:headEnd type="none" w="med" len="med"/>
                      <a:tailEnd type="none" w="med" len="med"/>
                    </a:lnL>
                    <a:lnR w="12700" cap="flat" cmpd="sng" algn="ctr">
                      <a:solidFill>
                        <a:srgbClr val="B6B4C7"/>
                      </a:solidFill>
                      <a:prstDash val="solid"/>
                      <a:round/>
                      <a:headEnd type="none" w="med" len="med"/>
                      <a:tailEnd type="none" w="med" len="med"/>
                    </a:lnR>
                    <a:lnT w="12700" cap="flat" cmpd="sng" algn="ctr">
                      <a:solidFill>
                        <a:srgbClr val="B6B4C7"/>
                      </a:solidFill>
                      <a:prstDash val="solid"/>
                      <a:round/>
                      <a:headEnd type="none" w="med" len="med"/>
                      <a:tailEnd type="none" w="med" len="med"/>
                    </a:lnT>
                    <a:lnB w="12700" cap="flat" cmpd="sng" algn="ctr">
                      <a:solidFill>
                        <a:srgbClr val="B6B4C7"/>
                      </a:solidFill>
                      <a:prstDash val="solid"/>
                      <a:round/>
                      <a:headEnd type="none" w="med" len="med"/>
                      <a:tailEnd type="none" w="med" len="med"/>
                    </a:lnB>
                    <a:solidFill>
                      <a:srgbClr val="E4E1FA"/>
                    </a:solidFill>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Search by words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4C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BM25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4C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k1 1.2, b 0.75, Arabic prefix forms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4C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Exact names, rare words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4C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Search by spelling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Character vectors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2–4 letter pieces, 512 slots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Typos; no API needed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Fuse the three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Reciprocal rank fusion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score = Σ 1/(60 + rank)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No score scales to tune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Run the steps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LangGraph.js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2 graphs: post and ask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Explicit nodes, edges, state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463679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gpt-oss-120b: OpenAI's open-weight mixture-of-experts model, 117B parameters with 5.1B active per token. jina-embeddings-v5-text-small: 677M parameters, 119+ languages. Gemini or OpenAI can replace them through one setting.</a:t>
            </a:r>
            <a:endParaRPr lang="en-US" sz="1200" dirty="0"/>
          </a:p>
        </p:txBody>
      </p:sp>
      <p:sp>
        <p:nvSpPr>
          <p:cNvPr id="6" name="Text 3"/>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7" name="Text 4"/>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17 / 22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TESTING</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Tested piece by piece, then end to end</a:t>
            </a:r>
            <a:endParaRPr lang="en-US" sz="3200" dirty="0"/>
          </a:p>
        </p:txBody>
      </p:sp>
      <p:sp>
        <p:nvSpPr>
          <p:cNvPr id="4" name="Text 2"/>
          <p:cNvSpPr/>
          <p:nvPr/>
        </p:nvSpPr>
        <p:spPr>
          <a:xfrm>
            <a:off x="812800" y="1879501"/>
            <a:ext cx="1344017" cy="736600"/>
          </a:xfrm>
          <a:prstGeom prst="rect">
            <a:avLst/>
          </a:prstGeom>
          <a:noFill/>
          <a:ln/>
        </p:spPr>
        <p:txBody>
          <a:bodyPr wrap="none" lIns="0" tIns="0" rIns="0" bIns="0" rtlCol="0" anchor="t">
            <a:normAutofit/>
          </a:bodyPr>
          <a:lstStyle/>
          <a:p>
            <a:pPr algn="l" indent="0" marL="0">
              <a:lnSpc>
                <a:spcPts val="5600"/>
              </a:lnSpc>
              <a:buNone/>
            </a:pPr>
            <a:r>
              <a:rPr lang="en-US" sz="5600" b="1" dirty="0">
                <a:solidFill>
                  <a:srgbClr val="4C3FD1"/>
                </a:solidFill>
                <a:latin typeface="Space Grotesk" pitchFamily="34" charset="0"/>
                <a:ea typeface="Space Grotesk" pitchFamily="34" charset="-122"/>
                <a:cs typeface="Space Grotesk" pitchFamily="34" charset="-120"/>
              </a:rPr>
              <a:t>42/42</a:t>
            </a:r>
            <a:endParaRPr lang="en-US" sz="5600" dirty="0"/>
          </a:p>
        </p:txBody>
      </p:sp>
      <p:sp>
        <p:nvSpPr>
          <p:cNvPr id="5" name="Text 3"/>
          <p:cNvSpPr/>
          <p:nvPr/>
        </p:nvSpPr>
        <p:spPr>
          <a:xfrm>
            <a:off x="2283817" y="1986260"/>
            <a:ext cx="38219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place and product names found the right catalog entry, with no AI</a:t>
            </a:r>
            <a:endParaRPr lang="en-US" sz="1400" dirty="0"/>
          </a:p>
        </p:txBody>
      </p:sp>
      <p:sp>
        <p:nvSpPr>
          <p:cNvPr id="6" name="Shape 4"/>
          <p:cNvSpPr/>
          <p:nvPr/>
        </p:nvSpPr>
        <p:spPr>
          <a:xfrm>
            <a:off x="812800" y="2749451"/>
            <a:ext cx="5181600" cy="0"/>
          </a:xfrm>
          <a:prstGeom prst="line">
            <a:avLst/>
          </a:prstGeom>
          <a:noFill/>
          <a:ln w="12700">
            <a:solidFill>
              <a:srgbClr val="D9D6CC"/>
            </a:solidFill>
            <a:prstDash val="solid"/>
          </a:ln>
        </p:spPr>
      </p:sp>
      <p:sp>
        <p:nvSpPr>
          <p:cNvPr id="7" name="Text 5"/>
          <p:cNvSpPr/>
          <p:nvPr/>
        </p:nvSpPr>
        <p:spPr>
          <a:xfrm>
            <a:off x="812800" y="2857401"/>
            <a:ext cx="533704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E63"/>
                </a:solidFill>
                <a:latin typeface="IBM Plex Sans" pitchFamily="34" charset="0"/>
                <a:ea typeface="IBM Plex Sans" pitchFamily="34" charset="-122"/>
                <a:cs typeface="IBM Plex Sans" pitchFamily="34" charset="-120"/>
              </a:rPr>
              <a:t>22 sample comments: dialect, typos, sizes, complaints, tags and English</a:t>
            </a:r>
            <a:endParaRPr lang="en-US" sz="1400" dirty="0"/>
          </a:p>
        </p:txBody>
      </p:sp>
      <p:sp>
        <p:nvSpPr>
          <p:cNvPr id="8" name="Shape 6"/>
          <p:cNvSpPr/>
          <p:nvPr/>
        </p:nvSpPr>
        <p:spPr>
          <a:xfrm>
            <a:off x="812800" y="3513832"/>
            <a:ext cx="5181600" cy="0"/>
          </a:xfrm>
          <a:prstGeom prst="line">
            <a:avLst/>
          </a:prstGeom>
          <a:noFill/>
          <a:ln w="12700">
            <a:solidFill>
              <a:srgbClr val="D9D6CC"/>
            </a:solidFill>
            <a:prstDash val="solid"/>
          </a:ln>
        </p:spPr>
      </p:sp>
      <p:sp>
        <p:nvSpPr>
          <p:cNvPr id="9" name="Text 7"/>
          <p:cNvSpPr/>
          <p:nvPr/>
        </p:nvSpPr>
        <p:spPr>
          <a:xfrm>
            <a:off x="812800" y="3621782"/>
            <a:ext cx="533704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E63"/>
                </a:solidFill>
                <a:latin typeface="IBM Plex Sans" pitchFamily="34" charset="0"/>
                <a:ea typeface="IBM Plex Sans" pitchFamily="34" charset="-122"/>
                <a:cs typeface="IBM Plex Sans" pitchFamily="34" charset="-120"/>
              </a:rPr>
              <a:t>End to end in a browser, from the unzipped deploy file, in five modes: no key, Groq + Jina, OpenAI, Gemini, Jina only</a:t>
            </a:r>
            <a:endParaRPr lang="en-US" sz="1400" dirty="0"/>
          </a:p>
        </p:txBody>
      </p:sp>
      <p:sp>
        <p:nvSpPr>
          <p:cNvPr id="10" name="Shape 8"/>
          <p:cNvSpPr/>
          <p:nvPr/>
        </p:nvSpPr>
        <p:spPr>
          <a:xfrm>
            <a:off x="812800" y="4278213"/>
            <a:ext cx="5181600" cy="0"/>
          </a:xfrm>
          <a:prstGeom prst="line">
            <a:avLst/>
          </a:prstGeom>
          <a:noFill/>
          <a:ln w="12700">
            <a:solidFill>
              <a:srgbClr val="D9D6CC"/>
            </a:solidFill>
            <a:prstDash val="solid"/>
          </a:ln>
        </p:spPr>
      </p:sp>
      <p:sp>
        <p:nvSpPr>
          <p:cNvPr id="11" name="Text 9"/>
          <p:cNvSpPr/>
          <p:nvPr/>
        </p:nvSpPr>
        <p:spPr>
          <a:xfrm>
            <a:off x="812800" y="4386163"/>
            <a:ext cx="533704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E63"/>
                </a:solidFill>
                <a:latin typeface="IBM Plex Sans" pitchFamily="34" charset="0"/>
                <a:ea typeface="IBM Plex Sans" pitchFamily="34" charset="-122"/>
                <a:cs typeface="IBM Plex Sans" pitchFamily="34" charset="-120"/>
              </a:rPr>
              <a:t>Each AI service replaced by a local stand-in with the same requests, errors and limits</a:t>
            </a:r>
            <a:endParaRPr lang="en-US" sz="1400" dirty="0"/>
          </a:p>
        </p:txBody>
      </p:sp>
      <p:sp>
        <p:nvSpPr>
          <p:cNvPr id="12" name="Shape 10"/>
          <p:cNvSpPr/>
          <p:nvPr/>
        </p:nvSpPr>
        <p:spPr>
          <a:xfrm>
            <a:off x="6299200" y="1879501"/>
            <a:ext cx="5080000" cy="3227983"/>
          </a:xfrm>
          <a:prstGeom prst="roundRect">
            <a:avLst>
              <a:gd name="adj" fmla="val 3147"/>
            </a:avLst>
          </a:prstGeom>
          <a:solidFill>
            <a:srgbClr val="16182B"/>
          </a:solidFill>
          <a:ln/>
        </p:spPr>
      </p:sp>
      <p:sp>
        <p:nvSpPr>
          <p:cNvPr id="13" name="Text 11"/>
          <p:cNvSpPr/>
          <p:nvPr/>
        </p:nvSpPr>
        <p:spPr>
          <a:xfrm>
            <a:off x="6578600" y="2133501"/>
            <a:ext cx="46568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F1"/>
                </a:solidFill>
                <a:latin typeface="Space Grotesk" pitchFamily="34" charset="0"/>
                <a:ea typeface="Space Grotesk" pitchFamily="34" charset="-122"/>
                <a:cs typeface="Space Grotesk" pitchFamily="34" charset="-120"/>
              </a:rPr>
              <a:t>What the tests changed</a:t>
            </a:r>
            <a:endParaRPr lang="en-US" sz="2000" dirty="0"/>
          </a:p>
        </p:txBody>
      </p:sp>
      <p:sp>
        <p:nvSpPr>
          <p:cNvPr id="14" name="Text 12"/>
          <p:cNvSpPr/>
          <p:nvPr/>
        </p:nvSpPr>
        <p:spPr>
          <a:xfrm>
            <a:off x="6578600" y="2565301"/>
            <a:ext cx="46568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F5"/>
                </a:solidFill>
                <a:latin typeface="JetBrains Mono" pitchFamily="49" charset="0"/>
                <a:ea typeface="JetBrains Mono" pitchFamily="49" charset="-122"/>
                <a:cs typeface="JetBrains Mono" pitchFamily="49" charset="-120"/>
              </a:rPr>
              <a:t>01 · “رز”</a:t>
            </a:r>
            <a:endParaRPr lang="en-US" sz="1200" dirty="0"/>
          </a:p>
        </p:txBody>
      </p:sp>
      <p:sp>
        <p:nvSpPr>
          <p:cNvPr id="15" name="Text 13"/>
          <p:cNvSpPr/>
          <p:nvPr/>
        </p:nvSpPr>
        <p:spPr>
          <a:xfrm>
            <a:off x="6578600" y="2816721"/>
            <a:ext cx="46568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E0"/>
                </a:solidFill>
                <a:latin typeface="IBM Plex Sans" pitchFamily="34" charset="0"/>
                <a:ea typeface="IBM Plex Sans" pitchFamily="34" charset="-122"/>
                <a:cs typeface="IBM Plex Sans" pitchFamily="34" charset="-120"/>
              </a:rPr>
              <a:t>It matched Egyptian rice on its own. Now two names that both hold the word become a choice for the team.</a:t>
            </a:r>
            <a:endParaRPr lang="en-US" sz="1200" dirty="0"/>
          </a:p>
        </p:txBody>
      </p:sp>
      <p:sp>
        <p:nvSpPr>
          <p:cNvPr id="16" name="Text 14"/>
          <p:cNvSpPr/>
          <p:nvPr/>
        </p:nvSpPr>
        <p:spPr>
          <a:xfrm>
            <a:off x="6578600" y="3370362"/>
            <a:ext cx="46568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F5"/>
                </a:solidFill>
                <a:latin typeface="JetBrains Mono" pitchFamily="49" charset="0"/>
                <a:ea typeface="JetBrains Mono" pitchFamily="49" charset="-122"/>
                <a:cs typeface="JetBrains Mono" pitchFamily="49" charset="-120"/>
              </a:rPr>
              <a:t>02 · “الحجم الوسط”</a:t>
            </a:r>
            <a:endParaRPr lang="en-US" sz="1200" dirty="0"/>
          </a:p>
        </p:txBody>
      </p:sp>
      <p:sp>
        <p:nvSpPr>
          <p:cNvPr id="17" name="Text 15"/>
          <p:cNvSpPr/>
          <p:nvPr/>
        </p:nvSpPr>
        <p:spPr>
          <a:xfrm>
            <a:off x="6578600" y="3621782"/>
            <a:ext cx="46568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E0"/>
                </a:solidFill>
                <a:latin typeface="IBM Plex Sans" pitchFamily="34" charset="0"/>
                <a:ea typeface="IBM Plex Sans" pitchFamily="34" charset="-122"/>
                <a:cs typeface="IBM Plex Sans" pitchFamily="34" charset="-120"/>
              </a:rPr>
              <a:t>“The medium size” was read as the Central region. Size words are now removed before places are matched.</a:t>
            </a:r>
            <a:endParaRPr lang="en-US" sz="1200" dirty="0"/>
          </a:p>
        </p:txBody>
      </p:sp>
      <p:sp>
        <p:nvSpPr>
          <p:cNvPr id="18" name="Text 16"/>
          <p:cNvSpPr/>
          <p:nvPr/>
        </p:nvSpPr>
        <p:spPr>
          <a:xfrm>
            <a:off x="6578600" y="4175423"/>
            <a:ext cx="46568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F5"/>
                </a:solidFill>
                <a:latin typeface="JetBrains Mono" pitchFamily="49" charset="0"/>
                <a:ea typeface="JetBrains Mono" pitchFamily="49" charset="-122"/>
                <a:cs typeface="JetBrains Mono" pitchFamily="49" charset="-120"/>
              </a:rPr>
              <a:t>03 · RATE LIMITS</a:t>
            </a:r>
            <a:endParaRPr lang="en-US" sz="1200" dirty="0"/>
          </a:p>
        </p:txBody>
      </p:sp>
      <p:sp>
        <p:nvSpPr>
          <p:cNvPr id="19" name="Text 17"/>
          <p:cNvSpPr/>
          <p:nvPr/>
        </p:nvSpPr>
        <p:spPr>
          <a:xfrm>
            <a:off x="6578600" y="4426843"/>
            <a:ext cx="46568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E0"/>
                </a:solidFill>
                <a:latin typeface="IBM Plex Sans" pitchFamily="34" charset="0"/>
                <a:ea typeface="IBM Plex Sans" pitchFamily="34" charset="-122"/>
                <a:cs typeface="IBM Plex Sans" pitchFamily="34" charset="-120"/>
              </a:rPr>
              <a:t>Groq's free 8,000 tokens a minute is too little for 18 drafts at once. Now one job drafts them in turn and waits.</a:t>
            </a:r>
            <a:endParaRPr lang="en-US" sz="1200" dirty="0"/>
          </a:p>
        </p:txBody>
      </p:sp>
      <p:sp>
        <p:nvSpPr>
          <p:cNvPr id="20" name="Text 18"/>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21" name="Text 19"/>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18 / 22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OPTIONS I WEIGHED</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Four other ways to build it, and why not</a:t>
            </a:r>
            <a:endParaRPr lang="en-US" sz="3200" dirty="0"/>
          </a:p>
        </p:txBody>
      </p:sp>
      <p:sp>
        <p:nvSpPr>
          <p:cNvPr id="4" name="Shape 2"/>
          <p:cNvSpPr/>
          <p:nvPr/>
        </p:nvSpPr>
        <p:spPr>
          <a:xfrm>
            <a:off x="819150" y="1835051"/>
            <a:ext cx="5194300" cy="1323181"/>
          </a:xfrm>
          <a:prstGeom prst="roundRect">
            <a:avLst>
              <a:gd name="adj" fmla="val 7199"/>
            </a:avLst>
          </a:prstGeom>
          <a:solidFill>
            <a:srgbClr val="FDFCF9"/>
          </a:solidFill>
          <a:ln w="12700">
            <a:solidFill>
              <a:srgbClr val="D9D6CC"/>
            </a:solidFill>
            <a:prstDash val="solid"/>
          </a:ln>
        </p:spPr>
      </p:sp>
      <p:sp>
        <p:nvSpPr>
          <p:cNvPr id="5" name="Text 3"/>
          <p:cNvSpPr/>
          <p:nvPr/>
        </p:nvSpPr>
        <p:spPr>
          <a:xfrm>
            <a:off x="1028700" y="2019201"/>
            <a:ext cx="491845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Give the AI the whole sheet</a:t>
            </a:r>
            <a:endParaRPr lang="en-US" sz="1400" dirty="0"/>
          </a:p>
        </p:txBody>
      </p:sp>
      <p:sp>
        <p:nvSpPr>
          <p:cNvPr id="6" name="Text 4"/>
          <p:cNvSpPr/>
          <p:nvPr/>
        </p:nvSpPr>
        <p:spPr>
          <a:xfrm>
            <a:off x="1028700" y="2283321"/>
            <a:ext cx="49184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936 rows and growing. It can misread a row or invent a shop, and every question pays for the whole sheet.</a:t>
            </a:r>
            <a:endParaRPr lang="en-US" sz="1200" dirty="0"/>
          </a:p>
        </p:txBody>
      </p:sp>
      <p:sp>
        <p:nvSpPr>
          <p:cNvPr id="7" name="Text 5"/>
          <p:cNvSpPr/>
          <p:nvPr/>
        </p:nvSpPr>
        <p:spPr>
          <a:xfrm>
            <a:off x="1028700" y="2760762"/>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Instead:</a:t>
            </a:r>
            <a:r>
              <a:rPr lang="en-US" sz="1200" dirty="0">
                <a:solidFill>
                  <a:srgbClr val="16182B"/>
                </a:solidFill>
                <a:latin typeface="IBM Plex Sans" pitchFamily="34" charset="0"/>
                <a:ea typeface="IBM Plex Sans" pitchFamily="34" charset="-122"/>
                <a:cs typeface="IBM Plex Sans" pitchFamily="34" charset="-120"/>
              </a:rPr>
              <a:t> the table query finds the facts; the AI only writes.</a:t>
            </a:r>
            <a:endParaRPr lang="en-US" sz="1200" dirty="0"/>
          </a:p>
        </p:txBody>
      </p:sp>
      <p:sp>
        <p:nvSpPr>
          <p:cNvPr id="8" name="Shape 6"/>
          <p:cNvSpPr/>
          <p:nvPr/>
        </p:nvSpPr>
        <p:spPr>
          <a:xfrm>
            <a:off x="6178550" y="1835051"/>
            <a:ext cx="5194300" cy="1323181"/>
          </a:xfrm>
          <a:prstGeom prst="roundRect">
            <a:avLst>
              <a:gd name="adj" fmla="val 7199"/>
            </a:avLst>
          </a:prstGeom>
          <a:solidFill>
            <a:srgbClr val="FDFCF9"/>
          </a:solidFill>
          <a:ln w="12700">
            <a:solidFill>
              <a:srgbClr val="D9D6CC"/>
            </a:solidFill>
            <a:prstDash val="solid"/>
          </a:ln>
        </p:spPr>
      </p:sp>
      <p:sp>
        <p:nvSpPr>
          <p:cNvPr id="9" name="Text 7"/>
          <p:cNvSpPr/>
          <p:nvPr/>
        </p:nvSpPr>
        <p:spPr>
          <a:xfrm>
            <a:off x="6388100" y="2019201"/>
            <a:ext cx="491845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Vector search alone</a:t>
            </a:r>
            <a:endParaRPr lang="en-US" sz="1400" dirty="0"/>
          </a:p>
        </p:txBody>
      </p:sp>
      <p:sp>
        <p:nvSpPr>
          <p:cNvPr id="10" name="Text 8"/>
          <p:cNvSpPr/>
          <p:nvPr/>
        </p:nvSpPr>
        <p:spPr>
          <a:xfrm>
            <a:off x="6388100" y="2283321"/>
            <a:ext cx="49184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Embeddings blur exact names and short Arabic words with typos, and everything depends on one API.</a:t>
            </a:r>
            <a:endParaRPr lang="en-US" sz="1200" dirty="0"/>
          </a:p>
        </p:txBody>
      </p:sp>
      <p:sp>
        <p:nvSpPr>
          <p:cNvPr id="11" name="Text 9"/>
          <p:cNvSpPr/>
          <p:nvPr/>
        </p:nvSpPr>
        <p:spPr>
          <a:xfrm>
            <a:off x="6388100" y="2760762"/>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Instead:</a:t>
            </a:r>
            <a:r>
              <a:rPr lang="en-US" sz="1200" dirty="0">
                <a:solidFill>
                  <a:srgbClr val="16182B"/>
                </a:solidFill>
                <a:latin typeface="IBM Plex Sans" pitchFamily="34" charset="0"/>
                <a:ea typeface="IBM Plex Sans" pitchFamily="34" charset="-122"/>
                <a:cs typeface="IBM Plex Sans" pitchFamily="34" charset="-120"/>
              </a:rPr>
              <a:t> three rankings fused; two of them need no API.</a:t>
            </a:r>
            <a:endParaRPr lang="en-US" sz="1200" dirty="0"/>
          </a:p>
        </p:txBody>
      </p:sp>
      <p:sp>
        <p:nvSpPr>
          <p:cNvPr id="12" name="Shape 10"/>
          <p:cNvSpPr/>
          <p:nvPr/>
        </p:nvSpPr>
        <p:spPr>
          <a:xfrm>
            <a:off x="819150" y="3323332"/>
            <a:ext cx="5194300" cy="1536502"/>
          </a:xfrm>
          <a:prstGeom prst="roundRect">
            <a:avLst>
              <a:gd name="adj" fmla="val 6199"/>
            </a:avLst>
          </a:prstGeom>
          <a:solidFill>
            <a:srgbClr val="FDFCF9"/>
          </a:solidFill>
          <a:ln w="12700">
            <a:solidFill>
              <a:srgbClr val="D9D6CC"/>
            </a:solidFill>
            <a:prstDash val="solid"/>
          </a:ln>
        </p:spPr>
      </p:sp>
      <p:sp>
        <p:nvSpPr>
          <p:cNvPr id="13" name="Text 11"/>
          <p:cNvSpPr/>
          <p:nvPr/>
        </p:nvSpPr>
        <p:spPr>
          <a:xfrm>
            <a:off x="1028700" y="3507482"/>
            <a:ext cx="491845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Reply automatically</a:t>
            </a:r>
            <a:endParaRPr lang="en-US" sz="1400" dirty="0"/>
          </a:p>
        </p:txBody>
      </p:sp>
      <p:sp>
        <p:nvSpPr>
          <p:cNvPr id="14" name="Text 12"/>
          <p:cNvSpPr/>
          <p:nvPr/>
        </p:nvSpPr>
        <p:spPr>
          <a:xfrm>
            <a:off x="1028700" y="3771602"/>
            <a:ext cx="49184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E63"/>
                </a:solidFill>
                <a:latin typeface="IBM Plex Sans" pitchFamily="34" charset="0"/>
                <a:ea typeface="IBM Plex Sans" pitchFamily="34" charset="-122"/>
                <a:cs typeface="IBM Plex Sans" pitchFamily="34" charset="-120"/>
              </a:rPr>
              <a:t>These are public replies in the brand's name. Trust in the drafts has to be earned first.</a:t>
            </a:r>
            <a:endParaRPr lang="en-US" sz="1200" dirty="0"/>
          </a:p>
        </p:txBody>
      </p:sp>
      <p:sp>
        <p:nvSpPr>
          <p:cNvPr id="15" name="Text 13"/>
          <p:cNvSpPr/>
          <p:nvPr/>
        </p:nvSpPr>
        <p:spPr>
          <a:xfrm>
            <a:off x="1028700" y="4249043"/>
            <a:ext cx="4918456"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Instead:</a:t>
            </a:r>
            <a:r>
              <a:rPr lang="en-US" sz="1200" dirty="0">
                <a:solidFill>
                  <a:srgbClr val="16182B"/>
                </a:solidFill>
                <a:latin typeface="IBM Plex Sans" pitchFamily="34" charset="0"/>
                <a:ea typeface="IBM Plex Sans" pitchFamily="34" charset="-122"/>
                <a:cs typeface="IBM Plex Sans" pitchFamily="34" charset="-120"/>
              </a:rPr>
              <a:t> drafts in seconds, a person sends; track how often drafts are edited.</a:t>
            </a:r>
            <a:endParaRPr lang="en-US" sz="1200" dirty="0"/>
          </a:p>
        </p:txBody>
      </p:sp>
      <p:sp>
        <p:nvSpPr>
          <p:cNvPr id="16" name="Shape 14"/>
          <p:cNvSpPr/>
          <p:nvPr/>
        </p:nvSpPr>
        <p:spPr>
          <a:xfrm>
            <a:off x="6181725" y="3326507"/>
            <a:ext cx="5187950" cy="1530152"/>
          </a:xfrm>
          <a:prstGeom prst="roundRect">
            <a:avLst>
              <a:gd name="adj" fmla="val 6017"/>
            </a:avLst>
          </a:prstGeom>
          <a:solidFill>
            <a:srgbClr val="E4E1FA"/>
          </a:solidFill>
          <a:ln w="19050">
            <a:solidFill>
              <a:srgbClr val="4C3FD1"/>
            </a:solidFill>
            <a:prstDash val="solid"/>
          </a:ln>
        </p:spPr>
      </p:sp>
      <p:sp>
        <p:nvSpPr>
          <p:cNvPr id="17" name="Text 15"/>
          <p:cNvSpPr/>
          <p:nvPr/>
        </p:nvSpPr>
        <p:spPr>
          <a:xfrm>
            <a:off x="6394450" y="3513832"/>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n8n again, as in Part 1</a:t>
            </a:r>
            <a:endParaRPr lang="en-US" sz="1400" dirty="0"/>
          </a:p>
        </p:txBody>
      </p:sp>
      <p:sp>
        <p:nvSpPr>
          <p:cNvPr id="18" name="Text 16"/>
          <p:cNvSpPr/>
          <p:nvPr/>
        </p:nvSpPr>
        <p:spPr>
          <a:xfrm>
            <a:off x="6394450" y="3777952"/>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This work needs an index, a data table and branching on what the customer meant, not a fixed pipeline.</a:t>
            </a:r>
            <a:endParaRPr lang="en-US" sz="1200" dirty="0"/>
          </a:p>
        </p:txBody>
      </p:sp>
      <p:sp>
        <p:nvSpPr>
          <p:cNvPr id="19" name="Text 17"/>
          <p:cNvSpPr/>
          <p:nvPr/>
        </p:nvSpPr>
        <p:spPr>
          <a:xfrm>
            <a:off x="6394450" y="4255393"/>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Instead:</a:t>
            </a:r>
            <a:r>
              <a:rPr lang="en-US" sz="1200" dirty="0">
                <a:solidFill>
                  <a:srgbClr val="16182B"/>
                </a:solidFill>
                <a:latin typeface="IBM Plex Sans" pitchFamily="34" charset="0"/>
                <a:ea typeface="IBM Plex Sans" pitchFamily="34" charset="-122"/>
                <a:cs typeface="IBM Plex Sans" pitchFamily="34" charset="-120"/>
              </a:rPr>
              <a:t> LangGraph in code, the option I set aside in Part 1.</a:t>
            </a:r>
            <a:endParaRPr lang="en-US" sz="1200" dirty="0"/>
          </a:p>
        </p:txBody>
      </p:sp>
      <p:sp>
        <p:nvSpPr>
          <p:cNvPr id="20" name="Text 18"/>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21" name="Text 19"/>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19 / 22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3FD1"/>
                </a:solidFill>
                <a:latin typeface="JetBrains Mono" pitchFamily="49" charset="0"/>
                <a:ea typeface="JetBrains Mono" pitchFamily="49" charset="-122"/>
                <a:cs typeface="JetBrains Mono" pitchFamily="49" charset="-120"/>
              </a:rPr>
              <a:t>KNOWN GAPS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What is simulated, and what comes next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53700" cy="2328069"/>
        </p:xfrm>
        <a:graphic>
          <a:graphicData uri="http://schemas.openxmlformats.org/drawingml/2006/table">
            <a:tbl>
              <a:tblPr/>
              <a:tblGrid>
                <a:gridCol w="3166110"/>
                <a:gridCol w="7387590"/>
              </a:tblGrid>
              <a:tr h="332581">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Today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182B"/>
                          </a:solidFill>
                          <a:latin typeface="IBM Plex Sans" pitchFamily="34" charset="0"/>
                          <a:ea typeface="IBM Plex Sans" pitchFamily="34" charset="-122"/>
                          <a:cs typeface="IBM Plex Sans" pitchFamily="34" charset="-120"/>
                        </a:rPr>
                        <a:t>Next step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The feed is a simulator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Meta's webhooks read the real Instagram and Facebook comments, and the Graph API posts the reply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Visits in the sample end on 25 Aug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A daily file from the ERP; the console already warns when the data is over 30 days old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Groq's free tier: 8,000 tokens a minute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Starting drafts take about 10 minutes; a paid tier or a smaller reading model removes the wait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Arabic shop names built from a word list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A one-time review by the team, saved with the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Index kept as one file in Netlify Blobs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Fine for 436 names; at scale, Postgres with pgvector and the same hybrid search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Quality is not measured yet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182B"/>
                          </a:solidFill>
                          <a:latin typeface="IBM Plex Sans" pitchFamily="34" charset="0"/>
                          <a:ea typeface="IBM Plex Sans" pitchFamily="34" charset="-122"/>
                          <a:cs typeface="IBM Plex Sans" pitchFamily="34" charset="-120"/>
                        </a:rPr>
                        <a:t>Track how often a draft is edited before sending, per type of comment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6" name="Text 3"/>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20 / 22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6736"/>
          </a:xfrm>
          <a:prstGeom prst="rect">
            <a:avLst/>
          </a:prstGeom>
          <a:noFill/>
          <a:ln/>
        </p:spPr>
        <p:txBody>
          <a:bodyPr wrap="square" lIns="0" tIns="0" rIns="0" bIns="0" rtlCol="0" anchor="t">
            <a:normAutofit/>
          </a:bodyPr>
          <a:lstStyle/>
          <a:p>
            <a:pPr algn="l" indent="0" marL="0">
              <a:lnSpc>
                <a:spcPts val="1675"/>
              </a:lnSpc>
              <a:buNone/>
            </a:pPr>
            <a:r>
              <a:rPr lang="en-US" sz="1196" spc="150" kern="0" dirty="0">
                <a:solidFill>
                  <a:srgbClr val="4C3FD1"/>
                </a:solidFill>
                <a:latin typeface="JetBrains Mono" pitchFamily="49" charset="0"/>
                <a:ea typeface="JetBrains Mono" pitchFamily="49" charset="-122"/>
                <a:cs typeface="JetBrains Mono" pitchFamily="49" charset="-120"/>
              </a:rPr>
              <a:t>LIVE DEMO</a:t>
            </a:r>
            <a:endParaRPr lang="en-US" sz="1196" dirty="0"/>
          </a:p>
        </p:txBody>
      </p:sp>
      <p:sp>
        <p:nvSpPr>
          <p:cNvPr id="3" name="Text 1"/>
          <p:cNvSpPr/>
          <p:nvPr/>
        </p:nvSpPr>
        <p:spPr>
          <a:xfrm>
            <a:off x="812800" y="1125736"/>
            <a:ext cx="10883392" cy="4681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A comment from the feed to a reply</a:t>
            </a:r>
            <a:endParaRPr lang="en-US" sz="3200" dirty="0"/>
          </a:p>
        </p:txBody>
      </p:sp>
      <p:sp>
        <p:nvSpPr>
          <p:cNvPr id="4" name="Text 2"/>
          <p:cNvSpPr/>
          <p:nvPr/>
        </p:nvSpPr>
        <p:spPr>
          <a:xfrm>
            <a:off x="812800" y="18224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62667C"/>
                </a:solidFill>
                <a:latin typeface="JetBrains Mono" pitchFamily="49" charset="0"/>
                <a:ea typeface="JetBrains Mono" pitchFamily="49" charset="-122"/>
                <a:cs typeface="JetBrains Mono" pitchFamily="49" charset="-120"/>
              </a:rPr>
              <a:t>IN THE DEMO</a:t>
            </a:r>
            <a:endParaRPr lang="en-US" sz="1200" dirty="0"/>
          </a:p>
        </p:txBody>
      </p:sp>
      <p:sp>
        <p:nvSpPr>
          <p:cNvPr id="5" name="Text 3"/>
          <p:cNvSpPr/>
          <p:nvPr/>
        </p:nvSpPr>
        <p:spPr>
          <a:xfrm>
            <a:off x="812800" y="2162770"/>
            <a:ext cx="279400" cy="213320"/>
          </a:xfrm>
          <a:custGeom>
            <a:avLst/>
            <a:gdLst/>
            <a:ahLst/>
            <a:cxnLst/>
            <a:rect l="l" t="t" r="r" b="b"/>
            <a:pathLst>
              <a:path w="279400" h="213320">
                <a:moveTo>
                  <a:pt x="106660" y="0"/>
                </a:moveTo>
                <a:lnTo>
                  <a:pt x="172740" y="0"/>
                </a:lnTo>
                <a:arcTo hR="106660" wR="106660" stAng="16200000" swAng="5400000"/>
                <a:lnTo>
                  <a:pt x="2794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1</a:t>
            </a:r>
            <a:endParaRPr lang="en-US" sz="1200" dirty="0"/>
          </a:p>
        </p:txBody>
      </p:sp>
      <p:sp>
        <p:nvSpPr>
          <p:cNvPr id="6" name="Text 4"/>
          <p:cNvSpPr/>
          <p:nvPr/>
        </p:nvSpPr>
        <p:spPr>
          <a:xfrm>
            <a:off x="1219200" y="2162770"/>
            <a:ext cx="429056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On the feed, comment as a customer under the olive oil post: “وين بلاقيه بإربد؟”</a:t>
            </a:r>
            <a:endParaRPr lang="en-US" sz="1400" dirty="0"/>
          </a:p>
        </p:txBody>
      </p:sp>
      <p:sp>
        <p:nvSpPr>
          <p:cNvPr id="7" name="Text 5"/>
          <p:cNvSpPr/>
          <p:nvPr/>
        </p:nvSpPr>
        <p:spPr>
          <a:xfrm>
            <a:off x="812800" y="2787452"/>
            <a:ext cx="279400" cy="213320"/>
          </a:xfrm>
          <a:custGeom>
            <a:avLst/>
            <a:gdLst/>
            <a:ahLst/>
            <a:cxnLst/>
            <a:rect l="l" t="t" r="r" b="b"/>
            <a:pathLst>
              <a:path w="279400" h="213320">
                <a:moveTo>
                  <a:pt x="106660" y="0"/>
                </a:moveTo>
                <a:lnTo>
                  <a:pt x="172740" y="0"/>
                </a:lnTo>
                <a:arcTo hR="106660" wR="106660" stAng="16200000" swAng="5400000"/>
                <a:lnTo>
                  <a:pt x="2794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2</a:t>
            </a:r>
            <a:endParaRPr lang="en-US" sz="1200" dirty="0"/>
          </a:p>
        </p:txBody>
      </p:sp>
      <p:sp>
        <p:nvSpPr>
          <p:cNvPr id="8" name="Text 6"/>
          <p:cNvSpPr/>
          <p:nvPr/>
        </p:nvSpPr>
        <p:spPr>
          <a:xfrm>
            <a:off x="1219200" y="2787452"/>
            <a:ext cx="429056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The draft appears in the console; open “How this draft was made”</a:t>
            </a:r>
            <a:endParaRPr lang="en-US" sz="1400" dirty="0"/>
          </a:p>
        </p:txBody>
      </p:sp>
      <p:sp>
        <p:nvSpPr>
          <p:cNvPr id="9" name="Text 7"/>
          <p:cNvSpPr/>
          <p:nvPr/>
        </p:nvSpPr>
        <p:spPr>
          <a:xfrm>
            <a:off x="812800" y="3412133"/>
            <a:ext cx="279400" cy="213320"/>
          </a:xfrm>
          <a:custGeom>
            <a:avLst/>
            <a:gdLst/>
            <a:ahLst/>
            <a:cxnLst/>
            <a:rect l="l" t="t" r="r" b="b"/>
            <a:pathLst>
              <a:path w="279400" h="213320">
                <a:moveTo>
                  <a:pt x="106660" y="0"/>
                </a:moveTo>
                <a:lnTo>
                  <a:pt x="172740" y="0"/>
                </a:lnTo>
                <a:arcTo hR="106660" wR="106660" stAng="16200000" swAng="5400000"/>
                <a:lnTo>
                  <a:pt x="2794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3</a:t>
            </a:r>
            <a:endParaRPr lang="en-US" sz="1200" dirty="0"/>
          </a:p>
        </p:txBody>
      </p:sp>
      <p:sp>
        <p:nvSpPr>
          <p:cNvPr id="10" name="Text 8"/>
          <p:cNvSpPr/>
          <p:nvPr/>
        </p:nvSpPr>
        <p:spPr>
          <a:xfrm>
            <a:off x="1219200" y="3412133"/>
            <a:ext cx="429056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Click Reply now; the reply shows under the comment</a:t>
            </a:r>
            <a:endParaRPr lang="en-US" sz="1400" dirty="0"/>
          </a:p>
        </p:txBody>
      </p:sp>
      <p:sp>
        <p:nvSpPr>
          <p:cNvPr id="11" name="Text 9"/>
          <p:cNvSpPr/>
          <p:nvPr/>
        </p:nvSpPr>
        <p:spPr>
          <a:xfrm>
            <a:off x="812800" y="4036814"/>
            <a:ext cx="279400" cy="213320"/>
          </a:xfrm>
          <a:custGeom>
            <a:avLst/>
            <a:gdLst/>
            <a:ahLst/>
            <a:cxnLst/>
            <a:rect l="l" t="t" r="r" b="b"/>
            <a:pathLst>
              <a:path w="279400" h="213320">
                <a:moveTo>
                  <a:pt x="106660" y="0"/>
                </a:moveTo>
                <a:lnTo>
                  <a:pt x="172740" y="0"/>
                </a:lnTo>
                <a:arcTo hR="106660" wR="106660" stAng="16200000" swAng="5400000"/>
                <a:lnTo>
                  <a:pt x="2794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4</a:t>
            </a:r>
            <a:endParaRPr lang="en-US" sz="1200" dirty="0"/>
          </a:p>
        </p:txBody>
      </p:sp>
      <p:sp>
        <p:nvSpPr>
          <p:cNvPr id="12" name="Text 10"/>
          <p:cNvSpPr/>
          <p:nvPr/>
        </p:nvSpPr>
        <p:spPr>
          <a:xfrm>
            <a:off x="1219200" y="4036814"/>
            <a:ext cx="45212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On “وعندكم رز؟”, pick Basmati and get a full answer</a:t>
            </a:r>
            <a:endParaRPr lang="en-US" sz="1400" dirty="0"/>
          </a:p>
        </p:txBody>
      </p:sp>
      <p:sp>
        <p:nvSpPr>
          <p:cNvPr id="13" name="Text 11"/>
          <p:cNvSpPr/>
          <p:nvPr/>
        </p:nvSpPr>
        <p:spPr>
          <a:xfrm>
            <a:off x="812800" y="4412655"/>
            <a:ext cx="279400" cy="213320"/>
          </a:xfrm>
          <a:custGeom>
            <a:avLst/>
            <a:gdLst/>
            <a:ahLst/>
            <a:cxnLst/>
            <a:rect l="l" t="t" r="r" b="b"/>
            <a:pathLst>
              <a:path w="279400" h="213320">
                <a:moveTo>
                  <a:pt x="106660" y="0"/>
                </a:moveTo>
                <a:lnTo>
                  <a:pt x="172740" y="0"/>
                </a:lnTo>
                <a:arcTo hR="106660" wR="106660" stAng="16200000" swAng="5400000"/>
                <a:lnTo>
                  <a:pt x="279400" y="106660"/>
                </a:lnTo>
                <a:arcTo hR="106660" wR="106660" stAng="0" swAng="5400000"/>
                <a:lnTo>
                  <a:pt x="106660" y="213320"/>
                </a:lnTo>
                <a:arcTo hR="106660" wR="106660" stAng="5400000" swAng="5400000"/>
                <a:lnTo>
                  <a:pt x="0" y="106660"/>
                </a:lnTo>
                <a:arcTo hR="106660" wR="106660" stAng="10800000" swAng="5400000"/>
                <a:close/>
              </a:path>
            </a:pathLst>
          </a:custGeom>
          <a:solidFill>
            <a:srgbClr val="4C3FD1"/>
          </a:solid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5</a:t>
            </a:r>
            <a:endParaRPr lang="en-US" sz="1200" dirty="0"/>
          </a:p>
        </p:txBody>
      </p:sp>
      <p:sp>
        <p:nvSpPr>
          <p:cNvPr id="14" name="Text 12"/>
          <p:cNvSpPr/>
          <p:nvPr/>
        </p:nvSpPr>
        <p:spPr>
          <a:xfrm>
            <a:off x="1219200" y="4412655"/>
            <a:ext cx="45212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Publish a post; its products are linked on their own</a:t>
            </a:r>
            <a:endParaRPr lang="en-US" sz="1400" dirty="0"/>
          </a:p>
        </p:txBody>
      </p:sp>
      <p:sp>
        <p:nvSpPr>
          <p:cNvPr id="15" name="Text 13"/>
          <p:cNvSpPr/>
          <p:nvPr/>
        </p:nvSpPr>
        <p:spPr>
          <a:xfrm>
            <a:off x="5740400" y="1822450"/>
            <a:ext cx="5807964" cy="236339"/>
          </a:xfrm>
          <a:prstGeom prst="rect">
            <a:avLst/>
          </a:prstGeom>
          <a:noFill/>
          <a:ln/>
        </p:spPr>
        <p:txBody>
          <a:bodyPr wrap="square" lIns="0" tIns="0" rIns="0" bIns="0" rtlCol="0" anchor="t">
            <a:normAutofit/>
          </a:bodyPr>
          <a:lstStyle/>
          <a:p>
            <a:pPr algn="l" indent="0" marL="0">
              <a:lnSpc>
                <a:spcPts val="1675"/>
              </a:lnSpc>
              <a:buNone/>
            </a:pPr>
            <a:r>
              <a:rPr lang="en-US" sz="1196" spc="150" kern="0" dirty="0">
                <a:solidFill>
                  <a:srgbClr val="62667C"/>
                </a:solidFill>
                <a:latin typeface="JetBrains Mono" pitchFamily="49" charset="0"/>
                <a:ea typeface="JetBrains Mono" pitchFamily="49" charset="-122"/>
                <a:cs typeface="JetBrains Mono" pitchFamily="49" charset="-120"/>
              </a:rPr>
              <a:t>WATCH FOR</a:t>
            </a:r>
            <a:endParaRPr lang="en-US" sz="1196" dirty="0"/>
          </a:p>
        </p:txBody>
      </p:sp>
      <p:sp>
        <p:nvSpPr>
          <p:cNvPr id="16" name="Shape 14"/>
          <p:cNvSpPr/>
          <p:nvPr/>
        </p:nvSpPr>
        <p:spPr>
          <a:xfrm>
            <a:off x="5740400" y="2661841"/>
            <a:ext cx="5638800" cy="0"/>
          </a:xfrm>
          <a:prstGeom prst="line">
            <a:avLst/>
          </a:prstGeom>
          <a:noFill/>
          <a:ln w="12700">
            <a:solidFill>
              <a:srgbClr val="D9D6CC"/>
            </a:solidFill>
            <a:prstDash val="solid"/>
          </a:ln>
        </p:spPr>
      </p:sp>
      <p:sp>
        <p:nvSpPr>
          <p:cNvPr id="17" name="Text 15"/>
          <p:cNvSpPr/>
          <p:nvPr/>
        </p:nvSpPr>
        <p:spPr>
          <a:xfrm>
            <a:off x="5740400" y="2132409"/>
            <a:ext cx="234553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زيت زيتوون بالزرقا متوفر؟</a:t>
            </a:r>
            <a:endParaRPr lang="en-US" sz="1400" dirty="0"/>
          </a:p>
        </p:txBody>
      </p:sp>
      <p:sp>
        <p:nvSpPr>
          <p:cNvPr id="18" name="Text 16"/>
          <p:cNvSpPr/>
          <p:nvPr/>
        </p:nvSpPr>
        <p:spPr>
          <a:xfrm>
            <a:off x="5740400" y="2393950"/>
            <a:ext cx="20132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 typo and a prefix</a:t>
            </a:r>
            <a:endParaRPr lang="en-US" sz="1200" dirty="0"/>
          </a:p>
        </p:txBody>
      </p:sp>
      <p:sp>
        <p:nvSpPr>
          <p:cNvPr id="19" name="Text 17"/>
          <p:cNvSpPr/>
          <p:nvPr/>
        </p:nvSpPr>
        <p:spPr>
          <a:xfrm>
            <a:off x="10674251" y="2218730"/>
            <a:ext cx="698599" cy="302220"/>
          </a:xfrm>
          <a:prstGeom prst="roundRect">
            <a:avLst>
              <a:gd name="adj" fmla="val 50000"/>
            </a:avLst>
          </a:prstGeom>
          <a:solidFill>
            <a:srgbClr val="16182B"/>
          </a:solidFill>
          <a:ln w="12700">
            <a:solidFill>
              <a:srgbClr val="16182B"/>
            </a:solidFill>
            <a:prstDash val="solid"/>
          </a:ln>
        </p:spPr>
        <p:txBody>
          <a:bodyPr wrap="none" lIns="0" tIns="0" rIns="0" bIns="0" rtlCol="0" anchor="ctr">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Ready</a:t>
            </a:r>
            <a:endParaRPr lang="en-US" sz="1200" dirty="0"/>
          </a:p>
        </p:txBody>
      </p:sp>
      <p:sp>
        <p:nvSpPr>
          <p:cNvPr id="20" name="Shape 18"/>
          <p:cNvSpPr/>
          <p:nvPr/>
        </p:nvSpPr>
        <p:spPr>
          <a:xfrm>
            <a:off x="5740400" y="3296642"/>
            <a:ext cx="5638800" cy="0"/>
          </a:xfrm>
          <a:prstGeom prst="line">
            <a:avLst/>
          </a:prstGeom>
          <a:noFill/>
          <a:ln w="12700">
            <a:solidFill>
              <a:srgbClr val="D9D6CC"/>
            </a:solidFill>
            <a:prstDash val="solid"/>
          </a:ln>
        </p:spPr>
      </p:sp>
      <p:sp>
        <p:nvSpPr>
          <p:cNvPr id="21" name="Text 19"/>
          <p:cNvSpPr/>
          <p:nvPr/>
        </p:nvSpPr>
        <p:spPr>
          <a:xfrm>
            <a:off x="5740400" y="2767211"/>
            <a:ext cx="220772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شاي أخضر … بالجبيهة؟</a:t>
            </a:r>
            <a:endParaRPr lang="en-US" sz="1400" dirty="0"/>
          </a:p>
        </p:txBody>
      </p:sp>
      <p:sp>
        <p:nvSpPr>
          <p:cNvPr id="22" name="Text 20"/>
          <p:cNvSpPr/>
          <p:nvPr/>
        </p:nvSpPr>
        <p:spPr>
          <a:xfrm>
            <a:off x="5740400" y="3028752"/>
            <a:ext cx="2572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none there, so shops in Amman</a:t>
            </a:r>
            <a:endParaRPr lang="en-US" sz="1200" dirty="0"/>
          </a:p>
        </p:txBody>
      </p:sp>
      <p:sp>
        <p:nvSpPr>
          <p:cNvPr id="23" name="Text 21"/>
          <p:cNvSpPr/>
          <p:nvPr/>
        </p:nvSpPr>
        <p:spPr>
          <a:xfrm>
            <a:off x="10674251" y="2853531"/>
            <a:ext cx="698599" cy="302220"/>
          </a:xfrm>
          <a:prstGeom prst="roundRect">
            <a:avLst>
              <a:gd name="adj" fmla="val 50000"/>
            </a:avLst>
          </a:prstGeom>
          <a:solidFill>
            <a:srgbClr val="16182B"/>
          </a:solidFill>
          <a:ln w="12700">
            <a:solidFill>
              <a:srgbClr val="16182B"/>
            </a:solidFill>
            <a:prstDash val="solid"/>
          </a:ln>
        </p:spPr>
        <p:txBody>
          <a:bodyPr wrap="none" lIns="0" tIns="0" rIns="0" bIns="0" rtlCol="0" anchor="ctr">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Ready</a:t>
            </a:r>
            <a:endParaRPr lang="en-US" sz="1200" dirty="0"/>
          </a:p>
        </p:txBody>
      </p:sp>
      <p:sp>
        <p:nvSpPr>
          <p:cNvPr id="24" name="Shape 22"/>
          <p:cNvSpPr/>
          <p:nvPr/>
        </p:nvSpPr>
        <p:spPr>
          <a:xfrm>
            <a:off x="5740400" y="3931444"/>
            <a:ext cx="5638800" cy="0"/>
          </a:xfrm>
          <a:prstGeom prst="line">
            <a:avLst/>
          </a:prstGeom>
          <a:noFill/>
          <a:ln w="12700">
            <a:solidFill>
              <a:srgbClr val="D9D6CC"/>
            </a:solidFill>
            <a:prstDash val="solid"/>
          </a:ln>
        </p:spPr>
      </p:sp>
      <p:sp>
        <p:nvSpPr>
          <p:cNvPr id="25" name="Text 23"/>
          <p:cNvSpPr/>
          <p:nvPr/>
        </p:nvSpPr>
        <p:spPr>
          <a:xfrm>
            <a:off x="5740400" y="3402013"/>
            <a:ext cx="190195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الحجم الوسط بكم؟</a:t>
            </a:r>
            <a:endParaRPr lang="en-US" sz="1400" dirty="0"/>
          </a:p>
        </p:txBody>
      </p:sp>
      <p:sp>
        <p:nvSpPr>
          <p:cNvPr id="26" name="Text 24"/>
          <p:cNvSpPr/>
          <p:nvPr/>
        </p:nvSpPr>
        <p:spPr>
          <a:xfrm>
            <a:off x="5740400" y="3663553"/>
            <a:ext cx="22158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the medium size, price only</a:t>
            </a:r>
            <a:endParaRPr lang="en-US" sz="1200" dirty="0"/>
          </a:p>
        </p:txBody>
      </p:sp>
      <p:sp>
        <p:nvSpPr>
          <p:cNvPr id="27" name="Text 25"/>
          <p:cNvSpPr/>
          <p:nvPr/>
        </p:nvSpPr>
        <p:spPr>
          <a:xfrm>
            <a:off x="10674251" y="3488333"/>
            <a:ext cx="698599" cy="302220"/>
          </a:xfrm>
          <a:prstGeom prst="roundRect">
            <a:avLst>
              <a:gd name="adj" fmla="val 50000"/>
            </a:avLst>
          </a:prstGeom>
          <a:solidFill>
            <a:srgbClr val="16182B"/>
          </a:solidFill>
          <a:ln w="12700">
            <a:solidFill>
              <a:srgbClr val="16182B"/>
            </a:solidFill>
            <a:prstDash val="solid"/>
          </a:ln>
        </p:spPr>
        <p:txBody>
          <a:bodyPr wrap="none" lIns="0" tIns="0" rIns="0" bIns="0" rtlCol="0" anchor="ctr">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Ready</a:t>
            </a:r>
            <a:endParaRPr lang="en-US" sz="1200" dirty="0"/>
          </a:p>
        </p:txBody>
      </p:sp>
      <p:sp>
        <p:nvSpPr>
          <p:cNvPr id="28" name="Shape 26"/>
          <p:cNvSpPr/>
          <p:nvPr/>
        </p:nvSpPr>
        <p:spPr>
          <a:xfrm>
            <a:off x="5740400" y="4566245"/>
            <a:ext cx="5638800" cy="0"/>
          </a:xfrm>
          <a:prstGeom prst="line">
            <a:avLst/>
          </a:prstGeom>
          <a:noFill/>
          <a:ln w="12700">
            <a:solidFill>
              <a:srgbClr val="D9D6CC"/>
            </a:solidFill>
            <a:prstDash val="solid"/>
          </a:ln>
        </p:spPr>
      </p:sp>
      <p:sp>
        <p:nvSpPr>
          <p:cNvPr id="29" name="Text 27"/>
          <p:cNvSpPr/>
          <p:nvPr/>
        </p:nvSpPr>
        <p:spPr>
          <a:xfrm>
            <a:off x="5740400" y="4036814"/>
            <a:ext cx="262961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وعندكم رز؟ وين بلاقيه بماركا؟</a:t>
            </a:r>
            <a:endParaRPr lang="en-US" sz="1400" dirty="0"/>
          </a:p>
        </p:txBody>
      </p:sp>
      <p:sp>
        <p:nvSpPr>
          <p:cNvPr id="30" name="Text 28"/>
          <p:cNvSpPr/>
          <p:nvPr/>
        </p:nvSpPr>
        <p:spPr>
          <a:xfrm>
            <a:off x="5740400" y="4298355"/>
            <a:ext cx="22570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Egyptian or Basmati?</a:t>
            </a:r>
            <a:endParaRPr lang="en-US" sz="1200" dirty="0"/>
          </a:p>
        </p:txBody>
      </p:sp>
      <p:sp>
        <p:nvSpPr>
          <p:cNvPr id="31" name="Text 29"/>
          <p:cNvSpPr/>
          <p:nvPr/>
        </p:nvSpPr>
        <p:spPr>
          <a:xfrm>
            <a:off x="9851132" y="4123134"/>
            <a:ext cx="1521718" cy="302220"/>
          </a:xfrm>
          <a:prstGeom prst="roundRect">
            <a:avLst>
              <a:gd name="adj" fmla="val 50000"/>
            </a:avLst>
          </a:prstGeom>
          <a:solidFill>
            <a:srgbClr val="E4E1FA"/>
          </a:solidFill>
          <a:ln w="12700">
            <a:solidFill>
              <a:srgbClr val="4C3FD1"/>
            </a:solidFill>
            <a:prstDash val="solid"/>
          </a:ln>
        </p:spPr>
        <p:txBody>
          <a:bodyPr wrap="none" lIns="0" tIns="0" rIns="0" bIns="0" rtlCol="0" anchor="ctr">
            <a:normAutofit/>
          </a:bodyPr>
          <a:lstStyle/>
          <a:p>
            <a:pPr algn="ctr"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Needs a choice</a:t>
            </a:r>
            <a:endParaRPr lang="en-US" sz="1200" dirty="0"/>
          </a:p>
        </p:txBody>
      </p:sp>
      <p:sp>
        <p:nvSpPr>
          <p:cNvPr id="32" name="Shape 30"/>
          <p:cNvSpPr/>
          <p:nvPr/>
        </p:nvSpPr>
        <p:spPr>
          <a:xfrm>
            <a:off x="5740400" y="5201047"/>
            <a:ext cx="5638800" cy="0"/>
          </a:xfrm>
          <a:prstGeom prst="line">
            <a:avLst/>
          </a:prstGeom>
          <a:noFill/>
          <a:ln w="12700">
            <a:solidFill>
              <a:srgbClr val="D9D6CC"/>
            </a:solidFill>
            <a:prstDash val="solid"/>
          </a:ln>
        </p:spPr>
      </p:sp>
      <p:sp>
        <p:nvSpPr>
          <p:cNvPr id="33" name="Text 31"/>
          <p:cNvSpPr/>
          <p:nvPr/>
        </p:nvSpPr>
        <p:spPr>
          <a:xfrm>
            <a:off x="5740400" y="4671616"/>
            <a:ext cx="182094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حلاوة … كانت منتهية</a:t>
            </a:r>
            <a:endParaRPr lang="en-US" sz="1400" dirty="0"/>
          </a:p>
        </p:txBody>
      </p:sp>
      <p:sp>
        <p:nvSpPr>
          <p:cNvPr id="34" name="Text 32"/>
          <p:cNvSpPr/>
          <p:nvPr/>
        </p:nvSpPr>
        <p:spPr>
          <a:xfrm>
            <a:off x="5740400" y="4933156"/>
            <a:ext cx="15682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 complaint</a:t>
            </a:r>
            <a:endParaRPr lang="en-US" sz="1200" dirty="0"/>
          </a:p>
        </p:txBody>
      </p:sp>
      <p:sp>
        <p:nvSpPr>
          <p:cNvPr id="35" name="Text 33"/>
          <p:cNvSpPr/>
          <p:nvPr/>
        </p:nvSpPr>
        <p:spPr>
          <a:xfrm>
            <a:off x="9851132" y="4757936"/>
            <a:ext cx="1521718" cy="302220"/>
          </a:xfrm>
          <a:prstGeom prst="roundRect">
            <a:avLst>
              <a:gd name="adj" fmla="val 50000"/>
            </a:avLst>
          </a:prstGeom>
          <a:solidFill>
            <a:srgbClr val="FDFCF9"/>
          </a:solidFill>
          <a:ln w="12700">
            <a:solidFill>
              <a:srgbClr val="D9D6CC"/>
            </a:solidFill>
            <a:prstDash val="solid"/>
          </a:ln>
        </p:spPr>
        <p:txBody>
          <a:bodyPr wrap="none" lIns="0" tIns="0" rIns="0" bIns="0" rtlCol="0" anchor="ctr">
            <a:normAutofit/>
          </a:bodyPr>
          <a:lstStyle/>
          <a:p>
            <a:pPr algn="ctr"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Needs a person</a:t>
            </a:r>
            <a:endParaRPr lang="en-US" sz="1200" dirty="0"/>
          </a:p>
        </p:txBody>
      </p:sp>
      <p:sp>
        <p:nvSpPr>
          <p:cNvPr id="36" name="Shape 34"/>
          <p:cNvSpPr/>
          <p:nvPr/>
        </p:nvSpPr>
        <p:spPr>
          <a:xfrm>
            <a:off x="5740400" y="5835848"/>
            <a:ext cx="5638800" cy="0"/>
          </a:xfrm>
          <a:prstGeom prst="line">
            <a:avLst/>
          </a:prstGeom>
          <a:noFill/>
          <a:ln w="12700">
            <a:solidFill>
              <a:srgbClr val="D9D6CC"/>
            </a:solidFill>
            <a:prstDash val="solid"/>
          </a:ln>
        </p:spPr>
      </p:sp>
      <p:sp>
        <p:nvSpPr>
          <p:cNvPr id="37" name="Text 35"/>
          <p:cNvSpPr/>
          <p:nvPr/>
        </p:nvSpPr>
        <p:spPr>
          <a:xfrm>
            <a:off x="5740400" y="5306417"/>
            <a:ext cx="322040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82B"/>
                </a:solidFill>
                <a:latin typeface="IBM Plex Sans" pitchFamily="34" charset="0"/>
                <a:ea typeface="IBM Plex Sans" pitchFamily="34" charset="-122"/>
                <a:cs typeface="IBM Plex Sans" pitchFamily="34" charset="-120"/>
              </a:rPr>
              <a:t>@sara.haddad هاد اللي حكيتلك عنه</a:t>
            </a:r>
            <a:endParaRPr lang="en-US" sz="1400" dirty="0"/>
          </a:p>
        </p:txBody>
      </p:sp>
      <p:sp>
        <p:nvSpPr>
          <p:cNvPr id="38" name="Text 36"/>
          <p:cNvSpPr/>
          <p:nvPr/>
        </p:nvSpPr>
        <p:spPr>
          <a:xfrm>
            <a:off x="5740400" y="5567958"/>
            <a:ext cx="276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 tag</a:t>
            </a:r>
            <a:endParaRPr lang="en-US" sz="1200" dirty="0"/>
          </a:p>
        </p:txBody>
      </p:sp>
      <p:sp>
        <p:nvSpPr>
          <p:cNvPr id="39" name="Text 37"/>
          <p:cNvSpPr/>
          <p:nvPr/>
        </p:nvSpPr>
        <p:spPr>
          <a:xfrm>
            <a:off x="9759652" y="5392738"/>
            <a:ext cx="1613198" cy="302220"/>
          </a:xfrm>
          <a:prstGeom prst="roundRect">
            <a:avLst>
              <a:gd name="adj" fmla="val 50000"/>
            </a:avLst>
          </a:prstGeom>
          <a:solidFill>
            <a:srgbClr val="F6F5F1"/>
          </a:solidFill>
          <a:ln w="12700">
            <a:solidFill>
              <a:srgbClr val="B9B6AC"/>
            </a:solidFill>
            <a:prstDash val="solid"/>
          </a:ln>
        </p:spPr>
        <p:txBody>
          <a:bodyPr wrap="none" lIns="0" tIns="0" rIns="0" bIns="0" rtlCol="0" anchor="ctr">
            <a:normAutofit/>
          </a:bodyPr>
          <a:lstStyle/>
          <a:p>
            <a:pPr algn="ctr" indent="0" marL="0">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No reply needed</a:t>
            </a:r>
            <a:endParaRPr lang="en-US" sz="1200" dirty="0"/>
          </a:p>
        </p:txBody>
      </p:sp>
      <p:sp>
        <p:nvSpPr>
          <p:cNvPr id="40" name="Text 38"/>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7C"/>
                </a:solidFill>
                <a:latin typeface="IBM Plex Sans" pitchFamily="34" charset="0"/>
                <a:ea typeface="IBM Plex Sans" pitchFamily="34" charset="-122"/>
                <a:cs typeface="IBM Plex Sans" pitchFamily="34" charset="-120"/>
              </a:rPr>
              <a:t>Answering from the Data</a:t>
            </a:r>
            <a:endParaRPr lang="en-US" sz="1200" dirty="0"/>
          </a:p>
        </p:txBody>
      </p:sp>
      <p:sp>
        <p:nvSpPr>
          <p:cNvPr id="41" name="Text 39"/>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21 / 22</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18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9FF5"/>
                </a:solidFill>
                <a:latin typeface="JetBrains Mono" pitchFamily="49" charset="0"/>
                <a:ea typeface="JetBrains Mono" pitchFamily="49" charset="-122"/>
                <a:cs typeface="JetBrains Mono" pitchFamily="49" charset="-120"/>
              </a:rPr>
              <a:t>SUMMARY</a:t>
            </a:r>
            <a:endParaRPr lang="en-US" sz="1200" dirty="0"/>
          </a:p>
        </p:txBody>
      </p:sp>
      <p:sp>
        <p:nvSpPr>
          <p:cNvPr id="3" name="Text 1"/>
          <p:cNvSpPr/>
          <p:nvPr/>
        </p:nvSpPr>
        <p:spPr>
          <a:xfrm>
            <a:off x="812800" y="11277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6F5F1"/>
                </a:solidFill>
                <a:latin typeface="Space Grotesk" pitchFamily="34" charset="0"/>
                <a:ea typeface="Space Grotesk" pitchFamily="34" charset="-122"/>
                <a:cs typeface="Space Grotesk" pitchFamily="34" charset="-120"/>
              </a:rPr>
              <a:t>Answers in seconds, only from the data, sent by a person</a:t>
            </a:r>
            <a:endParaRPr lang="en-US" sz="3200" dirty="0"/>
          </a:p>
        </p:txBody>
      </p:sp>
      <p:sp>
        <p:nvSpPr>
          <p:cNvPr id="4" name="Shape 2"/>
          <p:cNvSpPr/>
          <p:nvPr/>
        </p:nvSpPr>
        <p:spPr>
          <a:xfrm>
            <a:off x="819150" y="2383631"/>
            <a:ext cx="3373934" cy="1565672"/>
          </a:xfrm>
          <a:prstGeom prst="roundRect">
            <a:avLst>
              <a:gd name="adj" fmla="val 6084"/>
            </a:avLst>
          </a:prstGeom>
          <a:solidFill>
            <a:srgbClr val="22253D"/>
          </a:solidFill>
          <a:ln w="12700">
            <a:solidFill>
              <a:srgbClr val="363A5C"/>
            </a:solidFill>
            <a:prstDash val="solid"/>
          </a:ln>
        </p:spPr>
      </p:sp>
      <p:sp>
        <p:nvSpPr>
          <p:cNvPr id="5" name="Text 3"/>
          <p:cNvSpPr/>
          <p:nvPr/>
        </p:nvSpPr>
        <p:spPr>
          <a:xfrm>
            <a:off x="1079500" y="2643981"/>
            <a:ext cx="293883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6F5F1"/>
                </a:solidFill>
                <a:latin typeface="Space Grotesk" pitchFamily="34" charset="0"/>
                <a:ea typeface="Space Grotesk" pitchFamily="34" charset="-122"/>
                <a:cs typeface="Space Grotesk" pitchFamily="34" charset="-120"/>
              </a:rPr>
              <a:t>Ready before anyone looks</a:t>
            </a:r>
            <a:endParaRPr lang="en-US" sz="1400" dirty="0"/>
          </a:p>
        </p:txBody>
      </p:sp>
      <p:sp>
        <p:nvSpPr>
          <p:cNvPr id="6" name="Text 4"/>
          <p:cNvSpPr/>
          <p:nvPr/>
        </p:nvSpPr>
        <p:spPr>
          <a:xfrm>
            <a:off x="1079500" y="2942431"/>
            <a:ext cx="293883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CE0"/>
                </a:solidFill>
                <a:latin typeface="IBM Plex Sans" pitchFamily="34" charset="0"/>
                <a:ea typeface="IBM Plex Sans" pitchFamily="34" charset="-122"/>
                <a:cs typeface="IBM Plex Sans" pitchFamily="34" charset="-120"/>
              </a:rPr>
              <a:t>Every comment is read, searched and drafted in the background.</a:t>
            </a:r>
            <a:endParaRPr lang="en-US" sz="1400" dirty="0"/>
          </a:p>
        </p:txBody>
      </p:sp>
      <p:sp>
        <p:nvSpPr>
          <p:cNvPr id="7" name="Shape 5"/>
          <p:cNvSpPr/>
          <p:nvPr/>
        </p:nvSpPr>
        <p:spPr>
          <a:xfrm>
            <a:off x="4408984" y="2383631"/>
            <a:ext cx="3373934" cy="1565672"/>
          </a:xfrm>
          <a:prstGeom prst="roundRect">
            <a:avLst>
              <a:gd name="adj" fmla="val 6084"/>
            </a:avLst>
          </a:prstGeom>
          <a:solidFill>
            <a:srgbClr val="22253D"/>
          </a:solidFill>
          <a:ln w="12700">
            <a:solidFill>
              <a:srgbClr val="363A5C"/>
            </a:solidFill>
            <a:prstDash val="solid"/>
          </a:ln>
        </p:spPr>
      </p:sp>
      <p:sp>
        <p:nvSpPr>
          <p:cNvPr id="8" name="Text 6"/>
          <p:cNvSpPr/>
          <p:nvPr/>
        </p:nvSpPr>
        <p:spPr>
          <a:xfrm>
            <a:off x="4669334" y="2643981"/>
            <a:ext cx="293883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6F5F1"/>
                </a:solidFill>
                <a:latin typeface="Space Grotesk" pitchFamily="34" charset="0"/>
                <a:ea typeface="Space Grotesk" pitchFamily="34" charset="-122"/>
                <a:cs typeface="Space Grotesk" pitchFamily="34" charset="-120"/>
              </a:rPr>
              <a:t>Facts from the table</a:t>
            </a:r>
            <a:endParaRPr lang="en-US" sz="1400" dirty="0"/>
          </a:p>
        </p:txBody>
      </p:sp>
      <p:sp>
        <p:nvSpPr>
          <p:cNvPr id="9" name="Text 7"/>
          <p:cNvSpPr/>
          <p:nvPr/>
        </p:nvSpPr>
        <p:spPr>
          <a:xfrm>
            <a:off x="4669334" y="2942431"/>
            <a:ext cx="293883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CE0"/>
                </a:solidFill>
                <a:latin typeface="IBM Plex Sans" pitchFamily="34" charset="0"/>
                <a:ea typeface="IBM Plex Sans" pitchFamily="34" charset="-122"/>
                <a:cs typeface="IBM Plex Sans" pitchFamily="34" charset="-120"/>
              </a:rPr>
              <a:t>Search finds the meaning; the shops and dates come from the data and are checked.</a:t>
            </a:r>
            <a:endParaRPr lang="en-US" sz="1400" dirty="0"/>
          </a:p>
        </p:txBody>
      </p:sp>
      <p:sp>
        <p:nvSpPr>
          <p:cNvPr id="10" name="Shape 8"/>
          <p:cNvSpPr/>
          <p:nvPr/>
        </p:nvSpPr>
        <p:spPr>
          <a:xfrm>
            <a:off x="7998817" y="2383631"/>
            <a:ext cx="3373934" cy="1565672"/>
          </a:xfrm>
          <a:prstGeom prst="roundRect">
            <a:avLst>
              <a:gd name="adj" fmla="val 6084"/>
            </a:avLst>
          </a:prstGeom>
          <a:solidFill>
            <a:srgbClr val="22253D"/>
          </a:solidFill>
          <a:ln w="12700">
            <a:solidFill>
              <a:srgbClr val="363A5C"/>
            </a:solidFill>
            <a:prstDash val="solid"/>
          </a:ln>
        </p:spPr>
      </p:sp>
      <p:sp>
        <p:nvSpPr>
          <p:cNvPr id="11" name="Text 9"/>
          <p:cNvSpPr/>
          <p:nvPr/>
        </p:nvSpPr>
        <p:spPr>
          <a:xfrm>
            <a:off x="8259167" y="2643981"/>
            <a:ext cx="293883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6F5F1"/>
                </a:solidFill>
                <a:latin typeface="Space Grotesk" pitchFamily="34" charset="0"/>
                <a:ea typeface="Space Grotesk" pitchFamily="34" charset="-122"/>
                <a:cs typeface="Space Grotesk" pitchFamily="34" charset="-120"/>
              </a:rPr>
              <a:t>A person decides</a:t>
            </a:r>
            <a:endParaRPr lang="en-US" sz="1400" dirty="0"/>
          </a:p>
        </p:txBody>
      </p:sp>
      <p:sp>
        <p:nvSpPr>
          <p:cNvPr id="12" name="Text 10"/>
          <p:cNvSpPr/>
          <p:nvPr/>
        </p:nvSpPr>
        <p:spPr>
          <a:xfrm>
            <a:off x="8259167" y="2942431"/>
            <a:ext cx="293883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CE0"/>
                </a:solidFill>
                <a:latin typeface="IBM Plex Sans" pitchFamily="34" charset="0"/>
                <a:ea typeface="IBM Plex Sans" pitchFamily="34" charset="-122"/>
                <a:cs typeface="IBM Plex Sans" pitchFamily="34" charset="-120"/>
              </a:rPr>
              <a:t>Reply now, edit, pick an option or hand it to a colleague.</a:t>
            </a:r>
            <a:endParaRPr lang="en-US" sz="1400" dirty="0"/>
          </a:p>
        </p:txBody>
      </p:sp>
      <p:sp>
        <p:nvSpPr>
          <p:cNvPr id="13" name="Text 11"/>
          <p:cNvSpPr/>
          <p:nvPr/>
        </p:nvSpPr>
        <p:spPr>
          <a:xfrm>
            <a:off x="812800" y="6238280"/>
            <a:ext cx="2012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EA2BD"/>
                </a:solidFill>
                <a:latin typeface="IBM Plex Sans" pitchFamily="34" charset="0"/>
                <a:ea typeface="IBM Plex Sans" pitchFamily="34" charset="-122"/>
                <a:cs typeface="IBM Plex Sans" pitchFamily="34" charset="-120"/>
              </a:rPr>
              <a:t>Answering from the Data</a:t>
            </a:r>
            <a:endParaRPr lang="en-US" sz="1200" dirty="0"/>
          </a:p>
        </p:txBody>
      </p:sp>
      <p:sp>
        <p:nvSpPr>
          <p:cNvPr id="14" name="Text 12"/>
          <p:cNvSpPr/>
          <p:nvPr/>
        </p:nvSpPr>
        <p:spPr>
          <a:xfrm>
            <a:off x="10610890" y="6238280"/>
            <a:ext cx="7683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EA2BD"/>
                </a:solidFill>
                <a:latin typeface="JetBrains Mono" pitchFamily="49" charset="0"/>
                <a:ea typeface="JetBrains Mono" pitchFamily="49" charset="-122"/>
                <a:cs typeface="JetBrains Mono" pitchFamily="49" charset="-120"/>
              </a:rPr>
              <a:t>22 / 22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Answering from the Data</dc:title>
  <dc:subject/>
  <dc:creator/>
  <cp:lastModifiedBy/>
  <cp:revision>1</cp:revision>
  <dcterms:created xsi:type="dcterms:W3CDTF">2026-10-03T20:36:24Z</dcterms:created>
  <dcterms:modified xsi:type="dcterms:W3CDTF">2026-10-03T20:36:24Z</dcterms:modified>
</cp:coreProperties>
</file>